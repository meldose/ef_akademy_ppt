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406" r:id="rId10"/>
    <p:sldId id="407" r:id="rId11"/>
    <p:sldId id="419" r:id="rId12"/>
    <p:sldId id="408" r:id="rId13"/>
    <p:sldId id="409" r:id="rId14"/>
    <p:sldId id="410" r:id="rId15"/>
    <p:sldId id="411" r:id="rId16"/>
    <p:sldId id="412" r:id="rId17"/>
    <p:sldId id="413" r:id="rId18"/>
    <p:sldId id="414" r:id="rId19"/>
    <p:sldId id="415" r:id="rId20"/>
    <p:sldId id="416" r:id="rId21"/>
    <p:sldId id="417" r:id="rId22"/>
    <p:sldId id="418" r:id="rId23"/>
    <p:sldId id="420" r:id="rId24"/>
    <p:sldId id="421" r:id="rId25"/>
    <p:sldId id="422" r:id="rId26"/>
    <p:sldId id="423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1A62"/>
    <a:srgbClr val="FA1960"/>
    <a:srgbClr val="FFFFFF"/>
    <a:srgbClr val="1D1E1F"/>
    <a:srgbClr val="282A2E"/>
    <a:srgbClr val="D90962"/>
    <a:srgbClr val="36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dhun Eldose" userId="276e0ff496d1bc83" providerId="LiveId" clId="{EBE7DE87-C041-44F4-B6B2-379359185045}"/>
    <pc:docChg chg="undo custSel addSld delSld modSld sldOrd">
      <pc:chgData name="Midhun Eldose" userId="276e0ff496d1bc83" providerId="LiveId" clId="{EBE7DE87-C041-44F4-B6B2-379359185045}" dt="2026-04-24T18:22:56.352" v="1449" actId="27636"/>
      <pc:docMkLst>
        <pc:docMk/>
      </pc:docMkLst>
      <pc:sldChg chg="addSp delSp modSp mod">
        <pc:chgData name="Midhun Eldose" userId="276e0ff496d1bc83" providerId="LiveId" clId="{EBE7DE87-C041-44F4-B6B2-379359185045}" dt="2026-04-16T14:36:12.911" v="1434" actId="1076"/>
        <pc:sldMkLst>
          <pc:docMk/>
          <pc:sldMk cId="0" sldId="256"/>
        </pc:sldMkLst>
        <pc:spChg chg="mod">
          <ac:chgData name="Midhun Eldose" userId="276e0ff496d1bc83" providerId="LiveId" clId="{EBE7DE87-C041-44F4-B6B2-379359185045}" dt="2026-04-16T14:36:10.467" v="1433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Midhun Eldose" userId="276e0ff496d1bc83" providerId="LiveId" clId="{EBE7DE87-C041-44F4-B6B2-379359185045}" dt="2026-04-16T14:36:12.911" v="1434" actId="1076"/>
          <ac:spMkLst>
            <pc:docMk/>
            <pc:sldMk cId="0" sldId="256"/>
            <ac:spMk id="4" creationId="{50B6AC92-74F4-421E-6F1E-5B8DBB91F746}"/>
          </ac:spMkLst>
        </pc:spChg>
      </pc:sldChg>
      <pc:sldChg chg="addSp delSp modSp mod">
        <pc:chgData name="Midhun Eldose" userId="276e0ff496d1bc83" providerId="LiveId" clId="{EBE7DE87-C041-44F4-B6B2-379359185045}" dt="2026-04-16T10:00:07.893" v="1114" actId="20577"/>
        <pc:sldMkLst>
          <pc:docMk/>
          <pc:sldMk cId="0" sldId="257"/>
        </pc:sldMkLst>
        <pc:graphicFrameChg chg="add mod modGraphic">
          <ac:chgData name="Midhun Eldose" userId="276e0ff496d1bc83" providerId="LiveId" clId="{EBE7DE87-C041-44F4-B6B2-379359185045}" dt="2026-04-16T10:00:07.893" v="1114" actId="20577"/>
          <ac:graphicFrameMkLst>
            <pc:docMk/>
            <pc:sldMk cId="0" sldId="257"/>
            <ac:graphicFrameMk id="8" creationId="{E62D717B-E1D6-246D-2B56-E847A79CE43A}"/>
          </ac:graphicFrameMkLst>
        </pc:graphicFrameChg>
      </pc:sldChg>
      <pc:sldChg chg="modSp mod">
        <pc:chgData name="Midhun Eldose" userId="276e0ff496d1bc83" providerId="LiveId" clId="{EBE7DE87-C041-44F4-B6B2-379359185045}" dt="2026-04-24T18:22:56.352" v="1449" actId="27636"/>
        <pc:sldMkLst>
          <pc:docMk/>
          <pc:sldMk cId="0" sldId="258"/>
        </pc:sldMkLst>
        <pc:spChg chg="mod">
          <ac:chgData name="Midhun Eldose" userId="276e0ff496d1bc83" providerId="LiveId" clId="{EBE7DE87-C041-44F4-B6B2-379359185045}" dt="2026-04-24T18:22:56.352" v="1449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idhun Eldose" userId="276e0ff496d1bc83" providerId="LiveId" clId="{EBE7DE87-C041-44F4-B6B2-379359185045}" dt="2026-04-16T12:52:56.455" v="1365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4-24T17:25:18.905" v="1437" actId="1076"/>
        <pc:sldMkLst>
          <pc:docMk/>
          <pc:sldMk cId="0" sldId="259"/>
        </pc:sldMkLst>
        <pc:spChg chg="mod">
          <ac:chgData name="Midhun Eldose" userId="276e0ff496d1bc83" providerId="LiveId" clId="{EBE7DE87-C041-44F4-B6B2-379359185045}" dt="2026-04-24T17:25:18.905" v="1437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idhun Eldose" userId="276e0ff496d1bc83" providerId="LiveId" clId="{EBE7DE87-C041-44F4-B6B2-379359185045}" dt="2026-04-16T12:50:01.946" v="1361" actId="20577"/>
        <pc:sldMkLst>
          <pc:docMk/>
          <pc:sldMk cId="2709000433" sldId="406"/>
        </pc:sldMkLst>
        <pc:spChg chg="mod">
          <ac:chgData name="Midhun Eldose" userId="276e0ff496d1bc83" providerId="LiveId" clId="{EBE7DE87-C041-44F4-B6B2-379359185045}" dt="2026-04-16T12:50:01.946" v="1361" actId="20577"/>
          <ac:spMkLst>
            <pc:docMk/>
            <pc:sldMk cId="2709000433" sldId="406"/>
            <ac:spMk id="3" creationId="{C8223CC7-4B2F-9536-63EB-D6C907B5CC7A}"/>
          </ac:spMkLst>
        </pc:spChg>
      </pc:sldChg>
      <pc:sldChg chg="modSp mod">
        <pc:chgData name="Midhun Eldose" userId="276e0ff496d1bc83" providerId="LiveId" clId="{EBE7DE87-C041-44F4-B6B2-379359185045}" dt="2026-04-16T10:05:56.542" v="1313" actId="20577"/>
        <pc:sldMkLst>
          <pc:docMk/>
          <pc:sldMk cId="2014674062" sldId="407"/>
        </pc:sldMkLst>
        <pc:spChg chg="mod">
          <ac:chgData name="Midhun Eldose" userId="276e0ff496d1bc83" providerId="LiveId" clId="{EBE7DE87-C041-44F4-B6B2-379359185045}" dt="2026-04-16T10:05:56.542" v="1313" actId="20577"/>
          <ac:spMkLst>
            <pc:docMk/>
            <pc:sldMk cId="2014674062" sldId="407"/>
            <ac:spMk id="3" creationId="{6D39D0C5-50AA-6E48-06A9-C8C1FF1490A8}"/>
          </ac:spMkLst>
        </pc:spChg>
      </pc:sldChg>
      <pc:sldChg chg="modSp mod">
        <pc:chgData name="Midhun Eldose" userId="276e0ff496d1bc83" providerId="LiveId" clId="{EBE7DE87-C041-44F4-B6B2-379359185045}" dt="2026-04-16T12:41:12.295" v="1352" actId="20577"/>
        <pc:sldMkLst>
          <pc:docMk/>
          <pc:sldMk cId="0" sldId="414"/>
        </pc:sldMkLst>
        <pc:spChg chg="mod">
          <ac:chgData name="Midhun Eldose" userId="276e0ff496d1bc83" providerId="LiveId" clId="{EBE7DE87-C041-44F4-B6B2-379359185045}" dt="2026-04-16T12:41:08.557" v="1349" actId="20577"/>
          <ac:spMkLst>
            <pc:docMk/>
            <pc:sldMk cId="0" sldId="414"/>
            <ac:spMk id="2" creationId="{00000000-0000-0000-0000-000000000000}"/>
          </ac:spMkLst>
        </pc:spChg>
        <pc:spChg chg="mod">
          <ac:chgData name="Midhun Eldose" userId="276e0ff496d1bc83" providerId="LiveId" clId="{EBE7DE87-C041-44F4-B6B2-379359185045}" dt="2026-04-16T12:41:12.295" v="1352" actId="20577"/>
          <ac:spMkLst>
            <pc:docMk/>
            <pc:sldMk cId="0" sldId="41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626C6-69D6-41F5-9210-4551A7F74285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747CD-7FEE-4FE1-9DC9-E85BA0CF4CE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89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174C35-7FDB-BB91-82F8-FB02EB059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3436" y="1134442"/>
            <a:ext cx="8625037" cy="2308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D2C720-ED91-9F73-692B-B66013DFC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3436" y="3610415"/>
            <a:ext cx="8625037" cy="16012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DE88287-0E93-39B8-918C-AF8556423FEC}"/>
              </a:ext>
            </a:extLst>
          </p:cNvPr>
          <p:cNvSpPr/>
          <p:nvPr userDrawn="1"/>
        </p:nvSpPr>
        <p:spPr>
          <a:xfrm>
            <a:off x="557048" y="-1"/>
            <a:ext cx="11672551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winkliges Dreieck 7">
            <a:extLst>
              <a:ext uri="{FF2B5EF4-FFF2-40B4-BE49-F238E27FC236}">
                <a16:creationId xmlns:a16="http://schemas.microsoft.com/office/drawing/2014/main" id="{63189508-4F81-18AE-CA12-3C95735B820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6A0EC1E-852C-532A-A4F2-1B1FCF62B24E}"/>
              </a:ext>
            </a:extLst>
          </p:cNvPr>
          <p:cNvSpPr/>
          <p:nvPr userDrawn="1"/>
        </p:nvSpPr>
        <p:spPr>
          <a:xfrm>
            <a:off x="5609424" y="3069240"/>
            <a:ext cx="2246374" cy="2720292"/>
          </a:xfrm>
          <a:prstGeom prst="roundRect">
            <a:avLst/>
          </a:prstGeom>
          <a:blipFill dpi="0" rotWithShape="1">
            <a:blip r:embed="rId2"/>
            <a:srcRect/>
            <a:stretch>
              <a:fillRect l="-3000" r="-33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E4AD166-3A37-F926-6276-F7DD8FF8FB17}"/>
              </a:ext>
            </a:extLst>
          </p:cNvPr>
          <p:cNvSpPr/>
          <p:nvPr userDrawn="1"/>
        </p:nvSpPr>
        <p:spPr>
          <a:xfrm>
            <a:off x="-5051" y="-1"/>
            <a:ext cx="6550567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1BAB4807-8614-CE8C-21C5-AE689AA8C40C}"/>
              </a:ext>
            </a:extLst>
          </p:cNvPr>
          <p:cNvSpPr txBox="1">
            <a:spLocks/>
          </p:cNvSpPr>
          <p:nvPr userDrawn="1"/>
        </p:nvSpPr>
        <p:spPr>
          <a:xfrm>
            <a:off x="-104198" y="4238707"/>
            <a:ext cx="6550567" cy="423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b="1">
                <a:solidFill>
                  <a:srgbClr val="D9096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Roboter-Potential-Analyse</a:t>
            </a:r>
          </a:p>
        </p:txBody>
      </p:sp>
      <p:pic>
        <p:nvPicPr>
          <p:cNvPr id="13" name="Grafik 12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A6DA24F0-6604-239A-E40F-1C0531F7AE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9F7A04FE-4364-F265-3DFB-1536B5681921}"/>
              </a:ext>
            </a:extLst>
          </p:cNvPr>
          <p:cNvSpPr/>
          <p:nvPr userDrawn="1"/>
        </p:nvSpPr>
        <p:spPr>
          <a:xfrm>
            <a:off x="6720048" y="357096"/>
            <a:ext cx="2831129" cy="2545097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77362DE9-F5D3-E529-2091-D7B03874CF34}"/>
              </a:ext>
            </a:extLst>
          </p:cNvPr>
          <p:cNvSpPr/>
          <p:nvPr userDrawn="1"/>
        </p:nvSpPr>
        <p:spPr>
          <a:xfrm>
            <a:off x="9726982" y="377434"/>
            <a:ext cx="2465018" cy="2545097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4CDF83D-2E20-E8CA-E095-AC3E3BFC196E}"/>
              </a:ext>
            </a:extLst>
          </p:cNvPr>
          <p:cNvSpPr/>
          <p:nvPr userDrawn="1"/>
        </p:nvSpPr>
        <p:spPr>
          <a:xfrm>
            <a:off x="8041752" y="3069240"/>
            <a:ext cx="2586721" cy="2720292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blipFill>
                <a:blip r:embed="rId6"/>
                <a:stretch>
                  <a:fillRect/>
                </a:stretch>
              </a:blipFill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B3EF718-F394-D1D6-AD3A-A8A65C21C02C}"/>
              </a:ext>
            </a:extLst>
          </p:cNvPr>
          <p:cNvSpPr/>
          <p:nvPr userDrawn="1"/>
        </p:nvSpPr>
        <p:spPr>
          <a:xfrm>
            <a:off x="10787495" y="3090506"/>
            <a:ext cx="2831129" cy="2720292"/>
          </a:xfrm>
          <a:prstGeom prst="roundRect">
            <a:avLst/>
          </a:prstGeom>
          <a:blipFill dpi="0" rotWithShape="1">
            <a:blip r:embed="rId7"/>
            <a:srcRect/>
            <a:stretch>
              <a:fillRect l="-22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716F0882-FCF5-8CDB-BB97-BA474F7EB659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B18F83-6B39-7343-1789-0A82774BDDE3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F4436904-CA22-EA33-D85A-6AB37E71C729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E22A7A8-67CD-B8FD-F12E-78B06745B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712721"/>
            <a:ext cx="6521450" cy="1071753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426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5C29434-5514-33E7-9C8D-8D311FA36ECC}"/>
              </a:ext>
            </a:extLst>
          </p:cNvPr>
          <p:cNvSpPr/>
          <p:nvPr userDrawn="1"/>
        </p:nvSpPr>
        <p:spPr>
          <a:xfrm>
            <a:off x="6684963" y="-1"/>
            <a:ext cx="5754449" cy="6858001"/>
          </a:xfrm>
          <a:prstGeom prst="rect">
            <a:avLst/>
          </a:prstGeom>
          <a:solidFill>
            <a:srgbClr val="1D1E1F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654AF682-4566-28BF-928B-239B2EF38C19}"/>
              </a:ext>
            </a:extLst>
          </p:cNvPr>
          <p:cNvSpPr/>
          <p:nvPr userDrawn="1"/>
        </p:nvSpPr>
        <p:spPr>
          <a:xfrm>
            <a:off x="-5050" y="-1"/>
            <a:ext cx="6690014" cy="6858001"/>
          </a:xfrm>
          <a:prstGeom prst="rect">
            <a:avLst/>
          </a:prstGeom>
          <a:solidFill>
            <a:srgbClr val="282A2E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AA33DE-4979-35B4-61E1-24B59F3A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946"/>
            <a:ext cx="5562987" cy="878066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9936F0-5BB2-26B7-3653-9C4D5FE3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511"/>
            <a:ext cx="5562987" cy="428367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86CEC3-CD5E-7B98-43E2-29E86328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38E75-7E8A-84CD-3602-DB03CF29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winkliges Dreieck 9">
            <a:extLst>
              <a:ext uri="{FF2B5EF4-FFF2-40B4-BE49-F238E27FC236}">
                <a16:creationId xmlns:a16="http://schemas.microsoft.com/office/drawing/2014/main" id="{A8F89473-4375-7F44-223E-D8783992E43E}"/>
              </a:ext>
            </a:extLst>
          </p:cNvPr>
          <p:cNvSpPr/>
          <p:nvPr userDrawn="1"/>
        </p:nvSpPr>
        <p:spPr>
          <a:xfrm flipH="1">
            <a:off x="7063339" y="-1"/>
            <a:ext cx="5328357" cy="6858001"/>
          </a:xfrm>
          <a:prstGeom prst="rtTriangle">
            <a:avLst/>
          </a:prstGeom>
          <a:gradFill flip="none" rotWithShape="0">
            <a:gsLst>
              <a:gs pos="0">
                <a:srgbClr val="FB1A62"/>
              </a:gs>
              <a:gs pos="56000">
                <a:srgbClr val="FA1960"/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2700000" scaled="1"/>
            <a:tileRect/>
          </a:gradFill>
          <a:ln>
            <a:solidFill>
              <a:srgbClr val="FB1A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 descr="Ein Bild, das Symbol, Schrift, Grafiken, Text enthält.&#10;&#10;Automatisch generierte Beschreibung">
            <a:extLst>
              <a:ext uri="{FF2B5EF4-FFF2-40B4-BE49-F238E27FC236}">
                <a16:creationId xmlns:a16="http://schemas.microsoft.com/office/drawing/2014/main" id="{08F6E060-7BAE-CEC9-290E-4099EF732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03" y="5955083"/>
            <a:ext cx="870810" cy="786713"/>
          </a:xfrm>
          <a:prstGeom prst="rect">
            <a:avLst/>
          </a:prstGeom>
        </p:spPr>
      </p:pic>
      <p:sp>
        <p:nvSpPr>
          <p:cNvPr id="19" name="AutoShape 2">
            <a:extLst>
              <a:ext uri="{FF2B5EF4-FFF2-40B4-BE49-F238E27FC236}">
                <a16:creationId xmlns:a16="http://schemas.microsoft.com/office/drawing/2014/main" id="{6A570CEE-B803-E72C-444F-0CCFA366FA6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34632" y="3359105"/>
            <a:ext cx="301875" cy="30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E67D10AD-E425-71DC-76CE-576F345F7DFE}"/>
              </a:ext>
            </a:extLst>
          </p:cNvPr>
          <p:cNvSpPr txBox="1"/>
          <p:nvPr userDrawn="1"/>
        </p:nvSpPr>
        <p:spPr>
          <a:xfrm>
            <a:off x="7581741" y="6463989"/>
            <a:ext cx="296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>
                <a:latin typeface="Roboto" panose="02000000000000000000" pitchFamily="2" charset="0"/>
                <a:ea typeface="Roboto" panose="02000000000000000000" pitchFamily="2" charset="0"/>
              </a:rPr>
              <a:t>www.ef-robotics.de</a:t>
            </a:r>
          </a:p>
        </p:txBody>
      </p:sp>
      <p:sp>
        <p:nvSpPr>
          <p:cNvPr id="21" name="Untertitel 2">
            <a:extLst>
              <a:ext uri="{FF2B5EF4-FFF2-40B4-BE49-F238E27FC236}">
                <a16:creationId xmlns:a16="http://schemas.microsoft.com/office/drawing/2014/main" id="{71BC3B6C-0427-AEE1-A7A7-52EC522EBBEB}"/>
              </a:ext>
            </a:extLst>
          </p:cNvPr>
          <p:cNvSpPr txBox="1">
            <a:spLocks/>
          </p:cNvSpPr>
          <p:nvPr userDrawn="1"/>
        </p:nvSpPr>
        <p:spPr>
          <a:xfrm>
            <a:off x="-24085" y="4156594"/>
            <a:ext cx="6545394" cy="4238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D63CC2FD-26D6-5FDE-B15F-E95DC14F41D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99684" y="451945"/>
            <a:ext cx="5139916" cy="5366243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7FC8A6-31C1-8CA8-0B26-22244455C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00B1F0-73E0-AA03-3912-5AACC5D82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125F0-445E-68BA-600D-66FF2B776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F6F0F0-F890-E52D-29D5-EE8FD0510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D4D990-4D87-B964-A5B0-3796CD51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18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CAA2D9-3F95-2B45-6A8B-ADE8C3C9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E6E88B-B5D7-AA42-AA0C-17B533E91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4F2245-D256-493F-3001-F9FEDC366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E77E9E3-ADF5-CF44-BD82-4B5CD847E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CF7593-D3DC-477E-96E0-F8AE509F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668076-276F-448D-7E56-2488B6F64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68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BFCFD4-2344-BAFD-C71E-81E07A0B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10FEF1-C076-E1B4-5466-0799420E6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B6203D-DDA7-345D-6718-4E7B1C530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70DDB8-3435-C449-6514-F4FD30F4C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EA8B5D-576F-52DA-2E06-07FA66A36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740C192-6493-937A-E1A7-4AC898A40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F2D3025-4C40-71F0-C136-0C01CCC29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DC22DF8-7DB8-A88E-198A-2C3872C3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930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22CB0-565F-6B79-79FA-26430456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C56AF3-6C88-B0C9-153A-AE301ED8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8A58577-1551-42DF-3343-DCD1AE0C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FFF5D3-583E-0580-105C-E9BDA64C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069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C8B202-34E0-B70D-539B-56ECCE0C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38E195-F527-E3EE-EA2E-E18C80D5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CD99A6-59A0-85EF-A5D8-E2BE7E8E8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24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A85B8D-6095-1C20-C825-3357CDE14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789CB9-584F-AB7F-6BAB-E3DDA0D19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4CF95E-BADA-7F6D-476A-DAC6CEEEC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122EB-0B5A-258E-3CA9-79A830DB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E303DF-BFA5-A4F4-D0A5-002C78236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43ED301-798A-C4CA-600B-FAAAEBEDB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354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69862-D0EE-B148-F264-F46C3894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45EDAF-FF4A-6185-414B-5B1F581A41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B7EEAC-191C-5E06-AA0B-A6A740AC2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8D56E2-3DFE-13FE-D3B8-A74345BDD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20674A-AE4F-A1E9-8DAC-CACAAC99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440943-DACB-4B6F-0C38-F837E8DCE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3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71FB8-1E20-26E2-9B03-AD078F9C2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805EE5-5D39-A4A4-98A1-51F2C8524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A449B3-6AEF-4406-1C7D-98FC9F4CF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174E01-2AE6-4669-EFD4-A14A36AE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A4F85F-9E86-898F-5398-6EB69590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675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4C58488-98F5-3BFD-C6EF-183F77728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F3DB59-B74F-B226-22D7-4AB39201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481213-398D-CEC7-D082-8035B1971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B71EAA-6ED4-CCA3-0ACA-5DD18890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E1C6FE-5D82-8D49-FDE3-9AF6F24D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9328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81231FA-5C1D-C1C1-233E-42489A9FC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85687-1EF5-457B-72B3-15F50B7E8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781CE5-18E6-B38C-7F35-6CC37AC35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52704-49FC-4C1E-8A13-0C957A174B8A}" type="datetimeFigureOut">
              <a:rPr lang="de-DE" smtClean="0"/>
              <a:t>24.04.2026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49E698-6194-751D-AB14-7E8E2E87A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F93E3C-D90E-884C-1B1A-012EEF57D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195AE-F16F-4614-8051-3AEC9330D9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7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youtu.be/m1CH-mgpdYg?si=OYEvfjEZlexIZDpO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656094"/>
            <a:ext cx="7662333" cy="2771971"/>
          </a:xfrm>
        </p:spPr>
        <p:txBody>
          <a:bodyPr>
            <a:noAutofit/>
          </a:bodyPr>
          <a:lstStyle/>
          <a:p>
            <a:r>
              <a:rPr lang="de-DE" sz="7000" dirty="0">
                <a:latin typeface="Roboto"/>
                <a:ea typeface="Roboto"/>
                <a:cs typeface="Roboto"/>
              </a:rPr>
              <a:t>Humanoid</a:t>
            </a:r>
            <a:br>
              <a:rPr lang="de-DE" sz="7000" dirty="0">
                <a:latin typeface="Roboto"/>
                <a:ea typeface="Roboto"/>
                <a:cs typeface="Roboto"/>
              </a:rPr>
            </a:br>
            <a:r>
              <a:rPr lang="de-DE" sz="7000" dirty="0">
                <a:latin typeface="Roboto"/>
                <a:ea typeface="Roboto"/>
                <a:cs typeface="Roboto"/>
              </a:rPr>
              <a:t>Academy</a:t>
            </a:r>
            <a:br>
              <a:rPr lang="de-DE" sz="7000" dirty="0">
                <a:cs typeface="Roboto"/>
              </a:rPr>
            </a:br>
            <a:endParaRPr sz="7000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F854F072-421D-F6D1-AF56-4FA84F7FC0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50B6AC92-74F4-421E-6F1E-5B8DBB91F746}"/>
              </a:ext>
            </a:extLst>
          </p:cNvPr>
          <p:cNvSpPr txBox="1"/>
          <p:nvPr/>
        </p:nvSpPr>
        <p:spPr>
          <a:xfrm>
            <a:off x="1178983" y="4878740"/>
            <a:ext cx="62695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4: VLA​</a:t>
            </a:r>
            <a:endParaRPr lang="de-DE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latin typeface="Roboto"/>
                <a:ea typeface="Roboto"/>
                <a:cs typeface="Roboto"/>
              </a:rPr>
              <a:t>Zeitplan</a:t>
            </a:r>
            <a:br>
              <a:rPr lang="de-DE" dirty="0">
                <a:latin typeface="Roboto"/>
                <a:ea typeface="Roboto"/>
                <a:cs typeface="Roboto"/>
              </a:rPr>
            </a:br>
            <a:r>
              <a:rPr lang="de-DE" dirty="0">
                <a:solidFill>
                  <a:srgbClr val="FB1A62"/>
                </a:solidFill>
                <a:latin typeface="Roboto"/>
                <a:ea typeface="Roboto"/>
                <a:cs typeface="Roboto"/>
              </a:rPr>
              <a:t>Tag 4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A7A3646A-8228-EAFE-E7BA-8067232509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E62D717B-E1D6-246D-2B56-E847A79CE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956528"/>
              </p:ext>
            </p:extLst>
          </p:nvPr>
        </p:nvGraphicFramePr>
        <p:xfrm>
          <a:off x="767255" y="1740065"/>
          <a:ext cx="55626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677736132"/>
                    </a:ext>
                  </a:extLst>
                </a:gridCol>
              </a:tblGrid>
              <a:tr h="347119">
                <a:tc>
                  <a:txBody>
                    <a:bodyPr/>
                    <a:lstStyle/>
                    <a:p>
                      <a:pPr algn="ctr"/>
                      <a:r>
                        <a:rPr lang="de-DE" sz="2000" b="0" i="0" u="none" strike="noStrike" kern="120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 30.04.2026​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rgbClr val="FB1A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0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08:30 Einfinden der Teilnehmer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6598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09:00 Schulungsblock 1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525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10:30 Kaffee- und Teepause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9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10:45 Schulungsblock 2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17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12:00 Mittagessen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46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13:00 Schulungsblock 3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7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14:30 Kaffee- und Teepause mit Snacks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832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15:00 Schulungsblock 4</a:t>
                      </a:r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​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4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de-DE" sz="2000" b="0" i="0" u="none" strike="noStrike" kern="1200" dirty="0">
                          <a:solidFill>
                            <a:schemeClr val="dk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17:00 Ende Tag 4</a:t>
                      </a:r>
                      <a:endParaRPr lang="en-GB" sz="20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2942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Tagesziele</a:t>
            </a:r>
            <a:r>
              <a:rPr lang="de-DE" dirty="0"/>
              <a:t>(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cases</a:t>
            </a:r>
            <a:r>
              <a:rPr lang="de-DE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VLA (</a:t>
            </a:r>
            <a:r>
              <a:rPr lang="de-DE" dirty="0" err="1"/>
              <a:t>introduction</a:t>
            </a:r>
            <a:r>
              <a:rPr lang="de-DE" dirty="0"/>
              <a:t>)</a:t>
            </a:r>
          </a:p>
          <a:p>
            <a:r>
              <a:rPr lang="de-DE" dirty="0"/>
              <a:t>VLA mit Go2/G1</a:t>
            </a:r>
          </a:p>
          <a:p>
            <a:r>
              <a:rPr lang="de-DE" dirty="0"/>
              <a:t>Aufgabe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E6269730-0C5C-E809-BA59-4D857D228C7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133" y="147146"/>
            <a:ext cx="5562987" cy="878066"/>
          </a:xfrm>
        </p:spPr>
        <p:txBody>
          <a:bodyPr>
            <a:normAutofit fontScale="90000"/>
          </a:bodyPr>
          <a:lstStyle/>
          <a:p>
            <a:r>
              <a:rPr dirty="0" err="1"/>
              <a:t>Systemüberblick</a:t>
            </a:r>
            <a:r>
              <a:rPr dirty="0"/>
              <a:t> G1 (Tag 1 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133" y="1261533"/>
            <a:ext cx="6078579" cy="50777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 G1 Überblick &amp; </a:t>
            </a:r>
            <a:r>
              <a:rPr lang="de-DE" b="1" dirty="0" err="1"/>
              <a:t>Safety</a:t>
            </a:r>
            <a:br>
              <a:rPr lang="de-DE" dirty="0"/>
            </a:br>
            <a:r>
              <a:rPr lang="de-DE" dirty="0"/>
              <a:t> Hardware, Sensoren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Verbindung &amp; Steuerung</a:t>
            </a:r>
            <a:br>
              <a:rPr lang="de-DE" dirty="0"/>
            </a:br>
            <a:r>
              <a:rPr lang="de-DE" dirty="0"/>
              <a:t> AP / Ethernet / SSH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• Programmierung</a:t>
            </a:r>
            <a:br>
              <a:rPr lang="de-DE" dirty="0"/>
            </a:br>
            <a:r>
              <a:rPr lang="de-DE" dirty="0"/>
              <a:t> SDK2, FSM, ROS2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• Entwicklungsumgebung</a:t>
            </a:r>
            <a:br>
              <a:rPr lang="de-DE" dirty="0"/>
            </a:br>
            <a:r>
              <a:rPr lang="de-DE" dirty="0"/>
              <a:t> Linux, Python, </a:t>
            </a:r>
            <a:r>
              <a:rPr lang="de-DE" dirty="0" err="1"/>
              <a:t>CycloneDDS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• Tools &amp; Demos</a:t>
            </a:r>
            <a:br>
              <a:rPr lang="de-DE" dirty="0"/>
            </a:br>
            <a:r>
              <a:rPr lang="de-DE" dirty="0"/>
              <a:t> Repository, CLI, Beispielskripte</a:t>
            </a:r>
          </a:p>
          <a:p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CDD2BA08-94F3-9534-2C52-EF7089D031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88F059-FAF3-DC0E-D330-9C82002D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Systemüberblick G1 (Tag 2)</a:t>
            </a:r>
            <a:br>
              <a:rPr lang="de-DE" dirty="0"/>
            </a:b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223CC7-4B2F-9536-63EB-D6C907B5C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Tag 2 – G1 </a:t>
            </a:r>
            <a:r>
              <a:rPr lang="de-DE" b="1" dirty="0" err="1"/>
              <a:t>Rviz</a:t>
            </a:r>
            <a:r>
              <a:rPr lang="de-DE" b="1" dirty="0"/>
              <a:t> und </a:t>
            </a:r>
            <a:r>
              <a:rPr lang="de-DE" b="1" dirty="0" err="1"/>
              <a:t>intro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SLAM Navigation</a:t>
            </a:r>
          </a:p>
          <a:p>
            <a:pPr marL="0" indent="0">
              <a:buNone/>
            </a:pPr>
            <a:br>
              <a:rPr lang="de-DE" dirty="0"/>
            </a:br>
            <a:endParaRPr lang="de-DE" dirty="0"/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9CD0E42D-3F3D-65BC-C776-CD7365748C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0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0E9EC-06F6-140B-7C40-A34DB7DE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Systemüberblick G1 (3 </a:t>
            </a:r>
            <a:r>
              <a:rPr lang="de-DE" dirty="0" err="1"/>
              <a:t>Recap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39D0C5-50AA-6E48-06A9-C8C1FF14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666" y="1923978"/>
            <a:ext cx="5562987" cy="4283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dirty="0"/>
              <a:t>Tag 3 – Arm, Manipulation 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• 3-Finger </a:t>
            </a:r>
          </a:p>
          <a:p>
            <a:pPr marL="0" indent="0">
              <a:buNone/>
            </a:pPr>
            <a:br>
              <a:rPr lang="de-DE" dirty="0"/>
            </a:br>
            <a:r>
              <a:rPr lang="de-DE" dirty="0"/>
              <a:t>• Greifsteuerung(mit 3 </a:t>
            </a:r>
            <a:r>
              <a:rPr lang="de-DE" dirty="0" err="1"/>
              <a:t>finger</a:t>
            </a:r>
            <a:r>
              <a:rPr lang="de-DE" dirty="0"/>
              <a:t>)</a:t>
            </a:r>
          </a:p>
        </p:txBody>
      </p:sp>
      <p:pic>
        <p:nvPicPr>
          <p:cNvPr id="4" name="Picture Placeholder 6">
            <a:extLst>
              <a:ext uri="{FF2B5EF4-FFF2-40B4-BE49-F238E27FC236}">
                <a16:creationId xmlns:a16="http://schemas.microsoft.com/office/drawing/2014/main" id="{07A686A4-695C-3320-9C79-04D5B2DF1A5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67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747A23-7CD6-0AF2-939A-4437FB09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VLA ??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4AB7BC-5542-7E98-A41E-84FE1DB82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https://youtu.be/m1CH-mgpdYg?si=OYEvfjEZlexIZDpO</a:t>
            </a:r>
            <a:endParaRPr lang="de-DE"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437509FC-8F42-9299-A82D-76299CD619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4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Vision-Language-Action (VLA)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Vision → </a:t>
            </a:r>
            <a:r>
              <a:rPr dirty="0" err="1"/>
              <a:t>Wahrnehmung</a:t>
            </a:r>
            <a:r>
              <a:rPr dirty="0"/>
              <a:t> (Kamera)</a:t>
            </a:r>
          </a:p>
          <a:p>
            <a:pPr marL="0" indent="0">
              <a:buNone/>
            </a:pPr>
            <a:r>
              <a:rPr dirty="0"/>
              <a:t>• Language → </a:t>
            </a:r>
            <a:r>
              <a:rPr dirty="0" err="1"/>
              <a:t>Verständnis</a:t>
            </a:r>
            <a:r>
              <a:rPr dirty="0"/>
              <a:t> (</a:t>
            </a:r>
            <a:r>
              <a:rPr dirty="0" err="1"/>
              <a:t>Befehl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Action → </a:t>
            </a:r>
            <a:r>
              <a:rPr dirty="0" err="1"/>
              <a:t>Ausführung</a:t>
            </a:r>
            <a:r>
              <a:rPr dirty="0"/>
              <a:t> (</a:t>
            </a:r>
            <a:r>
              <a:rPr dirty="0" err="1"/>
              <a:t>Roboter</a:t>
            </a: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Beispiel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"Pick the box" →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r>
              <a:rPr dirty="0"/>
              <a:t> → </a:t>
            </a:r>
            <a:r>
              <a:rPr dirty="0" err="1"/>
              <a:t>Greifen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4241BEA2-6C12-96AD-C74C-20F9D4CC33A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VLA Pipeline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4946AD5-7BEF-AC0C-AABF-A8205DF39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532" y="451946"/>
            <a:ext cx="3823548" cy="5735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Wahrnehmung (Perception)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RGB / Depth Kamera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Objekterkennung</a:t>
            </a:r>
            <a:endParaRPr dirty="0"/>
          </a:p>
          <a:p>
            <a:pPr marL="0" indent="0">
              <a:buNone/>
            </a:pPr>
            <a:r>
              <a:rPr dirty="0"/>
              <a:t>• Bounding Box / </a:t>
            </a:r>
            <a:r>
              <a:rPr dirty="0" err="1"/>
              <a:t>Segmentierung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7DA8E5B4-0DA7-6580-C3F6-00A2926A815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Sprachverarbeitung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Eingabe</a:t>
            </a:r>
            <a:r>
              <a:rPr dirty="0"/>
              <a:t>: "Pick the bottle"</a:t>
            </a:r>
          </a:p>
          <a:p>
            <a:pPr marL="0" indent="0">
              <a:buNone/>
            </a:pPr>
            <a:r>
              <a:rPr dirty="0"/>
              <a:t>• Modell </a:t>
            </a:r>
            <a:r>
              <a:rPr dirty="0" err="1"/>
              <a:t>interpretiert</a:t>
            </a:r>
            <a:r>
              <a:rPr dirty="0"/>
              <a:t> Aufgabe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Generiert</a:t>
            </a:r>
            <a:r>
              <a:rPr dirty="0"/>
              <a:t> </a:t>
            </a:r>
            <a:r>
              <a:rPr dirty="0" err="1"/>
              <a:t>Aktionen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B50BC6C-F8B1-1867-CAF5-D0313BA5F9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Aktionsausführung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Navigation (SLAM)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Greifen</a:t>
            </a:r>
            <a:r>
              <a:rPr dirty="0"/>
              <a:t> (3-Finger </a:t>
            </a:r>
            <a:r>
              <a:rPr dirty="0" err="1"/>
              <a:t>Greifer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Bewegungsausführung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9C7368AF-914C-44EB-C2C1-DCE11A2798F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Gesamtsystem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Sensoren → SLAM → VLA → Planung → Ausführung</a:t>
            </a:r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EB5EF6B5-44E9-6C29-D42A-6FB4312817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VLA </a:t>
            </a:r>
            <a:r>
              <a:rPr dirty="0" err="1"/>
              <a:t>mit</a:t>
            </a:r>
            <a:r>
              <a:rPr dirty="0"/>
              <a:t> Go2</a:t>
            </a:r>
            <a:r>
              <a:rPr lang="de-DE" dirty="0"/>
              <a:t>/G1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Kamera </a:t>
            </a:r>
            <a:r>
              <a:rPr dirty="0" err="1"/>
              <a:t>erkennt</a:t>
            </a:r>
            <a:r>
              <a:rPr dirty="0"/>
              <a:t> </a:t>
            </a:r>
            <a:r>
              <a:rPr dirty="0" err="1"/>
              <a:t>Objekt</a:t>
            </a:r>
            <a:endParaRPr dirty="0"/>
          </a:p>
          <a:p>
            <a:pPr marL="0" indent="0">
              <a:buNone/>
            </a:pPr>
            <a:r>
              <a:rPr dirty="0"/>
              <a:t>• VLA plant </a:t>
            </a:r>
            <a:r>
              <a:rPr dirty="0" err="1"/>
              <a:t>Bewegung</a:t>
            </a:r>
            <a:endParaRPr dirty="0"/>
          </a:p>
          <a:p>
            <a:pPr marL="0" indent="0">
              <a:buNone/>
            </a:pPr>
            <a:r>
              <a:rPr dirty="0"/>
              <a:t>• Go2</a:t>
            </a:r>
            <a:r>
              <a:rPr lang="de-DE" dirty="0"/>
              <a:t>/G1</a:t>
            </a:r>
            <a:r>
              <a:rPr dirty="0"/>
              <a:t> </a:t>
            </a:r>
            <a:r>
              <a:rPr dirty="0" err="1"/>
              <a:t>navigiert</a:t>
            </a:r>
            <a:r>
              <a:rPr dirty="0"/>
              <a:t> </a:t>
            </a:r>
            <a:r>
              <a:rPr dirty="0" err="1"/>
              <a:t>autonom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ECB57E19-71C7-209C-87F2-416790DF000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Aufgabe – VLA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endParaRPr dirty="0"/>
          </a:p>
          <a:p>
            <a:pPr marL="0" indent="0">
              <a:buNone/>
            </a:pPr>
            <a:r>
              <a:rPr dirty="0"/>
              <a:t>2. Ziel </a:t>
            </a:r>
            <a:r>
              <a:rPr dirty="0" err="1"/>
              <a:t>definieren</a:t>
            </a:r>
            <a:endParaRPr dirty="0"/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Bewegung</a:t>
            </a:r>
            <a:r>
              <a:rPr dirty="0"/>
              <a:t> </a:t>
            </a:r>
            <a:r>
              <a:rPr dirty="0" err="1"/>
              <a:t>planen</a:t>
            </a:r>
            <a:endParaRPr dirty="0"/>
          </a:p>
          <a:p>
            <a:pPr marL="0" indent="0">
              <a:buNone/>
            </a:pPr>
            <a:r>
              <a:rPr dirty="0"/>
              <a:t>4. Aktion </a:t>
            </a:r>
            <a:r>
              <a:rPr dirty="0" err="1"/>
              <a:t>ausführen</a:t>
            </a:r>
            <a:endParaRPr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1AFDE807-D78B-D2F2-A55A-AD21196A1CA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Erweiterte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"Find the box and move to it"</a:t>
            </a:r>
          </a:p>
          <a:p>
            <a:r>
              <a:t>→ Erkennung → Planung → Navigation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178C544-8AFF-5A4A-80B4-924DAFFB1FA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Herausforderungen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Sensorrauschen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Falsche</a:t>
            </a:r>
            <a:r>
              <a:rPr dirty="0"/>
              <a:t> </a:t>
            </a:r>
            <a:r>
              <a:rPr dirty="0" err="1"/>
              <a:t>Erkennung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Navigationsprobleme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1A70722A-6B8B-AE83-01DF-0FD16D88C2B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Lernergebnis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Verständnis</a:t>
            </a:r>
            <a:r>
              <a:rPr dirty="0"/>
              <a:t> der VLA Pipeline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Verbindung</a:t>
            </a:r>
            <a:r>
              <a:rPr dirty="0"/>
              <a:t> Vision → Action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Autonome</a:t>
            </a:r>
            <a:r>
              <a:rPr dirty="0"/>
              <a:t> </a:t>
            </a:r>
            <a:r>
              <a:rPr dirty="0" err="1"/>
              <a:t>Robotersteuerung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ABD0BCED-8A05-40F5-8C21-AF76362EDA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VLA?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Verbindung von </a:t>
            </a:r>
            <a:r>
              <a:rPr dirty="0" err="1"/>
              <a:t>Wahrnehmung</a:t>
            </a:r>
            <a:r>
              <a:rPr dirty="0"/>
              <a:t> und Aktion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Autonome</a:t>
            </a:r>
            <a:r>
              <a:rPr dirty="0"/>
              <a:t> </a:t>
            </a:r>
            <a:r>
              <a:rPr dirty="0" err="1"/>
              <a:t>Robotik</a:t>
            </a:r>
            <a:endParaRPr dirty="0"/>
          </a:p>
          <a:p>
            <a:pPr marL="0" indent="0">
              <a:buNone/>
            </a:pPr>
            <a:r>
              <a:rPr dirty="0"/>
              <a:t>• Industrie </a:t>
            </a:r>
            <a:r>
              <a:rPr dirty="0" err="1"/>
              <a:t>Anwendungen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6740071E-3692-BEA6-40DF-86900DDE0F9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Kamera → </a:t>
            </a:r>
            <a:r>
              <a:rPr dirty="0" err="1"/>
              <a:t>Objekterkennung</a:t>
            </a:r>
            <a:endParaRPr dirty="0"/>
          </a:p>
          <a:p>
            <a:pPr marL="0" indent="0">
              <a:buNone/>
            </a:pP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VLM / LLM</a:t>
            </a:r>
          </a:p>
          <a:p>
            <a:pPr marL="0" indent="0">
              <a:buNone/>
            </a:pPr>
            <a:r>
              <a:rPr dirty="0"/>
              <a:t>↓</a:t>
            </a:r>
          </a:p>
          <a:p>
            <a:pPr marL="0" indent="0">
              <a:buNone/>
            </a:pPr>
            <a:r>
              <a:rPr dirty="0" err="1"/>
              <a:t>Planung</a:t>
            </a:r>
            <a:endParaRPr dirty="0"/>
          </a:p>
          <a:p>
            <a:pPr marL="0" indent="0">
              <a:buNone/>
            </a:pPr>
            <a:r>
              <a:rPr dirty="0"/>
              <a:t>↓</a:t>
            </a:r>
          </a:p>
          <a:p>
            <a:pPr marL="0" indent="0">
              <a:buNone/>
            </a:pPr>
            <a:r>
              <a:rPr dirty="0"/>
              <a:t>Robot Aktion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82C2A0EA-6A1B-F0EF-D42C-A34C6F88DE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Einfache</a:t>
            </a:r>
            <a:r>
              <a:rPr dirty="0"/>
              <a:t> Modelle</a:t>
            </a:r>
          </a:p>
          <a:p>
            <a:pPr marL="0" indent="0">
              <a:buNone/>
            </a:pPr>
            <a:r>
              <a:rPr dirty="0"/>
              <a:t>• Kleine </a:t>
            </a:r>
            <a:r>
              <a:rPr dirty="0" err="1"/>
              <a:t>Datensätze</a:t>
            </a:r>
            <a:endParaRPr dirty="0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35791FE2-52F2-417F-273C-5FC5C62F7F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Finale Aufgabe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Navigation + Perception + Manipulation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Objekt</a:t>
            </a:r>
            <a:r>
              <a:rPr dirty="0"/>
              <a:t> </a:t>
            </a:r>
            <a:r>
              <a:rPr dirty="0" err="1"/>
              <a:t>erkennen</a:t>
            </a:r>
            <a:endParaRPr dirty="0"/>
          </a:p>
          <a:p>
            <a:pPr marL="0" indent="0">
              <a:buNone/>
            </a:pPr>
            <a:r>
              <a:rPr dirty="0"/>
              <a:t>• Zum Ziel </a:t>
            </a:r>
            <a:r>
              <a:rPr dirty="0" err="1"/>
              <a:t>navigieren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Greifen</a:t>
            </a:r>
            <a:r>
              <a:rPr dirty="0"/>
              <a:t> (3-Finger)</a:t>
            </a:r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5645BF6E-FC37-1D4F-BB7D-A5FFFA0972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" r="2101"/>
          <a:stretch>
            <a:fillRect/>
          </a:stretch>
        </p:blipFill>
        <p:spPr>
          <a:xfrm>
            <a:off x="6899275" y="452438"/>
            <a:ext cx="5140325" cy="536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710a0d-a916-43a9-8a24-1cbe13199583">
      <Terms xmlns="http://schemas.microsoft.com/office/infopath/2007/PartnerControls"/>
    </lcf76f155ced4ddcb4097134ff3c332f>
    <TaxCatchAll xmlns="17e9a383-b1c7-4c94-a2a2-eacb0c3a46c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44D4F068579074781C47F30C60343D3" ma:contentTypeVersion="15" ma:contentTypeDescription="Ein neues Dokument erstellen." ma:contentTypeScope="" ma:versionID="888a2b6ad7ca9002ee54190ff8eed71e">
  <xsd:schema xmlns:xsd="http://www.w3.org/2001/XMLSchema" xmlns:xs="http://www.w3.org/2001/XMLSchema" xmlns:p="http://schemas.microsoft.com/office/2006/metadata/properties" xmlns:ns2="29710a0d-a916-43a9-8a24-1cbe13199583" xmlns:ns3="17e9a383-b1c7-4c94-a2a2-eacb0c3a46c7" targetNamespace="http://schemas.microsoft.com/office/2006/metadata/properties" ma:root="true" ma:fieldsID="15b51d936a95c51106e2d52ff8cf6082" ns2:_="" ns3:_="">
    <xsd:import namespace="29710a0d-a916-43a9-8a24-1cbe13199583"/>
    <xsd:import namespace="17e9a383-b1c7-4c94-a2a2-eacb0c3a46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10a0d-a916-43a9-8a24-1cbe131995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3d4ceb03-c040-4e28-8a80-56efb7fa7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9a383-b1c7-4c94-a2a2-eacb0c3a46c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b5da3b1-f5bd-4f20-88b3-76d75b082fc4}" ma:internalName="TaxCatchAll" ma:showField="CatchAllData" ma:web="17e9a383-b1c7-4c94-a2a2-eacb0c3a46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BSO999929 xmlns="http://www.datev.de/BSOffice/999929">306d5c34-c375-434d-a27d-82eb08a5504b</BSO999929>
</file>

<file path=customXml/itemProps1.xml><?xml version="1.0" encoding="utf-8"?>
<ds:datastoreItem xmlns:ds="http://schemas.openxmlformats.org/officeDocument/2006/customXml" ds:itemID="{02B0C713-5CE9-4B7C-8871-D96133782421}">
  <ds:schemaRefs>
    <ds:schemaRef ds:uri="17e9a383-b1c7-4c94-a2a2-eacb0c3a46c7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2006/metadata/properties"/>
    <ds:schemaRef ds:uri="29710a0d-a916-43a9-8a24-1cbe13199583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0B58AD19-4542-4EA1-9A80-5061D9B879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710a0d-a916-43a9-8a24-1cbe13199583"/>
    <ds:schemaRef ds:uri="17e9a383-b1c7-4c94-a2a2-eacb0c3a46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EBB26B-F637-4A62-898E-1192B7122FF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9F9F5DB5-DBA3-4B49-8C3F-2302D5BDAA47}">
  <ds:schemaRefs>
    <ds:schemaRef ds:uri="http://www.datev.de/BSOffice/99992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</Words>
  <Application>Microsoft Office PowerPoint</Application>
  <PresentationFormat>Breitbild</PresentationFormat>
  <Paragraphs>100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Roboto</vt:lpstr>
      <vt:lpstr>Office</vt:lpstr>
      <vt:lpstr>Humanoid Academy </vt:lpstr>
      <vt:lpstr>Zeitplan Tag 4</vt:lpstr>
      <vt:lpstr>Tagesziele(use cases)</vt:lpstr>
      <vt:lpstr>Systemüberblick G1 (Tag 1 Recap)</vt:lpstr>
      <vt:lpstr>Systemüberblick G1 (Tag 2) </vt:lpstr>
      <vt:lpstr>Systemüberblick G1 (3 Recap)</vt:lpstr>
      <vt:lpstr>VLA ??</vt:lpstr>
      <vt:lpstr>Vision-Language-Action (VLA)</vt:lpstr>
      <vt:lpstr>VLA Pipeline</vt:lpstr>
      <vt:lpstr>Wahrnehmung (Perception)</vt:lpstr>
      <vt:lpstr>Sprachverarbeitung</vt:lpstr>
      <vt:lpstr>Aktionsausführung</vt:lpstr>
      <vt:lpstr>Gesamtsystem Integration</vt:lpstr>
      <vt:lpstr>VLA mit Go2/G1</vt:lpstr>
      <vt:lpstr>Aufgabe – VLA</vt:lpstr>
      <vt:lpstr>Erweiterte Aufgabe</vt:lpstr>
      <vt:lpstr>Herausforderungen</vt:lpstr>
      <vt:lpstr>Lernergebnis</vt:lpstr>
      <vt:lpstr>Warum VLA?</vt:lpstr>
      <vt:lpstr>VLA Pipeline</vt:lpstr>
      <vt:lpstr>Regression Modelle</vt:lpstr>
      <vt:lpstr>Finale Aufgabe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Stefanie Prochnow</dc:creator>
  <cp:lastModifiedBy>Midhun Eldose</cp:lastModifiedBy>
  <cp:revision>351</cp:revision>
  <dcterms:created xsi:type="dcterms:W3CDTF">2025-02-10T19:27:37Z</dcterms:created>
  <dcterms:modified xsi:type="dcterms:W3CDTF">2026-04-24T18:22:58Z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0x010100844D4F068579074781C47F30C60343D3</vt:lpwstr>
  </property>
  <property fmtid="{D5CDD505-2E9C-101B-9397-08002B2CF9AE}" pid="3" name="MediaServiceImageTags">
    <vt:lpwstr/>
  </property>
</Properties>
</file>