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41"/>
  </p:notesMasterIdLst>
  <p:sldIdLst>
    <p:sldId id="317" r:id="rId6"/>
    <p:sldId id="260" r:id="rId7"/>
    <p:sldId id="261" r:id="rId8"/>
    <p:sldId id="346" r:id="rId9"/>
    <p:sldId id="348" r:id="rId10"/>
    <p:sldId id="257" r:id="rId11"/>
    <p:sldId id="347" r:id="rId12"/>
    <p:sldId id="349" r:id="rId13"/>
    <p:sldId id="320" r:id="rId14"/>
    <p:sldId id="323" r:id="rId15"/>
    <p:sldId id="322" r:id="rId16"/>
    <p:sldId id="326" r:id="rId17"/>
    <p:sldId id="327" r:id="rId18"/>
    <p:sldId id="329" r:id="rId19"/>
    <p:sldId id="330" r:id="rId20"/>
    <p:sldId id="332" r:id="rId21"/>
    <p:sldId id="334" r:id="rId22"/>
    <p:sldId id="335" r:id="rId23"/>
    <p:sldId id="336" r:id="rId24"/>
    <p:sldId id="337" r:id="rId25"/>
    <p:sldId id="338" r:id="rId26"/>
    <p:sldId id="341" r:id="rId27"/>
    <p:sldId id="342" r:id="rId28"/>
    <p:sldId id="339" r:id="rId29"/>
    <p:sldId id="340" r:id="rId30"/>
    <p:sldId id="343" r:id="rId31"/>
    <p:sldId id="350" r:id="rId32"/>
    <p:sldId id="344" r:id="rId33"/>
    <p:sldId id="345" r:id="rId34"/>
    <p:sldId id="333" r:id="rId35"/>
    <p:sldId id="328" r:id="rId36"/>
    <p:sldId id="351" r:id="rId37"/>
    <p:sldId id="352" r:id="rId38"/>
    <p:sldId id="353" r:id="rId39"/>
    <p:sldId id="354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1A62"/>
    <a:srgbClr val="FA1960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C3A75-BE62-43AC-A88E-C7934D042242}" v="1" dt="2026-04-24T16:00:14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-24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4-24T16:02:09.554" v="254" actId="729"/>
      <pc:docMkLst>
        <pc:docMk/>
      </pc:docMkLst>
      <pc:sldChg chg="modSp mod">
        <pc:chgData name="Midhun Eldose" userId="276e0ff496d1bc83" providerId="LiveId" clId="{EBE7DE87-C041-44F4-B6B2-379359185045}" dt="2026-04-16T09:02:26.313" v="166" actId="20577"/>
        <pc:sldMkLst>
          <pc:docMk/>
          <pc:sldMk cId="674145726" sldId="260"/>
        </pc:sldMkLst>
        <pc:graphicFrameChg chg="modGraphic">
          <ac:chgData name="Midhun Eldose" userId="276e0ff496d1bc83" providerId="LiveId" clId="{EBE7DE87-C041-44F4-B6B2-379359185045}" dt="2026-04-16T09:02:26.313" v="166" actId="20577"/>
          <ac:graphicFrameMkLst>
            <pc:docMk/>
            <pc:sldMk cId="674145726" sldId="260"/>
            <ac:graphicFrameMk id="9" creationId="{29479B6B-F538-0E70-8D94-4B61194632CB}"/>
          </ac:graphicFrameMkLst>
        </pc:graphicFrameChg>
      </pc:sldChg>
      <pc:sldChg chg="modSp mod">
        <pc:chgData name="Midhun Eldose" userId="276e0ff496d1bc83" providerId="LiveId" clId="{EBE7DE87-C041-44F4-B6B2-379359185045}" dt="2026-04-16T14:36:33.708" v="251" actId="255"/>
        <pc:sldMkLst>
          <pc:docMk/>
          <pc:sldMk cId="4261393044" sldId="317"/>
        </pc:sldMkLst>
        <pc:spChg chg="mod">
          <ac:chgData name="Midhun Eldose" userId="276e0ff496d1bc83" providerId="LiveId" clId="{EBE7DE87-C041-44F4-B6B2-379359185045}" dt="2026-04-16T14:36:33.708" v="251" actId="255"/>
          <ac:spMkLst>
            <pc:docMk/>
            <pc:sldMk cId="4261393044" sldId="317"/>
            <ac:spMk id="18" creationId="{837588D7-E7EA-6F6C-C2FD-082149DB6DDB}"/>
          </ac:spMkLst>
        </pc:spChg>
      </pc:sldChg>
      <pc:sldChg chg="addSp delSp modSp new mod modShow">
        <pc:chgData name="Midhun Eldose" userId="276e0ff496d1bc83" providerId="LiveId" clId="{EBE7DE87-C041-44F4-B6B2-379359185045}" dt="2026-04-24T16:02:09.554" v="254" actId="729"/>
        <pc:sldMkLst>
          <pc:docMk/>
          <pc:sldMk cId="2436327989" sldId="350"/>
        </pc:sldMkLst>
        <pc:spChg chg="del">
          <ac:chgData name="Midhun Eldose" userId="276e0ff496d1bc83" providerId="LiveId" clId="{EBE7DE87-C041-44F4-B6B2-379359185045}" dt="2026-04-24T16:00:02.373" v="252" actId="478"/>
          <ac:spMkLst>
            <pc:docMk/>
            <pc:sldMk cId="2436327989" sldId="350"/>
            <ac:spMk id="2" creationId="{8804F1E0-81C9-24CF-F6FD-C068129E11DF}"/>
          </ac:spMkLst>
        </pc:spChg>
        <pc:spChg chg="mod">
          <ac:chgData name="Midhun Eldose" userId="276e0ff496d1bc83" providerId="LiveId" clId="{EBE7DE87-C041-44F4-B6B2-379359185045}" dt="2026-04-16T11:15:32.160" v="250" actId="20577"/>
          <ac:spMkLst>
            <pc:docMk/>
            <pc:sldMk cId="2436327989" sldId="350"/>
            <ac:spMk id="3" creationId="{949F0E86-56D9-27F5-170C-3E71FED87BC9}"/>
          </ac:spMkLst>
        </pc:spChg>
        <pc:spChg chg="del">
          <ac:chgData name="Midhun Eldose" userId="276e0ff496d1bc83" providerId="LiveId" clId="{EBE7DE87-C041-44F4-B6B2-379359185045}" dt="2026-04-24T16:00:14.810" v="253"/>
          <ac:spMkLst>
            <pc:docMk/>
            <pc:sldMk cId="2436327989" sldId="350"/>
            <ac:spMk id="4" creationId="{B426AD65-44B8-B9BC-2602-02030C49B03C}"/>
          </ac:spMkLst>
        </pc:spChg>
        <pc:picChg chg="add mod">
          <ac:chgData name="Midhun Eldose" userId="276e0ff496d1bc83" providerId="LiveId" clId="{EBE7DE87-C041-44F4-B6B2-379359185045}" dt="2026-04-24T16:00:14.810" v="253"/>
          <ac:picMkLst>
            <pc:docMk/>
            <pc:sldMk cId="2436327989" sldId="350"/>
            <ac:picMk id="5" creationId="{F123B56E-9018-1870-F9E1-20F604D329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732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5CF7-4FB6-80D9-A2AF-BFA6F8FC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F7550-0791-4078-6256-93007A9FB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6C9EB-3700-9CFB-2590-EEE522534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5875-5E99-04E8-9617-332796AF9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63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hyperlink" Target="https://github.com/EF-Robotics-Humanoid-Academy/ef_ws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unitree.com/home/en/G1_developer/quick_start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6292-771A-4A1E-6876-8709E6AE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21">
            <a:extLst>
              <a:ext uri="{FF2B5EF4-FFF2-40B4-BE49-F238E27FC236}">
                <a16:creationId xmlns:a16="http://schemas.microsoft.com/office/drawing/2014/main" id="{837588D7-E7EA-6F6C-C2FD-082149DB6DDB}"/>
              </a:ext>
            </a:extLst>
          </p:cNvPr>
          <p:cNvSpPr txBox="1"/>
          <p:nvPr/>
        </p:nvSpPr>
        <p:spPr>
          <a:xfrm>
            <a:off x="69669" y="1235167"/>
            <a:ext cx="652839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70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Humanoid</a:t>
            </a:r>
          </a:p>
          <a:p>
            <a:pPr algn="ctr"/>
            <a:r>
              <a:rPr lang="de-DE" sz="72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Academy</a:t>
            </a:r>
            <a:endParaRPr lang="de-DE" sz="7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38A959C-19B3-D920-FE06-C273AA3D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74080"/>
            <a:ext cx="5562987" cy="87806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40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1: Einführung und Entwicklungsumgebung​</a:t>
            </a:r>
            <a:endParaRPr lang="de-DE" sz="4000" dirty="0">
              <a:solidFill>
                <a:srgbClr val="FB1A62"/>
              </a:solidFill>
            </a:endParaRP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CD66A275-8B7A-F5FD-337A-D36CC561A4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30015" y="461752"/>
            <a:ext cx="5684201" cy="593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649-6D90-14F4-1574-8C178833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62ECC-7F5A-B2EA-B3AB-BB43112A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981"/>
            <a:ext cx="6688183" cy="87806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4000" dirty="0">
                <a:latin typeface="Roboto"/>
                <a:ea typeface="Roboto"/>
                <a:cs typeface="Roboto"/>
              </a:rPr>
              <a:t>Zeitplan</a:t>
            </a:r>
            <a:br>
              <a:rPr lang="de-DE" sz="4000" dirty="0">
                <a:latin typeface="Roboto"/>
                <a:ea typeface="Roboto"/>
                <a:cs typeface="Roboto"/>
              </a:rPr>
            </a:br>
            <a:r>
              <a:rPr lang="de-DE" sz="40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1</a:t>
            </a:r>
            <a:endParaRPr lang="de-DE" sz="4000" dirty="0">
              <a:solidFill>
                <a:srgbClr val="FB1A6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9479B6B-F538-0E70-8D94-4B6119463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554199"/>
              </p:ext>
            </p:extLst>
          </p:nvPr>
        </p:nvGraphicFramePr>
        <p:xfrm>
          <a:off x="562791" y="1872342"/>
          <a:ext cx="55626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677736132"/>
                    </a:ext>
                  </a:extLst>
                </a:gridCol>
              </a:tblGrid>
              <a:tr h="347119">
                <a:tc>
                  <a:txBody>
                    <a:bodyPr/>
                    <a:lstStyle/>
                    <a:p>
                      <a:pPr algn="ctr"/>
                      <a:r>
                        <a:rPr lang="de-DE" sz="2000" b="0" i="0" u="none" strike="noStrike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 27.04.2026</a:t>
                      </a:r>
                      <a:r>
                        <a:rPr lang="de-DE" sz="2000" b="0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30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09.30 Doors open Registrierung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59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10:00 – 11:30 Schulungsblock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52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11:30 – 11:45 Pause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11:45 – 12:30 Schulungsblock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1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12:30 – 13:30 Mittagessen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46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13:30 – 15:15 Schulungsblock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15:15 – 15:45 Pause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832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15:45 – 17:00 Schulungsblock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4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de-DE" sz="2000" b="0" i="0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/>
                        <a:ea typeface="Roboto"/>
                        <a:cs typeface="Robo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294279"/>
                  </a:ext>
                </a:extLst>
              </a:tr>
            </a:tbl>
          </a:graphicData>
        </a:graphic>
      </p:graphicFrame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556332C-0495-D477-E5D9-622A046E44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514011" y="504981"/>
            <a:ext cx="5813456" cy="594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CEC7-088C-FA66-F5F7-57FAF217A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204E4-BED6-8E00-09C9-277678CB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Tagesziele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83429-2AD8-5708-108E-9EA785AF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Überblick G1 Base/EDU</a:t>
            </a:r>
          </a:p>
          <a:p>
            <a:r>
              <a:rPr lang="de-DE" dirty="0" err="1"/>
              <a:t>Safety</a:t>
            </a:r>
            <a:endParaRPr lang="de-DE" dirty="0"/>
          </a:p>
          <a:p>
            <a:r>
              <a:rPr lang="de-DE" dirty="0"/>
              <a:t>Remote Steuerung</a:t>
            </a:r>
          </a:p>
          <a:p>
            <a:r>
              <a:rPr lang="de-DE" dirty="0">
                <a:latin typeface="Roboto"/>
                <a:ea typeface="Roboto"/>
                <a:cs typeface="Roboto"/>
              </a:rPr>
              <a:t>G1 Programmierung</a:t>
            </a:r>
          </a:p>
          <a:p>
            <a:r>
              <a:rPr lang="de-DE" dirty="0">
                <a:latin typeface="Roboto"/>
                <a:ea typeface="Roboto"/>
                <a:cs typeface="Roboto"/>
              </a:rPr>
              <a:t>Verbindungsmethoden</a:t>
            </a:r>
          </a:p>
          <a:p>
            <a:r>
              <a:rPr lang="de-DE" dirty="0"/>
              <a:t>Entwicklungsumgebung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4C48BF-9B87-C31F-FE76-9F18335111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D00DB-2408-841B-79CC-8893BB00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EF Robotics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156F73-AF45-1B0C-3F6F-7E75D6E7F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Integrator</a:t>
            </a:r>
          </a:p>
          <a:p>
            <a:r>
              <a:rPr lang="de-DE" dirty="0"/>
              <a:t>Distributor AMR, Reinigungsroboter, Humanoide</a:t>
            </a:r>
          </a:p>
          <a:p>
            <a:r>
              <a:rPr lang="de-DE" dirty="0"/>
              <a:t>Über 450 Roboter Installationen</a:t>
            </a:r>
          </a:p>
          <a:p>
            <a:r>
              <a:rPr lang="de-DE" dirty="0"/>
              <a:t>Eigenes Servicetechnikernetz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028" name="Picture 4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9056B601-AD47-F55D-3DE0-3E9C87BB8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449" y="5361175"/>
            <a:ext cx="1517374" cy="30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fik 13" descr="Ein Bild, das Schrift, Kreis, Grafiken, Logo enthält.&#10;&#10;KI-generierte Inhalte können fehlerhaft sein.">
            <a:extLst>
              <a:ext uri="{FF2B5EF4-FFF2-40B4-BE49-F238E27FC236}">
                <a16:creationId xmlns:a16="http://schemas.microsoft.com/office/drawing/2014/main" id="{D14C38B1-B3A5-D3B1-AFE3-2FD151418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5153762"/>
            <a:ext cx="1282768" cy="753024"/>
          </a:xfrm>
          <a:prstGeom prst="rect">
            <a:avLst/>
          </a:prstGeom>
        </p:spPr>
      </p:pic>
      <p:pic>
        <p:nvPicPr>
          <p:cNvPr id="18" name="Grafik 17" descr="Ein Bild, das Schrift, Grafiken, Logo, Design enthält.&#10;&#10;KI-generierte Inhalte können fehlerhaft sein.">
            <a:extLst>
              <a:ext uri="{FF2B5EF4-FFF2-40B4-BE49-F238E27FC236}">
                <a16:creationId xmlns:a16="http://schemas.microsoft.com/office/drawing/2014/main" id="{52337D25-92F4-7624-5815-FB677DCFC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4272803"/>
            <a:ext cx="1928192" cy="771277"/>
          </a:xfrm>
          <a:prstGeom prst="rect">
            <a:avLst/>
          </a:prstGeom>
        </p:spPr>
      </p:pic>
      <p:pic>
        <p:nvPicPr>
          <p:cNvPr id="20" name="Grafik 19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F2E24CD0-227C-7824-3079-408C1903D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6009604"/>
            <a:ext cx="1816169" cy="792900"/>
          </a:xfrm>
          <a:prstGeom prst="rect">
            <a:avLst/>
          </a:prstGeom>
        </p:spPr>
      </p:pic>
      <p:pic>
        <p:nvPicPr>
          <p:cNvPr id="22" name="Grafik 21" descr="Ein Bild, das Schrift, Logo, Grafiken, Text enthält.&#10;&#10;KI-generierte Inhalte können fehlerhaft sein.">
            <a:extLst>
              <a:ext uri="{FF2B5EF4-FFF2-40B4-BE49-F238E27FC236}">
                <a16:creationId xmlns:a16="http://schemas.microsoft.com/office/drawing/2014/main" id="{D95222BE-E60F-526F-4521-0A06A59DC2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821" y="6009604"/>
            <a:ext cx="2272618" cy="771277"/>
          </a:xfrm>
          <a:prstGeom prst="rect">
            <a:avLst/>
          </a:prstGeom>
        </p:spPr>
      </p:pic>
      <p:pic>
        <p:nvPicPr>
          <p:cNvPr id="1032" name="Picture 8" descr="A yellow and blue logo&#10;&#10;AI-generated content may be incorrect.">
            <a:extLst>
              <a:ext uri="{FF2B5EF4-FFF2-40B4-BE49-F238E27FC236}">
                <a16:creationId xmlns:a16="http://schemas.microsoft.com/office/drawing/2014/main" id="{443024E8-0051-3EA3-62A1-45D964E91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17" y="6009603"/>
            <a:ext cx="1439860" cy="80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A red and black logo&#10;&#10;AI-generated content may be incorrect.">
            <a:extLst>
              <a:ext uri="{FF2B5EF4-FFF2-40B4-BE49-F238E27FC236}">
                <a16:creationId xmlns:a16="http://schemas.microsoft.com/office/drawing/2014/main" id="{0D94FE0B-10B6-910F-C8A7-DCBF3035B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437" y="4352087"/>
            <a:ext cx="1394012" cy="61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 red and white logo&#10;&#10;AI-generated content may be incorrect.">
            <a:extLst>
              <a:ext uri="{FF2B5EF4-FFF2-40B4-BE49-F238E27FC236}">
                <a16:creationId xmlns:a16="http://schemas.microsoft.com/office/drawing/2014/main" id="{869402DC-F2AD-803F-4F1A-D34944335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195" y="5212425"/>
            <a:ext cx="1742421" cy="60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A logo with a deer head and a cross&#10;&#10;AI-generated content may be incorrect.">
            <a:extLst>
              <a:ext uri="{FF2B5EF4-FFF2-40B4-BE49-F238E27FC236}">
                <a16:creationId xmlns:a16="http://schemas.microsoft.com/office/drawing/2014/main" id="{5DA0EA04-5B2B-7CBB-C7C5-C3EBF180F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342" y="4272803"/>
            <a:ext cx="1928193" cy="10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A blue and grey machine&#10;&#10;AI-generated content may be incorrect.">
            <a:extLst>
              <a:ext uri="{FF2B5EF4-FFF2-40B4-BE49-F238E27FC236}">
                <a16:creationId xmlns:a16="http://schemas.microsoft.com/office/drawing/2014/main" id="{414C7242-3C42-12EA-89BE-D80E50492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00504" y="1063321"/>
            <a:ext cx="4388304" cy="509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A white machine with a screen&#10;&#10;AI-generated content may be incorrect.">
            <a:extLst>
              <a:ext uri="{FF2B5EF4-FFF2-40B4-BE49-F238E27FC236}">
                <a16:creationId xmlns:a16="http://schemas.microsoft.com/office/drawing/2014/main" id="{9D6482CB-74C7-5042-F0BE-EC64BFA7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32" y="-49750"/>
            <a:ext cx="3130405" cy="315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A black and grey scrubber machine&#10;&#10;AI-generated content may be incorrect.">
            <a:extLst>
              <a:ext uri="{FF2B5EF4-FFF2-40B4-BE49-F238E27FC236}">
                <a16:creationId xmlns:a16="http://schemas.microsoft.com/office/drawing/2014/main" id="{1411F2C4-B460-54E6-B85B-2B98460D5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535" y="2633686"/>
            <a:ext cx="2281999" cy="272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10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B00DAF-DA2B-533C-936E-65D0189A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Humanoide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D46953-1787-078F-4208-ECF5B4220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Universell einsetzbar</a:t>
            </a:r>
          </a:p>
          <a:p>
            <a:r>
              <a:rPr lang="de-DE" dirty="0"/>
              <a:t>Skalierbar</a:t>
            </a:r>
          </a:p>
          <a:p>
            <a:r>
              <a:rPr lang="de-DE" dirty="0"/>
              <a:t>EDU vs. Echteinsatz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1026" name="Picture 2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C94FA6B-A85D-45C0-5ACE-83F086FFC1D5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8" t="-663" r="25820" b="31650"/>
          <a:stretch>
            <a:fillRect/>
          </a:stretch>
        </p:blipFill>
        <p:spPr bwMode="auto">
          <a:xfrm>
            <a:off x="7254240" y="1534511"/>
            <a:ext cx="4836160" cy="370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94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3B9859-74F0-5D8F-94AC-7E9E71C67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6632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​</a:t>
            </a:r>
          </a:p>
        </p:txBody>
      </p:sp>
      <p:pic>
        <p:nvPicPr>
          <p:cNvPr id="1030" name="Picture 6" descr="G1 overview run">
            <a:extLst>
              <a:ext uri="{FF2B5EF4-FFF2-40B4-BE49-F238E27FC236}">
                <a16:creationId xmlns:a16="http://schemas.microsoft.com/office/drawing/2014/main" id="{4311B8FB-715D-5311-8BAE-D3A0CEE79A5E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8" r="9858"/>
          <a:stretch>
            <a:fillRect/>
          </a:stretch>
        </p:blipFill>
        <p:spPr bwMode="auto">
          <a:xfrm>
            <a:off x="6663267" y="372533"/>
            <a:ext cx="5698066" cy="579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9C8A7C-99DA-84C6-4697-B4C065D40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414850"/>
              </p:ext>
            </p:extLst>
          </p:nvPr>
        </p:nvGraphicFramePr>
        <p:xfrm>
          <a:off x="482600" y="2831625"/>
          <a:ext cx="5698066" cy="26933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53266">
                  <a:extLst>
                    <a:ext uri="{9D8B030D-6E8A-4147-A177-3AD203B41FA5}">
                      <a16:colId xmlns:a16="http://schemas.microsoft.com/office/drawing/2014/main" val="666248267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918464403"/>
                    </a:ext>
                  </a:extLst>
                </a:gridCol>
              </a:tblGrid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Gewicht​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35 kg​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217889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Größe​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1270 mm​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936219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Anzahl Freiheitsgrade​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Up to 43​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058205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Maximaler Gelenk-Drehmoment​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120 N.m​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9887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AFFAED-63E4-B59C-D818-7DF69EABD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98037"/>
              </p:ext>
            </p:extLst>
          </p:nvPr>
        </p:nvGraphicFramePr>
        <p:xfrm>
          <a:off x="482600" y="2404905"/>
          <a:ext cx="569806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8066">
                  <a:extLst>
                    <a:ext uri="{9D8B030D-6E8A-4147-A177-3AD203B41FA5}">
                      <a16:colId xmlns:a16="http://schemas.microsoft.com/office/drawing/2014/main" val="467656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Allgemein</a:t>
                      </a:r>
                      <a:endParaRPr lang="en-GB" sz="20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226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81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98BC86-2875-D3F1-79BF-BF5F7F54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Safety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87D26D-B078-5A17-343A-44AE819D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Sicherheitszonen</a:t>
            </a:r>
          </a:p>
          <a:p>
            <a:r>
              <a:rPr lang="de-DE" dirty="0"/>
              <a:t>Not-Aus (</a:t>
            </a:r>
            <a:r>
              <a:rPr lang="de-DE" dirty="0" err="1"/>
              <a:t>Damping</a:t>
            </a:r>
            <a:r>
              <a:rPr lang="de-DE" dirty="0"/>
              <a:t>)</a:t>
            </a:r>
          </a:p>
          <a:p>
            <a:r>
              <a:rPr lang="de-DE" dirty="0"/>
              <a:t>Laborbetrieb / CE</a:t>
            </a:r>
          </a:p>
          <a:p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33E8913-9FC9-99A7-5444-A5F81B1E28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746CD53-DC8F-FB64-3508-999F9B825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691" y="659232"/>
            <a:ext cx="3752109" cy="4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9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B5AC4-74F4-DC49-95C6-F1B36DF83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Remote Steuerung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0892EA-94C6-4E1F-030C-6B96A36B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Bluetooth Verbindung</a:t>
            </a:r>
          </a:p>
          <a:p>
            <a:r>
              <a:rPr lang="de-DE" dirty="0"/>
              <a:t>AP Mode</a:t>
            </a:r>
          </a:p>
          <a:p>
            <a:r>
              <a:rPr lang="de-DE" dirty="0"/>
              <a:t>Wifi Mode</a:t>
            </a:r>
          </a:p>
          <a:p>
            <a:endParaRPr lang="de-DE" dirty="0"/>
          </a:p>
        </p:txBody>
      </p:sp>
      <p:pic>
        <p:nvPicPr>
          <p:cNvPr id="6" name="Bildplatzhalter 5" descr="Ein Bild, das Elektronik, Elektronisches Gerät, Gerät, Gamecontroller enthält.&#10;&#10;KI-generierte Inhalte können fehlerhaft sein.">
            <a:extLst>
              <a:ext uri="{FF2B5EF4-FFF2-40B4-BE49-F238E27FC236}">
                <a16:creationId xmlns:a16="http://schemas.microsoft.com/office/drawing/2014/main" id="{276BE19A-1D8F-69D3-4F7D-A3458E18CB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972" r="92083">
                        <a14:foregroundMark x1="10278" y1="49722" x2="10278" y2="49722"/>
                        <a14:foregroundMark x1="6111" y1="54583" x2="6111" y2="54583"/>
                        <a14:foregroundMark x1="92083" y1="43750" x2="92083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21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1C39A2-97E5-ED5B-6510-08EFE80D7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446001" cy="6858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F332CB-F83B-4F02-FD47-857DD2705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2413"/>
            <a:ext cx="10363200" cy="501757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321B068-31A7-5712-5E36-BD5B8C4D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4831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5050892-B774-21B0-9902-34DEA01B5535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>
                <a:solidFill>
                  <a:srgbClr val="FB1A62"/>
                </a:solidFill>
              </a:rPr>
              <a:t>Motoren</a:t>
            </a:r>
          </a:p>
        </p:txBody>
      </p:sp>
    </p:spTree>
    <p:extLst>
      <p:ext uri="{BB962C8B-B14F-4D97-AF65-F5344CB8AC3E}">
        <p14:creationId xmlns:p14="http://schemas.microsoft.com/office/powerpoint/2010/main" val="100278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3FB92-9EBB-4BC6-85F2-09984017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743A07-4549-3296-2618-AE8F4B312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1" y="-87087"/>
            <a:ext cx="12719595" cy="708877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32538C1C-4FCB-37B4-7D35-D936894F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3084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684990-3F60-04A0-B273-22F2DE958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165" y="1624397"/>
            <a:ext cx="7335167" cy="5047336"/>
          </a:xfrm>
          <a:prstGeom prst="rect">
            <a:avLst/>
          </a:prstGeom>
        </p:spPr>
      </p:pic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93BAFB9-39B7-4E75-A339-852DC71B4F24}"/>
              </a:ext>
            </a:extLst>
          </p:cNvPr>
          <p:cNvSpPr txBox="1">
            <a:spLocks/>
          </p:cNvSpPr>
          <p:nvPr/>
        </p:nvSpPr>
        <p:spPr>
          <a:xfrm>
            <a:off x="143798" y="1624397"/>
            <a:ext cx="394969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cs typeface="Roboto" panose="02000000000000000000" pitchFamily="2" charset="0"/>
              </a:rPr>
              <a:t>Sensoren</a:t>
            </a:r>
          </a:p>
          <a:p>
            <a:r>
              <a:rPr lang="de-DE" dirty="0">
                <a:cs typeface="Roboto" panose="02000000000000000000" pitchFamily="2" charset="0"/>
              </a:rPr>
              <a:t>3D Lidar (Livox)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r>
              <a:rPr lang="de-DE" dirty="0">
                <a:cs typeface="Roboto" panose="02000000000000000000" pitchFamily="2" charset="0"/>
              </a:rPr>
              <a:t>RGB-D Kamera (Realsense)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r>
              <a:rPr lang="en-GB" dirty="0">
                <a:cs typeface="Roboto" panose="02000000000000000000" pitchFamily="2" charset="0"/>
              </a:rPr>
              <a:t>IMU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8B5248-2ACE-A12F-88BC-A0D32739D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4679899"/>
            <a:ext cx="3992880" cy="128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83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9EC6A9B-807D-F94D-6684-04703F717D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680201" y="451945"/>
            <a:ext cx="5782470" cy="5694855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074AD441-6D49-23BA-49BB-78B22A3E7E52}"/>
              </a:ext>
            </a:extLst>
          </p:cNvPr>
          <p:cNvSpPr txBox="1">
            <a:spLocks/>
          </p:cNvSpPr>
          <p:nvPr/>
        </p:nvSpPr>
        <p:spPr>
          <a:xfrm>
            <a:off x="-4236" y="465502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B63C4F-0CBA-B930-AABB-675D7838C84C}"/>
              </a:ext>
            </a:extLst>
          </p:cNvPr>
          <p:cNvSpPr txBox="1">
            <a:spLocks/>
          </p:cNvSpPr>
          <p:nvPr/>
        </p:nvSpPr>
        <p:spPr>
          <a:xfrm>
            <a:off x="0" y="1184058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>
                <a:solidFill>
                  <a:srgbClr val="FB1A62"/>
                </a:solidFill>
              </a:rPr>
              <a:t>Hardware &amp; Software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59E376-5C83-3E2B-CF25-C0CFEC9E71B9}"/>
              </a:ext>
            </a:extLst>
          </p:cNvPr>
          <p:cNvSpPr/>
          <p:nvPr/>
        </p:nvSpPr>
        <p:spPr>
          <a:xfrm>
            <a:off x="355600" y="2224348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PC1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Hauptplatine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CF6BA-77BD-756C-8A5E-0A69726E0094}"/>
              </a:ext>
            </a:extLst>
          </p:cNvPr>
          <p:cNvSpPr/>
          <p:nvPr/>
        </p:nvSpPr>
        <p:spPr>
          <a:xfrm>
            <a:off x="4229099" y="2224348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Unitree Explore App​</a:t>
            </a:r>
            <a:endParaRPr lang="en-GB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52503-C751-9F30-294E-C44B83A58AD5}"/>
              </a:ext>
            </a:extLst>
          </p:cNvPr>
          <p:cNvSpPr/>
          <p:nvPr/>
        </p:nvSpPr>
        <p:spPr>
          <a:xfrm>
            <a:off x="355600" y="4470647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PC2 (NVIDIA)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ROS2 Umgebung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EDFD82-FA55-05FD-79A8-E0D3F11B4274}"/>
              </a:ext>
            </a:extLst>
          </p:cNvPr>
          <p:cNvSpPr/>
          <p:nvPr/>
        </p:nvSpPr>
        <p:spPr>
          <a:xfrm>
            <a:off x="4229099" y="4470647"/>
            <a:ext cx="2116667" cy="10437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Externe Entwicklungeinheit (Raspi-Minilab)​</a:t>
            </a:r>
            <a:endParaRPr lang="en-GB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BF55F5-6F91-CF61-A53A-9EDBE967D541}"/>
              </a:ext>
            </a:extLst>
          </p:cNvPr>
          <p:cNvCxnSpPr>
            <a:cxnSpLocks/>
          </p:cNvCxnSpPr>
          <p:nvPr/>
        </p:nvCxnSpPr>
        <p:spPr>
          <a:xfrm>
            <a:off x="1413933" y="3299372"/>
            <a:ext cx="0" cy="10948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FCC804-22D3-A6DF-A141-0620BC0C7970}"/>
              </a:ext>
            </a:extLst>
          </p:cNvPr>
          <p:cNvCxnSpPr>
            <a:cxnSpLocks/>
          </p:cNvCxnSpPr>
          <p:nvPr/>
        </p:nvCxnSpPr>
        <p:spPr>
          <a:xfrm>
            <a:off x="2531531" y="5023656"/>
            <a:ext cx="16086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F169BA-F0CF-3DC0-77EA-B29464A978B4}"/>
              </a:ext>
            </a:extLst>
          </p:cNvPr>
          <p:cNvCxnSpPr>
            <a:cxnSpLocks/>
          </p:cNvCxnSpPr>
          <p:nvPr/>
        </p:nvCxnSpPr>
        <p:spPr>
          <a:xfrm>
            <a:off x="2531531" y="2732229"/>
            <a:ext cx="16086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07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AC979D-FC78-FD23-236F-A83FC96A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C8D01-E268-C136-E6FD-02E7DDC7F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" y="2089996"/>
            <a:ext cx="11132820" cy="371094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A7BE3F9-18AC-65DF-1672-C6354D84DD65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ROS2 – High Level vs Low Level </a:t>
            </a:r>
            <a:r>
              <a:rPr lang="en-GB" sz="3000" dirty="0" err="1">
                <a:solidFill>
                  <a:srgbClr val="FB1A62"/>
                </a:solidFill>
              </a:rPr>
              <a:t>Programmierung</a:t>
            </a:r>
            <a:r>
              <a:rPr lang="en-GB" sz="3000" dirty="0">
                <a:solidFill>
                  <a:srgbClr val="FB1A62"/>
                </a:solidFill>
              </a:rPr>
              <a:t>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0977A7-0379-3069-6095-D2F398EF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33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</p:spTree>
    <p:extLst>
      <p:ext uri="{BB962C8B-B14F-4D97-AF65-F5344CB8AC3E}">
        <p14:creationId xmlns:p14="http://schemas.microsoft.com/office/powerpoint/2010/main" val="1436882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AF20-5A08-E42A-1758-329B6B39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DE8FF6-0B50-C834-668B-7495FDA1D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5272F96-F444-8AB5-B8C8-5D5C9B4A169E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SDK Overview​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4C86FF8F-12F6-4DE5-5B73-45D6CC8A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47C890-A3FF-FA1B-0B0C-0A47B97C7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680" y="2157632"/>
            <a:ext cx="7406640" cy="37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56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3970-F288-2AA8-EDD5-A71ACD28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BD0C0E-11CB-5E9C-4620-EA7FC1D97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0B795A57-DED5-A939-E6C8-E92A4C631716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FSM Codes​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B80B3C0F-47B7-5DD5-5B28-76EC4134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0711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CB9985-4B31-E416-CB0E-600240CD6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485149"/>
              </p:ext>
            </p:extLst>
          </p:nvPr>
        </p:nvGraphicFramePr>
        <p:xfrm>
          <a:off x="1367367" y="2083046"/>
          <a:ext cx="9457265" cy="4182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942">
                  <a:extLst>
                    <a:ext uri="{9D8B030D-6E8A-4147-A177-3AD203B41FA5}">
                      <a16:colId xmlns:a16="http://schemas.microsoft.com/office/drawing/2014/main" val="3240308913"/>
                    </a:ext>
                  </a:extLst>
                </a:gridCol>
                <a:gridCol w="2617408">
                  <a:extLst>
                    <a:ext uri="{9D8B030D-6E8A-4147-A177-3AD203B41FA5}">
                      <a16:colId xmlns:a16="http://schemas.microsoft.com/office/drawing/2014/main" val="287255073"/>
                    </a:ext>
                  </a:extLst>
                </a:gridCol>
                <a:gridCol w="5775915">
                  <a:extLst>
                    <a:ext uri="{9D8B030D-6E8A-4147-A177-3AD203B41FA5}">
                      <a16:colId xmlns:a16="http://schemas.microsoft.com/office/drawing/2014/main" val="3590799967"/>
                    </a:ext>
                  </a:extLst>
                </a:gridCol>
              </a:tblGrid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ID</a:t>
                      </a: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Name / Action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Typical use​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81788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Zero-Torque​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Motors off – safe to handle legs.​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51761"/>
                  </a:ext>
                </a:extLst>
              </a:tr>
              <a:tr h="444709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Damp​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Viscous damping only (soft) – default power-on.​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972343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Squat​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Static low squat.​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933976"/>
                  </a:ext>
                </a:extLst>
              </a:tr>
              <a:tr h="4412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Dog-sit posture.​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926571"/>
                  </a:ext>
                </a:extLst>
              </a:tr>
              <a:tr h="45494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Stand-up​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Firmware-defined stand, good after Damp.​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820124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Start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Balance controller &amp; gait planner.​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683816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Lie-to-Stand​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Get up from lying on the back.​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856381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Squat-to-Stand-up​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Smooth rise from deep squat.​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657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43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A921-20E5-5640-950C-2C8496F2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4764F55-40F7-B817-0A53-004F4A83A05F}"/>
              </a:ext>
            </a:extLst>
          </p:cNvPr>
          <p:cNvSpPr txBox="1">
            <a:spLocks/>
          </p:cNvSpPr>
          <p:nvPr/>
        </p:nvSpPr>
        <p:spPr>
          <a:xfrm>
            <a:off x="0" y="451943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Verbindungsmethoden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FA79A-AD49-15E2-6ED9-41BF41802C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828FA81-4019-889E-5192-97104D9AC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1" y="451944"/>
            <a:ext cx="5511799" cy="536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C4F86BF-875E-238E-5BF0-B97E35CEAA07}"/>
              </a:ext>
            </a:extLst>
          </p:cNvPr>
          <p:cNvSpPr txBox="1">
            <a:spLocks/>
          </p:cNvSpPr>
          <p:nvPr/>
        </p:nvSpPr>
        <p:spPr>
          <a:xfrm>
            <a:off x="143798" y="183606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Ethernet / AP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IP Konfiguration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en-US" dirty="0">
                <a:cs typeface="Roboto" panose="02000000000000000000" pitchFamily="2" charset="0"/>
              </a:rPr>
              <a:t>Bei </a:t>
            </a:r>
            <a:r>
              <a:rPr lang="de-DE" dirty="0">
                <a:cs typeface="Roboto" panose="02000000000000000000" pitchFamily="2" charset="0"/>
              </a:rPr>
              <a:t>IPv4 Einstellungen für die Schnittstelle, manuelles DHCP wählen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Addresse 192.168.123.222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Mask 255.255.255.0</a:t>
            </a:r>
          </a:p>
        </p:txBody>
      </p:sp>
    </p:spTree>
    <p:extLst>
      <p:ext uri="{BB962C8B-B14F-4D97-AF65-F5344CB8AC3E}">
        <p14:creationId xmlns:p14="http://schemas.microsoft.com/office/powerpoint/2010/main" val="250293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97A9-27EF-F551-8631-BC88D467B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1BCA25-6F30-7B60-CF4E-4DEF49CF8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D65DCAB2-3735-B619-820E-6F8C26E3548F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Interface name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36D06E15-9392-1D7F-B682-5916FC01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Verbindungsmethoden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A35B765-E370-CE38-44A5-BE5070C4F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2" y="1805573"/>
            <a:ext cx="6647922" cy="46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25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4CAD9-0124-0881-D449-8138EE54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DCB33CEC-1D4F-AB2B-59FE-A177006D331B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Entwicklungsumgebung</a:t>
            </a:r>
          </a:p>
          <a:p>
            <a:pPr algn="ctr"/>
            <a:r>
              <a:rPr lang="de-DE" sz="3600" dirty="0">
                <a:solidFill>
                  <a:srgbClr val="FB1A62"/>
                </a:solidFill>
              </a:rPr>
              <a:t>Linux</a:t>
            </a:r>
            <a:r>
              <a:rPr lang="de-DE" sz="3600" dirty="0"/>
              <a:t>​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D1D4A-1015-941B-7CA1-5532E942ED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F1933E7-E0A2-4FEB-43AD-7FFA520976E0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Raspi Minilab: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Saubere Entwicklungsumgebung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          </a:t>
            </a:r>
            <a:r>
              <a:rPr lang="de-DE" dirty="0"/>
              <a:t>Remote Desktop Zugriff</a:t>
            </a:r>
          </a:p>
          <a:p>
            <a:pPr marL="0" indent="0" fontAlgn="base">
              <a:buNone/>
            </a:pPr>
            <a:r>
              <a:rPr lang="de-DE" dirty="0"/>
              <a:t>	IP: 10.34.0.118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Datei Dropbox</a:t>
            </a:r>
            <a:r>
              <a:rPr lang="en-US" dirty="0"/>
              <a:t>​</a:t>
            </a:r>
          </a:p>
          <a:p>
            <a:pPr fontAlgn="base"/>
            <a:r>
              <a:rPr lang="de-DE" dirty="0"/>
              <a:t>Alternative: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Native Installation / Dual boot​</a:t>
            </a:r>
          </a:p>
          <a:p>
            <a:pPr marL="0" indent="0" fontAlgn="base">
              <a:buNone/>
            </a:pPr>
            <a:r>
              <a:rPr lang="de-DE" dirty="0"/>
              <a:t>         Virtuelle Maschine</a:t>
            </a:r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F4FFE777-0334-153A-58E6-C316C077A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152" y="532695"/>
            <a:ext cx="4362979" cy="528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794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A465-49D3-A6B9-DA23-E9011D85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14C5B43D-9E83-4767-33C4-A3532C5758F7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Entwicklungsumgebung</a:t>
            </a:r>
          </a:p>
          <a:p>
            <a:pPr algn="ctr"/>
            <a:r>
              <a:rPr lang="de-DE" sz="3600" dirty="0">
                <a:solidFill>
                  <a:srgbClr val="FB1A62"/>
                </a:solidFill>
              </a:rPr>
              <a:t>Linux</a:t>
            </a:r>
            <a:r>
              <a:rPr lang="de-DE" sz="3600" dirty="0"/>
              <a:t>​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9856CBF-883C-3F0D-F1E2-7A75EAC29E7E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Raspi Minilab: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Saubere Entwicklungsumgebung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          </a:t>
            </a:r>
            <a:r>
              <a:rPr lang="de-DE" dirty="0"/>
              <a:t>Remote Desktop Zugriff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/>
              <a:t>	IP</a:t>
            </a:r>
            <a:r>
              <a:rPr lang="de-DE" dirty="0"/>
              <a:t>: 10.34.0.118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Datei Dropbox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Benutzer</a:t>
            </a:r>
            <a:r>
              <a:rPr lang="en-US" dirty="0"/>
              <a:t>: </a:t>
            </a:r>
            <a:r>
              <a:rPr lang="en-US" dirty="0" err="1"/>
              <a:t>teilnehmer</a:t>
            </a:r>
            <a:r>
              <a:rPr lang="en-US" dirty="0"/>
              <a:t>&lt;#&gt;</a:t>
            </a:r>
          </a:p>
          <a:p>
            <a:pPr marL="0" indent="0" fontAlgn="base">
              <a:buNone/>
            </a:pPr>
            <a:r>
              <a:rPr lang="en-US" dirty="0" err="1"/>
              <a:t>Passwort</a:t>
            </a:r>
            <a:r>
              <a:rPr lang="en-US" dirty="0"/>
              <a:t>: academy0226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5F02FF9-082B-6FB9-6B8B-C4231FA547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896CF52-12B5-45CE-CB22-5C50ABE29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399" y="1039812"/>
            <a:ext cx="5510486" cy="448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72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D918-FD47-1C8F-755F-53CB3DC6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E0F7B8-0A80-258D-5A8E-ECF421257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E475E03B-4F35-B2DD-BFE1-7A6C9D180183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Updates &amp; Basic Tools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B1A7692A-90D2-C4F1-DBE0-47DF272B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4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72EE9C5-D4E2-B14F-8822-99987462B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84" y="1981446"/>
            <a:ext cx="10025657" cy="225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9C659B17-6D4B-0F6B-25FF-83A6B67FA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84" y="4311652"/>
            <a:ext cx="10025657" cy="199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502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60CA-0E75-62B9-F17B-7D34E5EE6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6E98DD-411F-BE2B-178B-2F08349CD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576D3FC-5E38-61C8-CA89-74871089B580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Python 3.10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A0E12CC-D792-B4D0-EA70-A9CFE9B1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9473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C0A2469-36AD-3D3A-E22E-77E95A923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466" y="1794933"/>
            <a:ext cx="10024534" cy="469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17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4FA8-D68F-8532-8134-3D09F795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FA7A9F-F66D-AEA0-F893-AA7BF95DE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005577CF-6DAC-215B-7436-F3742D74B6D3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UV (</a:t>
            </a:r>
            <a:r>
              <a:rPr lang="en-GB" sz="3000" dirty="0" err="1">
                <a:solidFill>
                  <a:srgbClr val="FB1A62"/>
                </a:solidFill>
              </a:rPr>
              <a:t>Empfohlen</a:t>
            </a:r>
            <a:r>
              <a:rPr lang="en-GB" sz="3000" dirty="0">
                <a:solidFill>
                  <a:srgbClr val="FB1A62"/>
                </a:solidFill>
              </a:rPr>
              <a:t>)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1BB906C5-0CEA-E4C1-F03A-5E019EF8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6901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39A16E6-DD66-3739-5361-0F861038B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207" y="1898772"/>
            <a:ext cx="8996892" cy="158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FE769D7D-A931-CE70-5DE0-8C06559FD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207" y="3686705"/>
            <a:ext cx="8996892" cy="277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2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51446-336E-F0C8-E607-D22B2B2D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515CCE-76CE-B4BE-7200-8DB2B6854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36DA445-4DA1-DC8B-BE83-22454AFB7570}"/>
              </a:ext>
            </a:extLst>
          </p:cNvPr>
          <p:cNvSpPr txBox="1">
            <a:spLocks/>
          </p:cNvSpPr>
          <p:nvPr/>
        </p:nvSpPr>
        <p:spPr>
          <a:xfrm>
            <a:off x="-2" y="1179299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Abhängigkeiten​  </a:t>
            </a:r>
          </a:p>
          <a:p>
            <a:pPr algn="ctr"/>
            <a:r>
              <a:rPr lang="it-IT" sz="3000" dirty="0">
                <a:solidFill>
                  <a:srgbClr val="FB1A62"/>
                </a:solidFill>
              </a:rPr>
              <a:t>Unitree_sdk2_python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01D8D07-8BB9-A65B-3AEF-5329EE67E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84872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545BF65A-EB39-CBE7-3BD9-8255DA5DD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7" y="2718487"/>
            <a:ext cx="1111948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038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126D8-22EC-B330-9597-B74FE77E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D49899-2289-8214-ED89-DC222C0F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4004289E-71FB-C428-466D-325E637CB66F}"/>
              </a:ext>
            </a:extLst>
          </p:cNvPr>
          <p:cNvSpPr txBox="1">
            <a:spLocks/>
          </p:cNvSpPr>
          <p:nvPr/>
        </p:nvSpPr>
        <p:spPr>
          <a:xfrm>
            <a:off x="0" y="115042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Abhängigkeiten​  </a:t>
            </a:r>
          </a:p>
          <a:p>
            <a:pPr algn="ctr"/>
            <a:r>
              <a:rPr lang="it-IT" sz="3000" dirty="0">
                <a:solidFill>
                  <a:srgbClr val="FB1A62"/>
                </a:solidFill>
              </a:rPr>
              <a:t>CycloneDDS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0779C385-B081-7436-2C18-95D049A0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679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43E0B287-9CC4-84B3-4BAD-0D8196A2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696" y="1981445"/>
            <a:ext cx="7708371" cy="44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544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7993-F79C-7299-D2B3-862D435A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2EEA88-C50C-8DA7-CB83-EDE5E7653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A04075F9-0EF9-BB74-2A2F-F3B080A9A7F2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Npm &amp; codex (AI CLI) (OpenAI, Bezahlt) 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16836B4-2B7F-DC4A-7747-F485AD148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933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3" name="Grafik 2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8E3359C9-63E2-7B13-266D-60D0CE84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360" y="2334668"/>
            <a:ext cx="9507277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21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B13-88DE-40E7-5854-EC260F11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711916-8F1F-2480-BEC5-5EAF46FB8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088B073-A497-9EEE-1B7B-91E778652600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Alternativ: Gemini-CLI (Google, Kostenlos)​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D4E7675-4D76-7085-60D8-8CDF0097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484873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CDA13EFD-1AF3-9050-1438-6C349D8BB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507" y="1981446"/>
            <a:ext cx="8954983" cy="4512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49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9A7B1-ACE5-1A5B-C489-E5D9C0FC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6A34E6-EE02-1365-3E73-272ED902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1BA5133-8A3D-6F3A-3E2A-07EE30BE4AA0}"/>
              </a:ext>
            </a:extLst>
          </p:cNvPr>
          <p:cNvSpPr txBox="1">
            <a:spLocks/>
          </p:cNvSpPr>
          <p:nvPr/>
        </p:nvSpPr>
        <p:spPr>
          <a:xfrm>
            <a:off x="0" y="679066"/>
            <a:ext cx="12454466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Akademie Repository​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E545EA79-3594-5AED-F6F9-4E424164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" y="56131"/>
            <a:ext cx="12386733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2308726F-C269-8130-7EAA-21C3445F7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86" y="771058"/>
            <a:ext cx="3395135" cy="592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29EB30-28DB-7503-5F7B-F57C6335D340}"/>
              </a:ext>
            </a:extLst>
          </p:cNvPr>
          <p:cNvSpPr txBox="1"/>
          <p:nvPr/>
        </p:nvSpPr>
        <p:spPr>
          <a:xfrm>
            <a:off x="4478193" y="4743762"/>
            <a:ext cx="6966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de-DE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https://github.com/EF-Robotics-Humanoid-Academy/ef_ws</a:t>
            </a:r>
            <a:endParaRPr lang="de-DE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Grafik 4" descr="Ein Bild, das Muster, Quadrat, Kunst, Symmetrie enthält.&#10;&#10;KI-generierte Inhalte können fehlerhaft sein.">
            <a:extLst>
              <a:ext uri="{FF2B5EF4-FFF2-40B4-BE49-F238E27FC236}">
                <a16:creationId xmlns:a16="http://schemas.microsoft.com/office/drawing/2014/main" id="{EBAF5F63-3654-6689-D1A6-0C541DF6C5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606" y="1613263"/>
            <a:ext cx="2836333" cy="283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1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9F0E86-56D9-27F5-170C-3E71FED87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Directory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akademie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r>
              <a:rPr lang="de-DE" dirty="0"/>
              <a:t> (</a:t>
            </a:r>
            <a:r>
              <a:rPr lang="de-DE" dirty="0" err="1"/>
              <a:t>sdk</a:t>
            </a:r>
            <a:r>
              <a:rPr lang="de-DE" dirty="0"/>
              <a:t> </a:t>
            </a:r>
            <a:r>
              <a:rPr lang="de-DE" dirty="0" err="1"/>
              <a:t>modules</a:t>
            </a:r>
            <a:r>
              <a:rPr lang="de-DE" dirty="0"/>
              <a:t>+ </a:t>
            </a:r>
            <a:r>
              <a:rPr lang="de-DE" dirty="0" err="1"/>
              <a:t>scritps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/>
              <a:t>Ahmed </a:t>
            </a:r>
            <a:r>
              <a:rPr lang="de-DE" dirty="0" err="1"/>
              <a:t>aufgabe</a:t>
            </a:r>
            <a:endParaRPr lang="de-DE" dirty="0"/>
          </a:p>
        </p:txBody>
      </p:sp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F123B56E-9018-1870-F9E1-20F604D329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27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5344F-78B2-1B9B-EC2C-4CD972F8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2A4DAC41-3693-A2F3-0E14-F42FC065D0DE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Demos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FE43ACF-60B9-18E9-C903-6C7BB8D35741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Einführung Codex (Empfohlene Alternative: gemini-cli oder claude code)</a:t>
            </a:r>
          </a:p>
          <a:p>
            <a:pPr fontAlgn="base"/>
            <a:r>
              <a:rPr lang="de-DE" dirty="0"/>
              <a:t>Demo (Webseite erstellen mit codex)</a:t>
            </a:r>
          </a:p>
          <a:p>
            <a:pPr fontAlgn="base"/>
            <a:r>
              <a:rPr lang="de-DE" dirty="0"/>
              <a:t>Demo Skripte (Sprachaussage /Kopflichtsteuerung)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883BD2A-D17D-847D-21D0-1B17294B47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0" r="777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96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A198-C847-E265-8D3C-4D91E755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3D3398B-6599-C316-24C3-47C47BC3548A}"/>
              </a:ext>
            </a:extLst>
          </p:cNvPr>
          <p:cNvSpPr txBox="1">
            <a:spLocks/>
          </p:cNvSpPr>
          <p:nvPr/>
        </p:nvSpPr>
        <p:spPr>
          <a:xfrm>
            <a:off x="8602" y="483834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Fazit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5D8FB59-0EF1-4AE1-0C0D-50B4E5BA676B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Überblick Unitree G1 Edu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Programmierung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Verbindungsmethoden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Entwicklungsumgebung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Demos</a:t>
            </a:r>
            <a:endParaRPr lang="en-US" dirty="0">
              <a:cs typeface="Roboto" panose="02000000000000000000" pitchFamily="2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31A70E1-EF29-3EFA-A237-2087F6DA47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711200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11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F9B60-A110-F170-B981-862858F6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83D83F5E-5C9B-0C8C-4D11-24BAE95B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3339"/>
            <a:ext cx="66886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Verbindungsmethoden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FC2202B-B984-A003-8562-20C76B86A432}"/>
              </a:ext>
            </a:extLst>
          </p:cNvPr>
          <p:cNvSpPr txBox="1">
            <a:spLocks/>
          </p:cNvSpPr>
          <p:nvPr/>
        </p:nvSpPr>
        <p:spPr>
          <a:xfrm>
            <a:off x="122698" y="1920730"/>
            <a:ext cx="644326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SSH (Secure Shell) Verbindung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endParaRPr lang="en-US" dirty="0">
              <a:cs typeface="Roboto" panose="02000000000000000000" pitchFamily="2" charset="0"/>
            </a:endParaRPr>
          </a:p>
          <a:p>
            <a:pPr fontAlgn="base"/>
            <a:r>
              <a:rPr lang="de-DE" dirty="0">
                <a:cs typeface="Roboto" panose="02000000000000000000" pitchFamily="2" charset="0"/>
              </a:rPr>
              <a:t>In ROS2 Umgebung programmieren: </a:t>
            </a:r>
            <a:r>
              <a:rPr lang="de-DE" u="sng" dirty="0">
                <a:cs typeface="Roboto" panose="02000000000000000000" pitchFamily="2" charset="0"/>
              </a:rPr>
              <a:t>https://support.unitree.com/home/en/G1_developer/ros2_communication_routine</a:t>
            </a:r>
            <a:r>
              <a:rPr lang="en-US" u="sng" dirty="0">
                <a:cs typeface="Roboto" panose="02000000000000000000" pitchFamily="2" charset="0"/>
              </a:rPr>
              <a:t>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A5FEF3-95DF-8CBE-2751-092E8FB12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872222"/>
            <a:ext cx="5393111" cy="539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11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CB4704-9F26-9065-9901-AB6B9C35D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890979"/>
            <a:ext cx="3752109" cy="4951668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A1B55B5C-9918-745E-2FE6-58649E6B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451946"/>
            <a:ext cx="66886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4631CDC5-0A4F-ABB0-F43E-E5D48BE37EAB}"/>
              </a:ext>
            </a:extLst>
          </p:cNvPr>
          <p:cNvSpPr txBox="1">
            <a:spLocks/>
          </p:cNvSpPr>
          <p:nvPr/>
        </p:nvSpPr>
        <p:spPr>
          <a:xfrm>
            <a:off x="122698" y="1920730"/>
            <a:ext cx="644326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Sicherheitsanweisungen</a:t>
            </a:r>
            <a:r>
              <a:rPr lang="en-US" dirty="0"/>
              <a:t>​:</a:t>
            </a:r>
          </a:p>
          <a:p>
            <a:pPr marL="0" indent="0" fontAlgn="base">
              <a:buNone/>
            </a:pPr>
            <a:r>
              <a:rPr lang="de-DE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https://support.unitree.com/home/en/G1_developer/quick_start</a:t>
            </a:r>
            <a:r>
              <a:rPr lang="de-DE" dirty="0"/>
              <a:t>​</a:t>
            </a:r>
          </a:p>
          <a:p>
            <a:pPr marL="0" indent="0" fontAlgn="base">
              <a:buNone/>
            </a:pPr>
            <a:endParaRPr lang="de-DE" dirty="0"/>
          </a:p>
          <a:p>
            <a:pPr fontAlgn="base"/>
            <a:r>
              <a:rPr lang="de-DE" dirty="0"/>
              <a:t>Debugging: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u="sng" dirty="0"/>
              <a:t>https://support.unitree.com/home/en/G1_developer/common_istakes_and_definitions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18365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Ziel des 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Verständnis der G1 Systemarchitektur</a:t>
            </a:r>
          </a:p>
          <a:p>
            <a:r>
              <a:t>• Verbindung und Steuerung einrichten</a:t>
            </a:r>
          </a:p>
          <a:p>
            <a:r>
              <a:t>• Erste Interaktion mit dem Roboter</a:t>
            </a:r>
          </a:p>
          <a:p>
            <a:endParaRPr/>
          </a:p>
          <a:p>
            <a:r>
              <a:t>Ergebnis:</a:t>
            </a:r>
          </a:p>
          <a:p>
            <a:r>
              <a:t>• Teilnehmer können Robot verbinden und steuern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662ADB-35C2-48AC-04E8-7185E8C249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VUI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Sprachsteuerung (Speech Interface)</a:t>
            </a:r>
          </a:p>
          <a:p>
            <a:r>
              <a:t>• Headlight Steuerung</a:t>
            </a:r>
          </a:p>
          <a:p>
            <a:r>
              <a:t>• Interaktion mit Roboter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64FBD6-F893-DFD7-A106-8ACB58EB76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Nutzung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Code generieren</a:t>
            </a:r>
          </a:p>
          <a:p>
            <a:r>
              <a:t>• Skripte schneller entwickeln</a:t>
            </a:r>
          </a:p>
          <a:p>
            <a:r>
              <a:t>• Debugging unterstützen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9E54B-97FB-E303-1277-8D10474339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Tag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Einfaches Script erstellen</a:t>
            </a:r>
          </a:p>
          <a:p>
            <a:r>
              <a:t>• Verbindung testen (SSH)</a:t>
            </a:r>
          </a:p>
          <a:p>
            <a:r>
              <a:t>• Roboteraktion ausführen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F43E56-1E42-9DDD-C7FB-4EFDE3492B4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BSO999929 xmlns="http://www.datev.de/BSOffice/999929">306d5c34-c375-434d-a27d-82eb08a5504b</BSO999929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Props1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customXml/itemProps3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2B0C713-5CE9-4B7C-8871-D96133782421}">
  <ds:schemaRefs>
    <ds:schemaRef ds:uri="17e9a383-b1c7-4c94-a2a2-eacb0c3a46c7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29710a0d-a916-43a9-8a24-1cbe13199583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Microsoft Office PowerPoint</Application>
  <PresentationFormat>Breitbild</PresentationFormat>
  <Paragraphs>186</Paragraphs>
  <Slides>35</Slides>
  <Notes>2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Roboto</vt:lpstr>
      <vt:lpstr>Office</vt:lpstr>
      <vt:lpstr>Tag 1: Einführung und Entwicklungsumgebung​</vt:lpstr>
      <vt:lpstr>Zeitplan Tag 1</vt:lpstr>
      <vt:lpstr>Tagesziele</vt:lpstr>
      <vt:lpstr>EF Robotics</vt:lpstr>
      <vt:lpstr>Warum Humanoide</vt:lpstr>
      <vt:lpstr>Überblick  Unitree G1 ​</vt:lpstr>
      <vt:lpstr>Safety</vt:lpstr>
      <vt:lpstr>Remote Steuerung</vt:lpstr>
      <vt:lpstr>Überblick  Unitree G1 Edu​</vt:lpstr>
      <vt:lpstr>Überblick  Unitree G1 Edu​</vt:lpstr>
      <vt:lpstr>PowerPoint-Präsentation</vt:lpstr>
      <vt:lpstr>G1 Programmierung​</vt:lpstr>
      <vt:lpstr>G1 Programmierung​</vt:lpstr>
      <vt:lpstr>G1 Programmierung​</vt:lpstr>
      <vt:lpstr>PowerPoint-Präsentation</vt:lpstr>
      <vt:lpstr>Verbindungsmethoden</vt:lpstr>
      <vt:lpstr>PowerPoint-Präsentation</vt:lpstr>
      <vt:lpstr>PowerPoint-Präsentation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PowerPoint-Präsentation</vt:lpstr>
      <vt:lpstr>PowerPoint-Präsentation</vt:lpstr>
      <vt:lpstr>PowerPoint-Präsentation</vt:lpstr>
      <vt:lpstr>Verbindungsmethoden</vt:lpstr>
      <vt:lpstr>G1 Programmierung​</vt:lpstr>
      <vt:lpstr>Ziel des Tages</vt:lpstr>
      <vt:lpstr>VUI Client</vt:lpstr>
      <vt:lpstr>Codex Nutzung</vt:lpstr>
      <vt:lpstr>Aufgabe Tag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332</cp:revision>
  <dcterms:created xsi:type="dcterms:W3CDTF">2025-02-10T19:27:37Z</dcterms:created>
  <dcterms:modified xsi:type="dcterms:W3CDTF">2026-04-24T16:25:45Z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