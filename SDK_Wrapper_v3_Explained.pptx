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12191695" cy="6858000" type="screen16x9"/>
  <p:notesSz cx="9144000" cy="6858000"/>
  <p:defaultTextStyle>
    <a:defPPr/>
    <a:lvl1pPr marL="0" algn="l">
      <a:defRPr sz="18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640080" y="6400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200" b="1">
                <a:solidFill>
                  <a:srgbClr val="5DE2E7"/>
                </a:solidFill>
                <a:latin typeface="Aptos"/>
                <a:cs typeface="Aptos"/>
              </a:rPr>
              <a:t>UNITREE G1 / SDK WRAPPER V3</a:t>
            </a:r>
            <a:endParaRPr lang="en-US" sz="1200"/>
          </a:p>
        </p:txBody>
      </p:sp>
      <p:sp>
        <p:nvSpPr>
          <p:cNvPr id="5" name="Text 5"/>
          <p:cNvSpPr txBox="1"/>
          <p:nvPr/>
        </p:nvSpPr>
        <p:spPr>
          <a:xfrm>
            <a:off x="640080" y="123444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3600" b="1">
                <a:solidFill>
                  <a:srgbClr val="F3F7FA"/>
                </a:solidFill>
                <a:latin typeface="Aptos Display"/>
                <a:cs typeface="Aptos Display"/>
              </a:rPr>
              <a:t>A hardware-facing
Python adapter</a:t>
            </a:r>
            <a:endParaRPr lang="en-US" sz="3600"/>
          </a:p>
        </p:txBody>
      </p:sp>
      <p:sp>
        <p:nvSpPr>
          <p:cNvPr id="6" name="Text 6"/>
          <p:cNvSpPr txBox="1"/>
          <p:nvPr/>
        </p:nvSpPr>
        <p:spPr>
          <a:xfrm>
            <a:off x="685800" y="27432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700" b="0">
                <a:solidFill>
                  <a:srgbClr val="A9B7C6"/>
                </a:solidFill>
                <a:latin typeface="Aptos"/>
                <a:cs typeface="Aptos"/>
              </a:rPr>
              <a:t>A guided tour of 1,388 lines: DDS, motion, arms, hands, audio, SLAM, sensing, and IK</a:t>
            </a:r>
            <a:endParaRPr lang="en-US" sz="1700"/>
          </a:p>
        </p:txBody>
      </p:sp>
      <p:sp>
        <p:nvSpPr>
          <p:cNvPr id="7" name="Shape 7"/>
          <p:cNvSpPr/>
          <p:nvPr/>
        </p:nvSpPr>
        <p:spPr>
          <a:xfrm>
            <a:off x="685800" y="3794760"/>
            <a:ext cx="2926080" cy="54864"/>
          </a:xfrm>
          <a:prstGeom prst="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685800" y="4069080"/>
            <a:ext cx="6766560" cy="73152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868680" y="4270248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600" b="0">
                <a:solidFill>
                  <a:srgbClr val="F3F7FA"/>
                </a:solidFill>
                <a:latin typeface="Aptos Mono"/>
                <a:cs typeface="Aptos Mono"/>
              </a:rPr>
              <a:t>G1(...)  →  stable Python API  →  live robot / simulation</a:t>
            </a:r>
            <a:endParaRPr lang="en-US" sz="1600"/>
          </a:p>
        </p:txBody>
      </p:sp>
      <p:sp>
        <p:nvSpPr>
          <p:cNvPr id="10" name="Text 10"/>
          <p:cNvSpPr txBox="1"/>
          <p:nvPr/>
        </p:nvSpPr>
        <p:spPr>
          <a:xfrm>
            <a:off x="685800" y="612648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F6C85F"/>
                </a:solidFill>
                <a:latin typeface="Aptos"/>
                <a:cs typeface="Aptos"/>
              </a:rPr>
              <a:t>Based on static source analysis • no robot commands executed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ORIENTATION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What this file is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A compatibility-and-convenience layer around Unitree SDK2 and several external robot interfaces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02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356616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4805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32918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One public object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3310128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`G1` owns clients,
subscriptions, cached state,
and action methods.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Callers do not need to
construct DDS publishers
or decode messages.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Lines 517–1388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4315968" y="1371600"/>
            <a:ext cx="356616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315968" y="1371600"/>
            <a:ext cx="54864" cy="44805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462272" y="1481328"/>
            <a:ext cx="32918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Many transports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443983" y="1810512"/>
            <a:ext cx="3310128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Unitree RPC / DDS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ZeroMQ RGB-D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TCP Modbus/TCP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Piper subprocess + audio RPC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Lazy-loaded FK/IK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The wrapper is an adapter,
not a simulator.</a:t>
            </a:r>
            <a:endParaRPr lang="en-US" sz="1400"/>
          </a:p>
        </p:txBody>
      </p:sp>
      <p:sp>
        <p:nvSpPr>
          <p:cNvPr id="40" name="Shape 40"/>
          <p:cNvSpPr/>
          <p:nvPr/>
        </p:nvSpPr>
        <p:spPr>
          <a:xfrm>
            <a:off x="8083296" y="1371600"/>
            <a:ext cx="356616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8083296" y="1371600"/>
            <a:ext cx="54864" cy="448056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8229600" y="1481328"/>
            <a:ext cx="32918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Observable contract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8211312" y="1810512"/>
            <a:ext cx="3310128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Returns dicts, tuples,
status codes, raw messages,
and errors.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It favors best-effort
compatibility across SDK
message layouts.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Hardware-side effects are
real for motion methods.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MENTAL MODEL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System architecture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The wrapper sits between application code and several live data/control planes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03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640080" y="1508760"/>
            <a:ext cx="2560320" cy="118872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40080" y="1508760"/>
            <a:ext cx="54864" cy="118872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786384" y="1618488"/>
            <a:ext cx="22860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Application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768096" y="1947672"/>
            <a:ext cx="2304287" cy="65836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Dashboard • script • ROS node</a:t>
            </a:r>
            <a:endParaRPr lang="en-US" sz="1300"/>
          </a:p>
        </p:txBody>
      </p:sp>
      <p:sp>
        <p:nvSpPr>
          <p:cNvPr id="30" name="Shape 30"/>
          <p:cNvSpPr/>
          <p:nvPr/>
        </p:nvSpPr>
        <p:spPr>
          <a:xfrm>
            <a:off x="4709160" y="1508760"/>
            <a:ext cx="2834640" cy="118872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709160" y="1508760"/>
            <a:ext cx="54864" cy="118872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855464" y="1618488"/>
            <a:ext cx="25603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G1 API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837176" y="1947672"/>
            <a:ext cx="2578608" cy="65836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State • motion • sensing • actions</a:t>
            </a:r>
            <a:endParaRPr lang="en-US" sz="1300"/>
          </a:p>
        </p:txBody>
      </p:sp>
      <p:sp>
        <p:nvSpPr>
          <p:cNvPr id="40" name="Shape 40"/>
          <p:cNvSpPr/>
          <p:nvPr/>
        </p:nvSpPr>
        <p:spPr>
          <a:xfrm>
            <a:off x="8823960" y="1508760"/>
            <a:ext cx="2560320" cy="118872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8823960" y="1508760"/>
            <a:ext cx="54864" cy="118872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8970264" y="1618488"/>
            <a:ext cx="22860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Robot / services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8951976" y="1947672"/>
            <a:ext cx="2304287" cy="65836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DDS • RPC • network</a:t>
            </a:r>
            <a:endParaRPr lang="en-US" sz="1300"/>
          </a:p>
        </p:txBody>
      </p:sp>
      <p:cxnSp>
        <p:nvCxnSpPr>
          <p:cNvPr id="50" name="Connector 50"/>
          <p:cNvCxnSpPr/>
          <p:nvPr/>
        </p:nvCxnSpPr>
        <p:spPr>
          <a:xfrm>
            <a:off x="3200400" y="2103120"/>
            <a:ext cx="1463039" cy="0"/>
          </a:xfrm>
          <a:prstGeom prst="line">
            <a:avLst/>
          </a:prstGeom>
          <a:ln w="25400">
            <a:solidFill>
              <a:srgbClr val="A9B7C6"/>
            </a:solidFill>
            <a:tailEnd type="none"/>
            <a:headEnd type="none"/>
          </a:ln>
        </p:spPr>
      </p:cxnSp>
      <p:cxnSp>
        <p:nvCxnSpPr>
          <p:cNvPr id="51" name="Connector 51"/>
          <p:cNvCxnSpPr/>
          <p:nvPr/>
        </p:nvCxnSpPr>
        <p:spPr>
          <a:xfrm>
            <a:off x="7543800" y="2103120"/>
            <a:ext cx="1280160" cy="0"/>
          </a:xfrm>
          <a:prstGeom prst="line">
            <a:avLst/>
          </a:prstGeom>
          <a:ln w="25400">
            <a:solidFill>
              <a:srgbClr val="A9B7C6"/>
            </a:solidFill>
            <a:tailEnd type="none"/>
            <a:headEnd type="none"/>
          </a:ln>
        </p:spPr>
      </p:cxnSp>
      <p:sp>
        <p:nvSpPr>
          <p:cNvPr id="20" name="Shape 20"/>
          <p:cNvSpPr/>
          <p:nvPr/>
        </p:nvSpPr>
        <p:spPr>
          <a:xfrm>
            <a:off x="640080" y="3246120"/>
            <a:ext cx="3337560" cy="1874519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40080" y="3246120"/>
            <a:ext cx="54864" cy="1874519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786384" y="3355848"/>
            <a:ext cx="30632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DDS topics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768096" y="3685031"/>
            <a:ext cx="3081528" cy="1344167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rt/lowstate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rt/odommodestate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rt/audio_msg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rt/dex3/*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rt/unitree/slam_*</a:t>
            </a:r>
            <a:endParaRPr lang="en-US" sz="1300"/>
          </a:p>
        </p:txBody>
      </p:sp>
      <p:sp>
        <p:nvSpPr>
          <p:cNvPr id="30" name="Shape 30"/>
          <p:cNvSpPr/>
          <p:nvPr/>
        </p:nvSpPr>
        <p:spPr>
          <a:xfrm>
            <a:off x="4434840" y="3246120"/>
            <a:ext cx="3337560" cy="1874519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434840" y="3246120"/>
            <a:ext cx="54864" cy="1874519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581144" y="3355848"/>
            <a:ext cx="30632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SDK clients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562855" y="3685031"/>
            <a:ext cx="3081528" cy="1344167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LocoClient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MotionSwitcherClient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AudioClient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G1ArmActionClient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RobotStateClient / SLAM RPC</a:t>
            </a:r>
            <a:endParaRPr lang="en-US" sz="1300"/>
          </a:p>
        </p:txBody>
      </p:sp>
      <p:sp>
        <p:nvSpPr>
          <p:cNvPr id="40" name="Shape 40"/>
          <p:cNvSpPr/>
          <p:nvPr/>
        </p:nvSpPr>
        <p:spPr>
          <a:xfrm>
            <a:off x="8229600" y="3246120"/>
            <a:ext cx="3154680" cy="1874519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8229600" y="3246120"/>
            <a:ext cx="54864" cy="1874519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8375904" y="3355848"/>
            <a:ext cx="288036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External interfaces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8357616" y="3685031"/>
            <a:ext cx="2898648" cy="1344167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ZeroMQ camera stream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Modbus/TCP Inspire hands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Piper TTS binary + models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ArmFK / ArmIK</a:t>
            </a:r>
            <a:endParaRPr lang="en-US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1–24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Imports and dependency boundaries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Most behavior is delegated to Unitree SDK2; local code normalizes and orchestrates it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04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53312"/>
            <a:ext cx="274320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53312"/>
            <a:ext cx="54864" cy="452628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63040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Python standard library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792224"/>
            <a:ext cx="2487168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audioop / wave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importlib / pathlib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json / math / re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socket / struct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subprocess / tempfile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threading / time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3456432" y="1353312"/>
            <a:ext cx="379476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3456432" y="1353312"/>
            <a:ext cx="54864" cy="452628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3602736" y="1463040"/>
            <a:ext cx="35204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Unitree SDK2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3584448" y="1792224"/>
            <a:ext cx="3538728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ChannelFactoryInitialize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ChannelPublisher / Subscriber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LocoClient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MotionSwitcherClient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AudioClient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G1ArmActionClient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RPC Client + CRC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IDL message types</a:t>
            </a:r>
            <a:endParaRPr lang="en-US" sz="1400"/>
          </a:p>
        </p:txBody>
      </p:sp>
      <p:sp>
        <p:nvSpPr>
          <p:cNvPr id="40" name="Shape 40"/>
          <p:cNvSpPr/>
          <p:nvPr/>
        </p:nvSpPr>
        <p:spPr>
          <a:xfrm>
            <a:off x="7424927" y="1353312"/>
            <a:ext cx="416052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424927" y="1353312"/>
            <a:ext cx="54864" cy="452628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571231" y="1463040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Optional / dynamic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552944" y="1792224"/>
            <a:ext cx="3904487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numpy — matrices, clipping, IK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arm_fk / arm_ik — imported inside a guarded try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RobotState / Video clients — importlib fallback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zmq — imported only by get_rgbd()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Piper — external executable + voice model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26–107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Constants define the robot contract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The wrapper encodes joint indexing, action names, hand limits, network endpoints, and topic discovery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05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274320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52628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Modes &amp; actions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2487168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FSM_IDS: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zero_torque=0 • damp=1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prepare=4 • walk=501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run=802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HL_ARM_ACTIONS maps human
labels to action IDs 11–99.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Aliases make CLI/UI text
forgiving.</a:t>
            </a:r>
            <a:endParaRPr lang="en-US" sz="1300"/>
          </a:p>
        </p:txBody>
      </p:sp>
      <p:sp>
        <p:nvSpPr>
          <p:cNvPr id="30" name="Shape 30"/>
          <p:cNvSpPr/>
          <p:nvPr/>
        </p:nvSpPr>
        <p:spPr>
          <a:xfrm>
            <a:off x="3456432" y="3794760"/>
            <a:ext cx="3794760" cy="210312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3456432" y="3794760"/>
            <a:ext cx="54864" cy="210312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3602736" y="3904488"/>
            <a:ext cx="35204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29 body joints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3584448" y="4233672"/>
            <a:ext cx="3538728" cy="1572767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0–5 left leg  |  6–11 right leg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12–14 waist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15–21 left arm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22–28 right arm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LOWCMD_JOINTS = all groups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UPPER_BODY_JOINTS = waist + arms</a:t>
            </a:r>
            <a:endParaRPr lang="en-US" sz="1400"/>
          </a:p>
        </p:txBody>
      </p:sp>
      <p:sp>
        <p:nvSpPr>
          <p:cNvPr id="40" name="Shape 40"/>
          <p:cNvSpPr/>
          <p:nvPr/>
        </p:nvSpPr>
        <p:spPr>
          <a:xfrm>
            <a:off x="3456432" y="1371600"/>
            <a:ext cx="3794760" cy="2240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3456432" y="1371600"/>
            <a:ext cx="54864" cy="224028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3602736" y="1481328"/>
            <a:ext cx="35204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Dex3 hands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3584448" y="1810512"/>
            <a:ext cx="3538728" cy="1709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7 named joints per hand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HAND_MIN / HAND_MAX clamp targets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HAND_OPEN / HAND_CLOSED poses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rt/dex3/{left,right}/cmd + /state</a:t>
            </a:r>
            <a:endParaRPr lang="en-US" sz="1400"/>
          </a:p>
        </p:txBody>
      </p:sp>
      <p:sp>
        <p:nvSpPr>
          <p:cNvPr id="50" name="Shape 50"/>
          <p:cNvSpPr/>
          <p:nvPr/>
        </p:nvSpPr>
        <p:spPr>
          <a:xfrm>
            <a:off x="7424927" y="1371600"/>
            <a:ext cx="416052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51" name="Shape 51"/>
          <p:cNvSpPr/>
          <p:nvPr/>
        </p:nvSpPr>
        <p:spPr>
          <a:xfrm>
            <a:off x="7424927" y="1371600"/>
            <a:ext cx="54864" cy="4526280"/>
          </a:xfrm>
          <a:prstGeom prst="roundRect">
            <a:avLst/>
          </a:prstGeom>
          <a:solidFill>
            <a:srgbClr val="7BE495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52" name="Text 52"/>
          <p:cNvSpPr txBox="1"/>
          <p:nvPr/>
        </p:nvSpPr>
        <p:spPr>
          <a:xfrm>
            <a:off x="7571231" y="1481328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7BE495"/>
                </a:solidFill>
                <a:latin typeface="Aptos"/>
                <a:cs typeface="Aptos"/>
              </a:rPr>
              <a:t>Other constants</a:t>
            </a:r>
            <a:endParaRPr lang="en-US" sz="1300"/>
          </a:p>
        </p:txBody>
      </p:sp>
      <p:sp>
        <p:nvSpPr>
          <p:cNvPr id="53" name="Text 53"/>
          <p:cNvSpPr txBox="1"/>
          <p:nvPr/>
        </p:nvSpPr>
        <p:spPr>
          <a:xfrm>
            <a:off x="7552944" y="1810512"/>
            <a:ext cx="3904487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BMS_TOPICS: four candidate battery topics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INSPIRE_CONFIGS: .210 right / .211 left, port 6000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INSPIRE_OPEN / CLOSE: six Modbus values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SLAM_POINT_TOPICS: four point-cloud topics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_PIPER_VOICES: en/de/fr/es/ar model aliases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Named RGB colors + #RRGGBB + R,G,B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552–578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Topic map: what is subscribed at startup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G1 subscribes eagerly to a set of “latest value” streams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06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89888"/>
            <a:ext cx="274320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89888"/>
            <a:ext cx="54864" cy="44805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99616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Core state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28800"/>
            <a:ext cx="2487168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rt/lowstate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rt/odommodestate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rt/sportmodestate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rt/odom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rt/unitree/slam_mapping/odom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3456432" y="1389888"/>
            <a:ext cx="379476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3456432" y="1389888"/>
            <a:ext cx="54864" cy="44805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3602736" y="1499616"/>
            <a:ext cx="35204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Perception &amp; diagnostics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3584448" y="1828800"/>
            <a:ext cx="3538728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rt/slam_info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rt/slam_key_info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rt/audio_msg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PointCloud2 on four SLAM topics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BMS topics × available message types</a:t>
            </a:r>
            <a:endParaRPr lang="en-US" sz="1400"/>
          </a:p>
        </p:txBody>
      </p:sp>
      <p:sp>
        <p:nvSpPr>
          <p:cNvPr id="40" name="Shape 40"/>
          <p:cNvSpPr/>
          <p:nvPr/>
        </p:nvSpPr>
        <p:spPr>
          <a:xfrm>
            <a:off x="7424927" y="1389888"/>
            <a:ext cx="41605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424927" y="1389888"/>
            <a:ext cx="54864" cy="448056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571231" y="1499616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The _Latest pattern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552944" y="1828800"/>
            <a:ext cx="39044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Each subscription stores: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• most recent message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• wall-clock timestamp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get() returns (msg, ts).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Consumers can choose the freshest
compatible stream and reject
stale battery data.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517–578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Startup lifecycle: constructing G1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Construction initializes DDS and subscriptions, while most command clients remain lazy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07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685800" y="1828800"/>
            <a:ext cx="1234440" cy="123444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685800" y="202996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200" b="1">
                <a:solidFill>
                  <a:srgbClr val="101722"/>
                </a:solidFill>
                <a:latin typeface="Aptos Display"/>
                <a:cs typeface="Aptos Display"/>
              </a:rPr>
              <a:t>1</a:t>
            </a:r>
            <a:endParaRPr lang="en-US" sz="2200"/>
          </a:p>
        </p:txBody>
      </p:sp>
      <p:sp>
        <p:nvSpPr>
          <p:cNvPr id="22" name="Text 22"/>
          <p:cNvSpPr txBox="1"/>
          <p:nvPr/>
        </p:nvSpPr>
        <p:spPr>
          <a:xfrm>
            <a:off x="320040" y="32004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200" b="1">
                <a:solidFill>
                  <a:srgbClr val="F3F7FA"/>
                </a:solidFill>
                <a:latin typeface="Aptos"/>
                <a:cs typeface="Aptos"/>
              </a:rPr>
              <a:t>G1(iface, domain_id)</a:t>
            </a:r>
            <a:endParaRPr lang="en-US" sz="1200"/>
          </a:p>
        </p:txBody>
      </p:sp>
      <p:cxnSp>
        <p:nvCxnSpPr>
          <p:cNvPr id="40" name="Connector 40"/>
          <p:cNvCxnSpPr/>
          <p:nvPr/>
        </p:nvCxnSpPr>
        <p:spPr>
          <a:xfrm>
            <a:off x="1965960" y="2450592"/>
            <a:ext cx="914400" cy="0"/>
          </a:xfrm>
          <a:prstGeom prst="line">
            <a:avLst/>
          </a:prstGeom>
          <a:ln w="25400">
            <a:solidFill>
              <a:srgbClr val="A9B7C6"/>
            </a:solidFill>
            <a:tailEnd type="none"/>
            <a:headEnd type="none"/>
          </a:ln>
        </p:spPr>
      </p:cxnSp>
      <p:sp>
        <p:nvSpPr>
          <p:cNvPr id="23" name="Shape 23"/>
          <p:cNvSpPr/>
          <p:nvPr/>
        </p:nvSpPr>
        <p:spPr>
          <a:xfrm>
            <a:off x="2926080" y="1828800"/>
            <a:ext cx="1234440" cy="123444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2926080" y="202996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200" b="1">
                <a:solidFill>
                  <a:srgbClr val="101722"/>
                </a:solidFill>
                <a:latin typeface="Aptos Display"/>
                <a:cs typeface="Aptos Display"/>
              </a:rPr>
              <a:t>2</a:t>
            </a:r>
            <a:endParaRPr lang="en-US" sz="2200"/>
          </a:p>
        </p:txBody>
      </p:sp>
      <p:sp>
        <p:nvSpPr>
          <p:cNvPr id="25" name="Text 25"/>
          <p:cNvSpPr txBox="1"/>
          <p:nvPr/>
        </p:nvSpPr>
        <p:spPr>
          <a:xfrm>
            <a:off x="2560320" y="32004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200" b="1">
                <a:solidFill>
                  <a:srgbClr val="F3F7FA"/>
                </a:solidFill>
                <a:latin typeface="Aptos"/>
                <a:cs typeface="Aptos"/>
              </a:rPr>
              <a:t>_ensure_factory()</a:t>
            </a:r>
            <a:endParaRPr lang="en-US" sz="1200"/>
          </a:p>
        </p:txBody>
      </p:sp>
      <p:cxnSp>
        <p:nvCxnSpPr>
          <p:cNvPr id="41" name="Connector 41"/>
          <p:cNvCxnSpPr/>
          <p:nvPr/>
        </p:nvCxnSpPr>
        <p:spPr>
          <a:xfrm>
            <a:off x="4206240" y="2450592"/>
            <a:ext cx="914400" cy="0"/>
          </a:xfrm>
          <a:prstGeom prst="line">
            <a:avLst/>
          </a:prstGeom>
          <a:ln w="25400">
            <a:solidFill>
              <a:srgbClr val="A9B7C6"/>
            </a:solidFill>
            <a:tailEnd type="none"/>
            <a:headEnd type="none"/>
          </a:ln>
        </p:spPr>
      </p:cxnSp>
      <p:sp>
        <p:nvSpPr>
          <p:cNvPr id="26" name="Shape 26"/>
          <p:cNvSpPr/>
          <p:nvPr/>
        </p:nvSpPr>
        <p:spPr>
          <a:xfrm>
            <a:off x="5166360" y="1828800"/>
            <a:ext cx="1234440" cy="123444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5166360" y="202996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200" b="1">
                <a:solidFill>
                  <a:srgbClr val="101722"/>
                </a:solidFill>
                <a:latin typeface="Aptos Display"/>
                <a:cs typeface="Aptos Display"/>
              </a:rPr>
              <a:t>3</a:t>
            </a:r>
            <a:endParaRPr lang="en-US" sz="2200"/>
          </a:p>
        </p:txBody>
      </p:sp>
      <p:sp>
        <p:nvSpPr>
          <p:cNvPr id="28" name="Text 28"/>
          <p:cNvSpPr txBox="1"/>
          <p:nvPr/>
        </p:nvSpPr>
        <p:spPr>
          <a:xfrm>
            <a:off x="4800600" y="32004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200" b="1">
                <a:solidFill>
                  <a:srgbClr val="F3F7FA"/>
                </a:solidFill>
                <a:latin typeface="Aptos"/>
                <a:cs typeface="Aptos"/>
              </a:rPr>
              <a:t>LocoClient + Init()</a:t>
            </a:r>
            <a:endParaRPr lang="en-US" sz="1200"/>
          </a:p>
        </p:txBody>
      </p:sp>
      <p:cxnSp>
        <p:nvCxnSpPr>
          <p:cNvPr id="42" name="Connector 42"/>
          <p:cNvCxnSpPr/>
          <p:nvPr/>
        </p:nvCxnSpPr>
        <p:spPr>
          <a:xfrm>
            <a:off x="6446520" y="2450592"/>
            <a:ext cx="914400" cy="0"/>
          </a:xfrm>
          <a:prstGeom prst="line">
            <a:avLst/>
          </a:prstGeom>
          <a:ln w="25400">
            <a:solidFill>
              <a:srgbClr val="A9B7C6"/>
            </a:solidFill>
            <a:tailEnd type="none"/>
            <a:headEnd type="none"/>
          </a:ln>
        </p:spPr>
      </p:cxnSp>
      <p:sp>
        <p:nvSpPr>
          <p:cNvPr id="29" name="Shape 29"/>
          <p:cNvSpPr/>
          <p:nvPr/>
        </p:nvSpPr>
        <p:spPr>
          <a:xfrm>
            <a:off x="7406640" y="1828800"/>
            <a:ext cx="1234440" cy="1234440"/>
          </a:xfrm>
          <a:prstGeom prst="roundRect">
            <a:avLst/>
          </a:prstGeom>
          <a:solidFill>
            <a:srgbClr val="7BE495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7406640" y="202996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200" b="1">
                <a:solidFill>
                  <a:srgbClr val="101722"/>
                </a:solidFill>
                <a:latin typeface="Aptos Display"/>
                <a:cs typeface="Aptos Display"/>
              </a:rPr>
              <a:t>4</a:t>
            </a:r>
            <a:endParaRPr lang="en-US" sz="2200"/>
          </a:p>
        </p:txBody>
      </p:sp>
      <p:sp>
        <p:nvSpPr>
          <p:cNvPr id="31" name="Text 31"/>
          <p:cNvSpPr txBox="1"/>
          <p:nvPr/>
        </p:nvSpPr>
        <p:spPr>
          <a:xfrm>
            <a:off x="7040880" y="32004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200" b="1">
                <a:solidFill>
                  <a:srgbClr val="F3F7FA"/>
                </a:solidFill>
                <a:latin typeface="Aptos"/>
                <a:cs typeface="Aptos"/>
              </a:rPr>
              <a:t>Subscribe to state</a:t>
            </a:r>
            <a:endParaRPr lang="en-US" sz="1200"/>
          </a:p>
        </p:txBody>
      </p:sp>
      <p:cxnSp>
        <p:nvCxnSpPr>
          <p:cNvPr id="43" name="Connector 43"/>
          <p:cNvCxnSpPr/>
          <p:nvPr/>
        </p:nvCxnSpPr>
        <p:spPr>
          <a:xfrm>
            <a:off x="8686800" y="2450592"/>
            <a:ext cx="914400" cy="0"/>
          </a:xfrm>
          <a:prstGeom prst="line">
            <a:avLst/>
          </a:prstGeom>
          <a:ln w="25400">
            <a:solidFill>
              <a:srgbClr val="A9B7C6"/>
            </a:solidFill>
            <a:tailEnd type="none"/>
            <a:headEnd type="none"/>
          </a:ln>
        </p:spPr>
      </p:cxnSp>
      <p:sp>
        <p:nvSpPr>
          <p:cNvPr id="32" name="Shape 32"/>
          <p:cNvSpPr/>
          <p:nvPr/>
        </p:nvSpPr>
        <p:spPr>
          <a:xfrm>
            <a:off x="9646920" y="1828800"/>
            <a:ext cx="1234440" cy="123444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9646920" y="202996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200" b="1">
                <a:solidFill>
                  <a:srgbClr val="101722"/>
                </a:solidFill>
                <a:latin typeface="Aptos Display"/>
                <a:cs typeface="Aptos Display"/>
              </a:rPr>
              <a:t>5</a:t>
            </a:r>
            <a:endParaRPr lang="en-US" sz="2200"/>
          </a:p>
        </p:txBody>
      </p:sp>
      <p:sp>
        <p:nvSpPr>
          <p:cNvPr id="34" name="Text 34"/>
          <p:cNvSpPr txBox="1"/>
          <p:nvPr/>
        </p:nvSpPr>
        <p:spPr>
          <a:xfrm>
            <a:off x="9281160" y="32004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200" b="1">
                <a:solidFill>
                  <a:srgbClr val="F3F7FA"/>
                </a:solidFill>
                <a:latin typeface="Aptos"/>
                <a:cs typeface="Aptos"/>
              </a:rPr>
              <a:t>Lazy clients = None</a:t>
            </a:r>
            <a:endParaRPr lang="en-US" sz="1200"/>
          </a:p>
        </p:txBody>
      </p:sp>
      <p:sp>
        <p:nvSpPr>
          <p:cNvPr id="60" name="Shape 60"/>
          <p:cNvSpPr/>
          <p:nvPr/>
        </p:nvSpPr>
        <p:spPr>
          <a:xfrm>
            <a:off x="685800" y="4114800"/>
            <a:ext cx="10789920" cy="123444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61" name="Shape 61"/>
          <p:cNvSpPr/>
          <p:nvPr/>
        </p:nvSpPr>
        <p:spPr>
          <a:xfrm>
            <a:off x="685800" y="4114800"/>
            <a:ext cx="54864" cy="1234440"/>
          </a:xfrm>
          <a:prstGeom prst="roundRect">
            <a:avLst/>
          </a:prstGeom>
          <a:solidFill>
            <a:srgbClr val="FF8A8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62" name="Text 62"/>
          <p:cNvSpPr txBox="1"/>
          <p:nvPr/>
        </p:nvSpPr>
        <p:spPr>
          <a:xfrm>
            <a:off x="832104" y="4224528"/>
            <a:ext cx="105156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8A8A"/>
                </a:solidFill>
                <a:latin typeface="Aptos"/>
                <a:cs typeface="Aptos"/>
              </a:rPr>
              <a:t>Important consequence</a:t>
            </a:r>
            <a:endParaRPr lang="en-US" sz="1300"/>
          </a:p>
        </p:txBody>
      </p:sp>
      <p:sp>
        <p:nvSpPr>
          <p:cNvPr id="63" name="Text 63"/>
          <p:cNvSpPr txBox="1"/>
          <p:nvPr/>
        </p:nvSpPr>
        <p:spPr>
          <a:xfrm>
            <a:off x="813816" y="4553712"/>
            <a:ext cx="10533888" cy="70408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500" b="0">
                <a:solidFill>
                  <a:srgbClr val="F3F7FA"/>
                </a:solidFill>
                <a:latin typeface="Aptos"/>
                <a:cs typeface="Aptos"/>
              </a:rPr>
              <a:t>A G1 instance immediately opens DDS subscriptions. It may fail before any explicit action if the interface, SDK, message types, or robot-side DDS environment are unavailable.</a:t>
            </a:r>
            <a:endParaRPr lang="en-US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110–117, 592–642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Factory and lazy-client discipline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The wrapper protects global DDS initialization and caches SDK clients per G1 instance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08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417320"/>
            <a:ext cx="5303520" cy="4389120"/>
          </a:xfrm>
          <a:prstGeom prst="roundRect">
            <a:avLst/>
          </a:prstGeom>
          <a:solidFill>
            <a:srgbClr val="0B111B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417320"/>
            <a:ext cx="54864" cy="438912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52704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_ensure_factory(domain_id, iface)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56232"/>
            <a:ext cx="5047488" cy="385876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>cfg = (int(domain_id), str(iface))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>First call: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>ChannelFactoryInitialize(domain, iface)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>Later call with same cfg: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>allowed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>Later call with different cfg: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>RuntimeError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6080760" y="1417320"/>
            <a:ext cx="5486400" cy="438912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080760" y="1417320"/>
            <a:ext cx="54864" cy="438912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6227064" y="1527048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Lazy accessors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6208776" y="1856232"/>
            <a:ext cx="5230368" cy="385876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_motion_client()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_audio_client()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_arm_action_client()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_video_client()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_slam_client()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_lowcmd_client()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_arm_sdk_client()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_dex3_hand(side)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Each creates, configures, initializes,
and caches exactly once.</a:t>
            </a:r>
            <a:endParaRPr 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584–621, 165–199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Compatibility strategy: dynamic imports and tolerant reads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The code is designed to survive SDK/message-layout variation across Unitree robot families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09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417320"/>
            <a:ext cx="3474720" cy="434340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417320"/>
            <a:ext cx="54864" cy="434340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52704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_load_type()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56232"/>
            <a:ext cx="3218687" cy="381304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Try primary module.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If the requested type is missing,
try fallback module.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Else raise RuntimeError.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Used for LowState_.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4187952" y="1417320"/>
            <a:ext cx="3474720" cy="434340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187952" y="1417320"/>
            <a:ext cx="54864" cy="434340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334256" y="152704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importlib fallbacks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315968" y="1856232"/>
            <a:ext cx="3218687" cy="381304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RobotStateClient: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b2 → go2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VideoClient: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g1 → go2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This keeps the wrapper usable
with multiple SDK layouts.</a:t>
            </a:r>
            <a:endParaRPr lang="en-US" sz="1400"/>
          </a:p>
        </p:txBody>
      </p:sp>
      <p:sp>
        <p:nvSpPr>
          <p:cNvPr id="40" name="Shape 40"/>
          <p:cNvSpPr/>
          <p:nvPr/>
        </p:nvSpPr>
        <p:spPr>
          <a:xfrm>
            <a:off x="7827264" y="1417320"/>
            <a:ext cx="3749039" cy="434340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827264" y="1417320"/>
            <a:ext cx="54864" cy="434340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973568" y="1527048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_read(obj, name)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955280" y="1856232"/>
            <a:ext cx="3493007" cy="381304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Missing attribute → default.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Callable attribute → call it.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TypeError during call → return
callable itself.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The trade-off: fewer hard
crashes, but weaker type guarantees.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128–162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Input normalization helpers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Small helpers turn human/UI input into constrained SDK-ready values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10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274320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4805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_normalize_action()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2487168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lowercase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replace underscores with spaces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collapse whitespace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resolve aliases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“xray” → “x-ray”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“release” → “release arm”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3456432" y="2743200"/>
            <a:ext cx="3794760" cy="31089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3456432" y="2743200"/>
            <a:ext cx="54864" cy="31089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3602736" y="2852928"/>
            <a:ext cx="35204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_normalize_side() + _clamp_hand()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3584448" y="3182112"/>
            <a:ext cx="3538728" cy="25786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Accepts left / l / right / r.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Rejects anything else.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Each hand target is clamped
component-by-component
against HAND_MIN/MAX.</a:t>
            </a:r>
            <a:endParaRPr lang="en-US" sz="1400"/>
          </a:p>
        </p:txBody>
      </p:sp>
      <p:sp>
        <p:nvSpPr>
          <p:cNvPr id="40" name="Shape 40"/>
          <p:cNvSpPr/>
          <p:nvPr/>
        </p:nvSpPr>
        <p:spPr>
          <a:xfrm>
            <a:off x="7424927" y="1371600"/>
            <a:ext cx="41605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424927" y="1371600"/>
            <a:ext cx="54864" cy="448056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571231" y="1481328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Color pipeline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552944" y="1810512"/>
            <a:ext cx="39044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_parse_color: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name → RGB tuple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#RRGGBB → RGB tuple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R,G,B → RGB tuple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reject invalid input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_scale_color: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intensity 0–100 → linear RGB scaling</a:t>
            </a:r>
            <a:endParaRPr 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120–225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Parsing and small data adapters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These helpers normalize RPC responses, message objects, poses, vectors, and joint limits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11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53312"/>
            <a:ext cx="347472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53312"/>
            <a:ext cx="54864" cy="452628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63040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_rpc_get_int()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792224"/>
            <a:ext cx="3218687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Calls private Client._Call(api_id, "{}")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Requires code == 0 and data.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JSON → data → int.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Failure → None.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Used for FSM id / mode.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4187952" y="1353312"/>
            <a:ext cx="347472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187952" y="1353312"/>
            <a:ext cx="54864" cy="452628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334256" y="1463040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_mode_name / _vector3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315968" y="1792224"/>
            <a:ext cx="3218687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_mode_name finds first non-empty
name, mode, or alias.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_vector3 safely converts the
first three values to floats.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Both return empty/None instead
of raising on malformed data.</a:t>
            </a:r>
            <a:endParaRPr lang="en-US" sz="1400"/>
          </a:p>
        </p:txBody>
      </p:sp>
      <p:sp>
        <p:nvSpPr>
          <p:cNvPr id="40" name="Shape 40"/>
          <p:cNvSpPr/>
          <p:nvPr/>
        </p:nvSpPr>
        <p:spPr>
          <a:xfrm>
            <a:off x="7827264" y="1353312"/>
            <a:ext cx="3749039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827264" y="1353312"/>
            <a:ext cx="54864" cy="452628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973568" y="1463040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_clamp_arm_q()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955280" y="1792224"/>
            <a:ext cx="3493007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If JOINT_LIMITS unavailable: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return q unchanged.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Otherwise: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build lower/upper arrays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np.clip(q, lo, hi)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The ArmIK path relies on this.</a:t>
            </a:r>
            <a:endParaRPr 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202–328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Pose math: rotations and SLAM pose parsing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The wrapper uses NumPy 3×3 rotations and converts SLAM quaternion payloads into x, y, yaw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12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3474720" cy="443484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43484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_rot_x / _rot_y / _rot_z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3218687" cy="3904487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Each returns a float64 3×3
rotation matrix.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_ROT_BY_AXIS = (Rx, Ry, Rz)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ik_move_ee left-multiplies
selected rotations onto the
current end-effector frame.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4187952" y="1371600"/>
            <a:ext cx="3474720" cy="443484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187952" y="1371600"/>
            <a:ext cx="54864" cy="443484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334256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_parse_slam_pose()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315968" y="1810512"/>
            <a:ext cx="3218687" cy="3904487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JSON decode.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Require dict + errorCode == 0.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Read currentPose x/y/z.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Quaternion → yaw, or use yaw.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Reject an all-zero pose.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Returns (x, y, yaw).</a:t>
            </a:r>
            <a:endParaRPr lang="en-US" sz="1400"/>
          </a:p>
        </p:txBody>
      </p:sp>
      <p:sp>
        <p:nvSpPr>
          <p:cNvPr id="40" name="Shape 40"/>
          <p:cNvSpPr/>
          <p:nvPr/>
        </p:nvSpPr>
        <p:spPr>
          <a:xfrm>
            <a:off x="7827264" y="1371600"/>
            <a:ext cx="3749039" cy="4434840"/>
          </a:xfrm>
          <a:prstGeom prst="roundRect">
            <a:avLst/>
          </a:prstGeom>
          <a:solidFill>
            <a:srgbClr val="0B111B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827264" y="1371600"/>
            <a:ext cx="54864" cy="443484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973568" y="1481328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Quaternion yaw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955280" y="1810512"/>
            <a:ext cx="3493007" cy="3904487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>yaw = atan2(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>  2(qw·qz + qx·qy),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>  1 − 2(qy² + qz²)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>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>This intentionally keeps only
planar heading for navigation.</a:t>
            </a:r>
            <a:endParaRPr 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228–297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The DLS position solver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Position-only arm motion holds wrist joints fixed and solves shoulder/elbow with damped least squares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13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4805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Inputs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ArmFK solver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side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target_T (4×4 pose)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q_init (7 arm joints)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optional selected_axis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Active joints = 0,1,2,3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4187952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187952" y="1371600"/>
            <a:ext cx="54864" cy="44805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334256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Iteration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315968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1. Compute current FK.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2. position error = target − current.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3. Finite-difference J (3×4).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4. Solve Jᵀ(JJᵀ+λ²I)⁻¹e.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5. Limit Δq norm to 0.3.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6. Clamp joint limits.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7. Restore q[4:] from q_init.</a:t>
            </a:r>
            <a:endParaRPr lang="en-US" sz="1300"/>
          </a:p>
        </p:txBody>
      </p:sp>
      <p:sp>
        <p:nvSpPr>
          <p:cNvPr id="40" name="Shape 40"/>
          <p:cNvSpPr/>
          <p:nvPr/>
        </p:nvSpPr>
        <p:spPr>
          <a:xfrm>
            <a:off x="7827264" y="1371600"/>
            <a:ext cx="3749039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827264" y="1371600"/>
            <a:ext cx="54864" cy="448056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973568" y="1481328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Success rules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955280" y="1810512"/>
            <a:ext cx="349300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Immediate success: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‖e‖ &lt; 0.005 m.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After 64 iterations: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selected axis error &lt; 0.006 m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and total error &lt; 0.040 m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→ pos_axis_clamped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Else → None + diagnostics.</a:t>
            </a:r>
            <a:endParaRPr 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331–485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Private support classes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Five small classes hide recurring DDS publishing, latest-value storage, threading, and RPC details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14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53312"/>
            <a:ext cx="274320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53312"/>
            <a:ext cx="54864" cy="452628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63040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_Latest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792224"/>
            <a:ext cx="2487168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Subscriber + callback.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Stores msg and timestamp.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get() → (msg, ts).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Used for every telemetry stream.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3456432" y="1353312"/>
            <a:ext cx="379476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3456432" y="1353312"/>
            <a:ext cx="54864" cy="452628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3602736" y="1463040"/>
            <a:ext cx="35204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_HeadlightThread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3584448" y="1792224"/>
            <a:ext cx="3538728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Daemon = False.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Repeats LedControl(rgb) until duration.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Stop event interrupts waits.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Non-zero code stops loop.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Finally sends RGB (0,0,0).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set_headlight owns lifecycle.</a:t>
            </a:r>
            <a:endParaRPr lang="en-US" sz="1400"/>
          </a:p>
        </p:txBody>
      </p:sp>
      <p:sp>
        <p:nvSpPr>
          <p:cNvPr id="40" name="Shape 40"/>
          <p:cNvSpPr/>
          <p:nvPr/>
        </p:nvSpPr>
        <p:spPr>
          <a:xfrm>
            <a:off x="7424927" y="1353312"/>
            <a:ext cx="416052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424927" y="1353312"/>
            <a:ext cx="54864" cy="452628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571231" y="1463040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_Dex3 / _LowCmd / _ArmSdk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552944" y="1792224"/>
            <a:ext cx="3904487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Dex3: 7-joint hand commands + sensor snapshots.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LowCmd: rt/lowcmd, 29 joints, CRC.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ArmSdk: rt/arm_sdk, sparse targets, weight at motor 29.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All publish SDK message objects,
not plain Python arrays.</a:t>
            </a:r>
            <a:endParaRPr lang="en-US"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373–457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Low-level command paths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There are two body-command publishers plus a separate Dex3 hand publisher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15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89888"/>
            <a:ext cx="3474720" cy="443484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89888"/>
            <a:ext cx="54864" cy="443484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99616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rt/lowcmd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28800"/>
            <a:ext cx="3218687" cy="3904487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_LowCmd.write(q, mode_machine, ...)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Writes all 29 body joints.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Default kp/kd arrays.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Sets mode = 1.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Computes CRC before Write().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Used by move_ll_joint(..., arm_sdk=False).</a:t>
            </a:r>
            <a:endParaRPr lang="en-US" sz="1300"/>
          </a:p>
        </p:txBody>
      </p:sp>
      <p:sp>
        <p:nvSpPr>
          <p:cNvPr id="30" name="Shape 30"/>
          <p:cNvSpPr/>
          <p:nvPr/>
        </p:nvSpPr>
        <p:spPr>
          <a:xfrm>
            <a:off x="4187952" y="1389888"/>
            <a:ext cx="3474720" cy="443484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187952" y="1389888"/>
            <a:ext cx="54864" cy="443484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334256" y="1499616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rt/arm_sdk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315968" y="1828800"/>
            <a:ext cx="3218687" cy="3904487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_ArmSdk.write(targets, weight, ...)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Writes only supplied joint IDs.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Optional waist-specific gains.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motor_cmd[29].q = weight.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CRC before Write().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Used for upper-body ramps and IK.</a:t>
            </a:r>
            <a:endParaRPr lang="en-US" sz="1300"/>
          </a:p>
        </p:txBody>
      </p:sp>
      <p:sp>
        <p:nvSpPr>
          <p:cNvPr id="40" name="Shape 40"/>
          <p:cNvSpPr/>
          <p:nvPr/>
        </p:nvSpPr>
        <p:spPr>
          <a:xfrm>
            <a:off x="7827264" y="1389888"/>
            <a:ext cx="3749039" cy="443484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827264" y="1389888"/>
            <a:ext cx="54864" cy="443484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973568" y="1499616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rt/dex3/*/cmd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955280" y="1828800"/>
            <a:ext cx="3493007" cy="3904487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_Dex3._write(targets)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7 target positions.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mode = (i &amp; 0x0F) | (1 &lt;&lt; 4)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q, dq, tau, kp, kd.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move() repeats writes at a
configured rate for hold_s.</a:t>
            </a:r>
            <a:endParaRPr lang="en-US"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460–514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SLAM RPC and Inspire Modbus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Two network protocols sit beside DDS: JSON RPC for SLAM and binary Modbus/TCP for Inspire hands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16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53035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4805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_SlamClient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5047488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Client("slam_operate", False)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Registers APIs 1801, 1802, 1804, 1102, 1901.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Version = 1.0.0.1.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start_mapping → 1801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stop_mapping → 1802 or 1901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init_pose → 1804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pose_nav → 1102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All payloads are JSON with data.</a:t>
            </a:r>
            <a:endParaRPr lang="en-US" sz="1300"/>
          </a:p>
        </p:txBody>
      </p:sp>
      <p:sp>
        <p:nvSpPr>
          <p:cNvPr id="30" name="Shape 30"/>
          <p:cNvSpPr/>
          <p:nvPr/>
        </p:nvSpPr>
        <p:spPr>
          <a:xfrm>
            <a:off x="6080760" y="1371600"/>
            <a:ext cx="548640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080760" y="1371600"/>
            <a:ext cx="54864" cy="44805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6227064" y="1481328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_modbus_move()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6208776" y="1810512"/>
            <a:ext cx="5230368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Connect host:port with timeout.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Build MBAP header + PDU.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Function 6: select/control register.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Function 16: write six registers.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Preset 1522 and 1498 to 200.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Write values to 1486.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Raise on exception response.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Always close socket.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Addresses are hard-coded per robot setup.</a:t>
            </a:r>
            <a:endParaRPr lang="en-US" sz="1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517–642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G1 object: one stateful façade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The constructor establishes shared resources; methods then expose capability-specific operations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17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89888"/>
            <a:ext cx="2743200" cy="443484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89888"/>
            <a:ext cx="54864" cy="443484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99616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Cached state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28800"/>
            <a:ext cx="2487168" cy="3904487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_path_points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_last_slam_pose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_initial_slam_pose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_gait_override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_slam_map_path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_headlight_thread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_dex3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_arm_fk / _arm_ik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3456432" y="1389888"/>
            <a:ext cx="3794760" cy="443484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3456432" y="1389888"/>
            <a:ext cx="54864" cy="443484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3602736" y="1499616"/>
            <a:ext cx="35204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Cached clients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3584448" y="1828800"/>
            <a:ext cx="3538728" cy="3904487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_client = LocoClient()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motion / robot_state / audio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arm_action / video / slam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lowcmd / arm_sdk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All are initialized only when
the corresponding feature is used.</a:t>
            </a:r>
            <a:endParaRPr lang="en-US" sz="1400"/>
          </a:p>
        </p:txBody>
      </p:sp>
      <p:sp>
        <p:nvSpPr>
          <p:cNvPr id="40" name="Shape 40"/>
          <p:cNvSpPr/>
          <p:nvPr/>
        </p:nvSpPr>
        <p:spPr>
          <a:xfrm>
            <a:off x="7424927" y="1389888"/>
            <a:ext cx="4160520" cy="443484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424927" y="1389888"/>
            <a:ext cx="54864" cy="443484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571231" y="1499616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Telemetry subscriptions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552944" y="1828800"/>
            <a:ext cx="3904487" cy="3904487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lowstate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sport + sport_alt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odom + slam odom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clouds + slam info/key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audio message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BMS topic/type combinations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The wrapper owns the latest
message cache, not history.</a:t>
            </a:r>
            <a:endParaRPr lang="en-US"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642–1388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Public API map: 72 methods in groups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The method surface is broad, but the responsibilities cluster cleanly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18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25880"/>
            <a:ext cx="2743200" cy="461772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25880"/>
            <a:ext cx="54864" cy="461772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35607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Status &amp; modes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764792"/>
            <a:ext cx="2487168" cy="408736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get_state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get_service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toggle_service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zero/damp/prepare/walk/run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toggle_dev_mode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get_gait / toggle_gait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get_lowstate</a:t>
            </a:r>
            <a:endParaRPr lang="en-US" sz="1300"/>
          </a:p>
        </p:txBody>
      </p:sp>
      <p:sp>
        <p:nvSpPr>
          <p:cNvPr id="30" name="Shape 30"/>
          <p:cNvSpPr/>
          <p:nvPr/>
        </p:nvSpPr>
        <p:spPr>
          <a:xfrm>
            <a:off x="3456432" y="1325880"/>
            <a:ext cx="3794760" cy="461772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3456432" y="1325880"/>
            <a:ext cx="54864" cy="461772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3602736" y="1435607"/>
            <a:ext cx="35204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Motion &amp; sensing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3584448" y="1764792"/>
            <a:ext cx="3538728" cy="408736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loco_move / loco_stop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get_odom / get_imus / get_battery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get_rgbd / get_point_cloud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get_slam_info / get_mic_input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move_ll_joint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say / set_headlight</a:t>
            </a:r>
            <a:endParaRPr lang="en-US" sz="1300"/>
          </a:p>
        </p:txBody>
      </p:sp>
      <p:sp>
        <p:nvSpPr>
          <p:cNvPr id="40" name="Shape 40"/>
          <p:cNvSpPr/>
          <p:nvPr/>
        </p:nvSpPr>
        <p:spPr>
          <a:xfrm>
            <a:off x="7424927" y="1325880"/>
            <a:ext cx="4160520" cy="461772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424927" y="1325880"/>
            <a:ext cx="54864" cy="461772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571231" y="1435607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Arms, hands &amp; navigation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552944" y="1764792"/>
            <a:ext cx="3904487" cy="408736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release/engage_arms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open/close Dex3 + sensors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open/close Inspire + sensors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start/stop mapping / relocate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add_map_pose / navigate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gesture actions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ik_move_ee / extend_arm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teach / repeat (not implemented)</a:t>
            </a:r>
            <a:endParaRPr lang="en-US" sz="1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725–789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State and service management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get_state composes a dashboard-ready snapshot from several lower-level APIs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19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53035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4805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get_state()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5047488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Returns: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id / mode from private RPC calls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motion_mode + motion_code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gait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battery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lowstate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services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slam_info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This is a fan-out call: one failure
from a nested method can fail the whole snapshot.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6080760" y="1371600"/>
            <a:ext cx="548640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080760" y="1371600"/>
            <a:ext cx="54864" cy="44805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6227064" y="1481328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get_service() / toggle_service()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6208776" y="1810512"/>
            <a:ext cx="5230368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Service catalog: ai_sport, basic_service, g1_arm_example, vui_service, unitree_slam.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get_service: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SDK ServiceList if available; otherwise catalog rows with unknown status.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toggle_service: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status != 0 → enabled=True, then ServiceSwitch(name, enabled).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Returns previous status, requested enabled state, code.</a:t>
            </a:r>
            <a:endParaRPr lang="en-US"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790–858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FSM modes and gait control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These methods issue motion-control RPCs and use fallback strategies when SDK methods differ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20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4805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Direct FSM methods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zero_torque_mode() → SetFsmId(0)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damp_mode() → SetFsmId(1)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prepare_mode() → SetFsmId(4)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walk_mode() → SetFsmId(501)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run_mode() → SetFsmId(802)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4187952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187952" y="1371600"/>
            <a:ext cx="54864" cy="44805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334256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get_gait()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315968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Prefer sport message fields: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gait_type, gaitType, gait.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If SDK reports 0 but a local
override exists, return override.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No message → override or None.</a:t>
            </a:r>
            <a:endParaRPr lang="en-US" sz="1400"/>
          </a:p>
        </p:txBody>
      </p:sp>
      <p:sp>
        <p:nvSpPr>
          <p:cNvPr id="40" name="Shape 40"/>
          <p:cNvSpPr/>
          <p:nvPr/>
        </p:nvSpPr>
        <p:spPr>
          <a:xfrm>
            <a:off x="7827264" y="1371600"/>
            <a:ext cx="3749039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827264" y="1371600"/>
            <a:ext cx="54864" cy="448056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973568" y="1481328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toggle_gait()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955280" y="1810512"/>
            <a:ext cx="349300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Enable: try SetBalanceMode(1), then SetGaitType(1).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Disable: try BalanceStand(0), setters(0), SetFsmId(walk).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Returns codes from attempts.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Override updates only after success.</a:t>
            </a:r>
            <a:endParaRPr lang="en-US" sz="13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859–1010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Lowstate, odometry, IMU, and battery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Telemetry methods prefer the freshest/most compatible source and preserve raw SDK messages where useful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21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53312"/>
            <a:ext cx="274320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53312"/>
            <a:ext cx="54864" cy="452628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63040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get_lowstate()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792224"/>
            <a:ext cx="2487168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29+ motor positions q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velocities dq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estimated torques tau_est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IMU rpy / gyro / acc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raw message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None until rt/lowstate arrives.</a:t>
            </a:r>
            <a:endParaRPr lang="en-US" sz="1300"/>
          </a:p>
        </p:txBody>
      </p:sp>
      <p:sp>
        <p:nvSpPr>
          <p:cNvPr id="30" name="Shape 30"/>
          <p:cNvSpPr/>
          <p:nvPr/>
        </p:nvSpPr>
        <p:spPr>
          <a:xfrm>
            <a:off x="3456432" y="1353312"/>
            <a:ext cx="379476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3456432" y="1353312"/>
            <a:ext cx="54864" cy="452628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3602736" y="1463040"/>
            <a:ext cx="35204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get_odom() / get_imus()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3584448" y="1792224"/>
            <a:ext cx="3538728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Odometry preference: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sport state → rt/odom → SLAM odom.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get_imus accepts lowstate or sport: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rpy, gyro, acc, quaternion, temp.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Malformed fields become None rather
than stopping telemetry.</a:t>
            </a:r>
            <a:endParaRPr lang="en-US" sz="1300"/>
          </a:p>
        </p:txBody>
      </p:sp>
      <p:sp>
        <p:nvSpPr>
          <p:cNvPr id="40" name="Shape 40"/>
          <p:cNvSpPr/>
          <p:nvPr/>
        </p:nvSpPr>
        <p:spPr>
          <a:xfrm>
            <a:off x="7424927" y="1353312"/>
            <a:ext cx="416052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424927" y="1353312"/>
            <a:ext cx="54864" cy="452628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571231" y="1463040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get_battery()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552944" y="1792224"/>
            <a:ext cx="3904487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Scan BMS topic/type pairs.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Accept only messages ≤3 s old.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Return BMS fields if found.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Fallback to LowState: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power_v / power_a / bit_flag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battery_timeout = bit 0x10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BMS subset</a:t>
            </a:r>
            <a:endParaRPr lang="en-US" sz="1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908–932, 1008–1027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Locomotion and arm handoff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Motion calls are deliberately bounded; arm control uses smooth weight ramps to hand off ownership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22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4805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loco_move(vx, vy, vyaw, duration)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Move(..., continous_move=True)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Sleep for duration.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finally: loco_stop().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Returns the initial SDK code.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A typo in the SDK keyword
“continous_move” is preserved.</a:t>
            </a:r>
            <a:endParaRPr lang="en-US" sz="1300"/>
          </a:p>
        </p:txBody>
      </p:sp>
      <p:sp>
        <p:nvSpPr>
          <p:cNvPr id="30" name="Shape 30"/>
          <p:cNvSpPr/>
          <p:nvPr/>
        </p:nvSpPr>
        <p:spPr>
          <a:xfrm>
            <a:off x="4187952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187952" y="1371600"/>
            <a:ext cx="54864" cy="44805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334256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loco_stop()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315968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Prefer StopMove().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Fallback: Move(0,0,0,
continous_move=False).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Use this as the safety stop
for timed locomotion.</a:t>
            </a:r>
            <a:endParaRPr lang="en-US" sz="1400"/>
          </a:p>
        </p:txBody>
      </p:sp>
      <p:sp>
        <p:nvSpPr>
          <p:cNvPr id="40" name="Shape 40"/>
          <p:cNvSpPr/>
          <p:nvPr/>
        </p:nvSpPr>
        <p:spPr>
          <a:xfrm>
            <a:off x="7827264" y="1371600"/>
            <a:ext cx="3749039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827264" y="1371600"/>
            <a:ext cx="54864" cy="448056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973568" y="1481328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release / engage arms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955280" y="1810512"/>
            <a:ext cx="349300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Read current upper-body pose.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Publish through rt/arm_sdk.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Release: 151 frames, weight 1→0.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Engage: 51 frames, weight 0→1.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Smoothstep ramp: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r²(3−2r)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Waist gains are stronger.</a:t>
            </a:r>
            <a:endParaRPr lang="en-US" sz="13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885–907, 933–1007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Audio output and headlight control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Audio combines local TTS conversion with robot audio playback; lighting uses a timed background thread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23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53035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4805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say(text, language, volume)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5047488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Find Piper from env or PATH.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Resolve language alias to model name.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Require ~/.local/share/piper/...onnx.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Generate temporary WAV.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Convert stereo → mono.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Convert sample width → 16-bit.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Resample → 16 kHz.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Set robot volume + PlayStream().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Returns audio RPC code.</a:t>
            </a:r>
            <a:endParaRPr lang="en-US" sz="1300"/>
          </a:p>
        </p:txBody>
      </p:sp>
      <p:sp>
        <p:nvSpPr>
          <p:cNvPr id="30" name="Shape 30"/>
          <p:cNvSpPr/>
          <p:nvPr/>
        </p:nvSpPr>
        <p:spPr>
          <a:xfrm>
            <a:off x="6080760" y="1371600"/>
            <a:ext cx="548640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080760" y="1371600"/>
            <a:ext cx="54864" cy="44805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6227064" y="1481328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set_headlight(color, intensity, duration)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6208776" y="1810512"/>
            <a:ext cx="5230368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Parse and scale RGB.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Stop and join previous light thread.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Immediate LedControl(rgb).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If duration &gt; 0, start _HeadlightThread.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Thread repeats every 0.2 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On exit: LedControl(0,0,0).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Potential blocking point: join() waits
for the previous thread to finish.</a:t>
            </a:r>
            <a:endParaRPr lang="en-US" sz="1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1012–1077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Camera and point-cloud paths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Vision data is decoded from a local ZeroMQ stream or from DDS PointCloud2 messages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24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53035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4805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get_rgbd()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5047488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Try endpoints in order: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tcp://0.0.0.0:5555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tcp://127.0.0.1:5555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tcp://localhost:5555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SUB socket receives multipart: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RGB JPEG • depth PNG • scale.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Reject packets with &lt;3 parts.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Last exception is re-raised.</a:t>
            </a:r>
            <a:endParaRPr lang="en-US" sz="1300"/>
          </a:p>
        </p:txBody>
      </p:sp>
      <p:sp>
        <p:nvSpPr>
          <p:cNvPr id="30" name="Shape 30"/>
          <p:cNvSpPr/>
          <p:nvPr/>
        </p:nvSpPr>
        <p:spPr>
          <a:xfrm>
            <a:off x="6080760" y="1371600"/>
            <a:ext cx="548640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080760" y="1371600"/>
            <a:ext cx="54864" cy="448056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6227064" y="1481328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get_point_cloud()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6208776" y="1810512"/>
            <a:ext cx="5230368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Choose newest of four cloud topics.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Map fields x/y/z to offsets.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Compute point count from width × height.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Downsample to at most 20,000 points.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Unpack little-endian float32.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Discard non-finite values.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Returns list of {x,y,z} dicts;
empty list on malformed message.</a:t>
            </a:r>
            <a:endParaRPr lang="en-US" sz="13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1110–1150, 373–410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Dex3 hand API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Dex3 is a DDS position controller with sensor snapshots and graceful per-hand error results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25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4805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open / close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hand = left, right, or both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Move fixed HAND_OPEN/CLOSED pose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Default hold = 0.6 s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Default rate = 50 Hz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Both returns a dict by side.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One side returns one result.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4187952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187952" y="1371600"/>
            <a:ext cx="54864" cy="44805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334256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get_dex3_hand_sensors()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315968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Snapshot latest HandState_.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Positions q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Velocities dq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Estimated torques tau_est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Tactile pressures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Tactile temperatures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Lost flags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No state → “hand not detected”.</a:t>
            </a:r>
            <a:endParaRPr lang="en-US" sz="1300"/>
          </a:p>
        </p:txBody>
      </p:sp>
      <p:sp>
        <p:nvSpPr>
          <p:cNvPr id="40" name="Shape 40"/>
          <p:cNvSpPr/>
          <p:nvPr/>
        </p:nvSpPr>
        <p:spPr>
          <a:xfrm>
            <a:off x="7827264" y="1371600"/>
            <a:ext cx="3749039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827264" y="1371600"/>
            <a:ext cx="54864" cy="448056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973568" y="1481328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Error contract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955280" y="1810512"/>
            <a:ext cx="349300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_hand_error returns: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{hand, ok: False, action, error}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Exceptions are caught per side.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One faulty hand does not hide
the other hand result.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This is useful for dashboards.</a:t>
            </a:r>
            <a:endParaRPr lang="en-US"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1152–1192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Inspire hand API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Inspire controls are isolated behind fixed IPs and a small Modbus/TCP register sequence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26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4805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Configuration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right → 192.168.123.210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left → 192.168.123.211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port = 6000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unit_id = 1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Six-register OPEN and CLOSE
arrays are constants.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4187952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187952" y="1371600"/>
            <a:ext cx="54864" cy="44805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334256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open / close flow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315968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Normalize sides.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For each side: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lookup host/port/unit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call _modbus_move(values)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return success or _hand_error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Default hand = both.</a:t>
            </a:r>
            <a:endParaRPr lang="en-US" sz="1400"/>
          </a:p>
        </p:txBody>
      </p:sp>
      <p:sp>
        <p:nvSpPr>
          <p:cNvPr id="40" name="Shape 40"/>
          <p:cNvSpPr/>
          <p:nvPr/>
        </p:nvSpPr>
        <p:spPr>
          <a:xfrm>
            <a:off x="7827264" y="1371600"/>
            <a:ext cx="3749039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827264" y="1371600"/>
            <a:ext cx="54864" cy="448056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973568" y="1481328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Sensors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955280" y="1810512"/>
            <a:ext cx="349300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get_inspire_hand_sensors()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always returns “hand not detected”.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It is an explicit stub, not a
transport implementation.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teach() and repeat() are also
explicitly unimplemented.</a:t>
            </a:r>
            <a:endParaRPr lang="en-US"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1194–1246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SLAM lifecycle and path queue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Navigation is stateful: poses are remembered, queued, and then sent one by one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27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685800" y="1600200"/>
            <a:ext cx="2194560" cy="214884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1600200"/>
            <a:ext cx="54864" cy="214884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832104" y="1709928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start_mapping()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813816" y="2039112"/>
            <a:ext cx="1938528" cy="161848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save current pose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call API 1801</a:t>
            </a:r>
            <a:endParaRPr lang="en-US" sz="1400"/>
          </a:p>
        </p:txBody>
      </p:sp>
      <p:cxnSp>
        <p:nvCxnSpPr>
          <p:cNvPr id="60" name="Connector 60"/>
          <p:cNvCxnSpPr/>
          <p:nvPr/>
        </p:nvCxnSpPr>
        <p:spPr>
          <a:xfrm>
            <a:off x="2898648" y="2670048"/>
            <a:ext cx="512064" cy="0"/>
          </a:xfrm>
          <a:prstGeom prst="line">
            <a:avLst/>
          </a:prstGeom>
          <a:ln w="25400">
            <a:solidFill>
              <a:srgbClr val="A9B7C6"/>
            </a:solidFill>
            <a:tailEnd type="none"/>
            <a:headEnd type="none"/>
          </a:ln>
        </p:spPr>
      </p:cxnSp>
      <p:sp>
        <p:nvSpPr>
          <p:cNvPr id="24" name="Shape 24"/>
          <p:cNvSpPr/>
          <p:nvPr/>
        </p:nvSpPr>
        <p:spPr>
          <a:xfrm>
            <a:off x="3474720" y="1600200"/>
            <a:ext cx="2194560" cy="214884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3474720" y="1600200"/>
            <a:ext cx="54864" cy="214884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3621024" y="1709928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add_map_pose()</a:t>
            </a:r>
            <a:endParaRPr lang="en-US" sz="1300"/>
          </a:p>
        </p:txBody>
      </p:sp>
      <p:sp>
        <p:nvSpPr>
          <p:cNvPr id="27" name="Text 27"/>
          <p:cNvSpPr txBox="1"/>
          <p:nvPr/>
        </p:nvSpPr>
        <p:spPr>
          <a:xfrm>
            <a:off x="3602736" y="2039112"/>
            <a:ext cx="1938528" cy="161848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capture current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(x,y,yaw)</a:t>
            </a:r>
            <a:endParaRPr lang="en-US" sz="1400"/>
          </a:p>
        </p:txBody>
      </p:sp>
      <p:cxnSp>
        <p:nvCxnSpPr>
          <p:cNvPr id="61" name="Connector 61"/>
          <p:cNvCxnSpPr/>
          <p:nvPr/>
        </p:nvCxnSpPr>
        <p:spPr>
          <a:xfrm>
            <a:off x="5687568" y="2670048"/>
            <a:ext cx="512063" cy="0"/>
          </a:xfrm>
          <a:prstGeom prst="line">
            <a:avLst/>
          </a:prstGeom>
          <a:ln w="25400">
            <a:solidFill>
              <a:srgbClr val="A9B7C6"/>
            </a:solidFill>
            <a:tailEnd type="none"/>
            <a:headEnd type="none"/>
          </a:ln>
        </p:spPr>
      </p:cxnSp>
      <p:sp>
        <p:nvSpPr>
          <p:cNvPr id="28" name="Shape 28"/>
          <p:cNvSpPr/>
          <p:nvPr/>
        </p:nvSpPr>
        <p:spPr>
          <a:xfrm>
            <a:off x="6263640" y="1600200"/>
            <a:ext cx="2194560" cy="214884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9" name="Shape 29"/>
          <p:cNvSpPr/>
          <p:nvPr/>
        </p:nvSpPr>
        <p:spPr>
          <a:xfrm>
            <a:off x="6263640" y="1600200"/>
            <a:ext cx="54864" cy="214884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6409944" y="1709928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navigate()</a:t>
            </a:r>
            <a:endParaRPr lang="en-US" sz="1300"/>
          </a:p>
        </p:txBody>
      </p:sp>
      <p:sp>
        <p:nvSpPr>
          <p:cNvPr id="31" name="Text 31"/>
          <p:cNvSpPr txBox="1"/>
          <p:nvPr/>
        </p:nvSpPr>
        <p:spPr>
          <a:xfrm>
            <a:off x="6391655" y="2039112"/>
            <a:ext cx="1938528" cy="161848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send queued poses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API 1102</a:t>
            </a:r>
            <a:endParaRPr lang="en-US" sz="1400"/>
          </a:p>
        </p:txBody>
      </p:sp>
      <p:cxnSp>
        <p:nvCxnSpPr>
          <p:cNvPr id="62" name="Connector 62"/>
          <p:cNvCxnSpPr/>
          <p:nvPr/>
        </p:nvCxnSpPr>
        <p:spPr>
          <a:xfrm>
            <a:off x="8476488" y="2670048"/>
            <a:ext cx="512064" cy="0"/>
          </a:xfrm>
          <a:prstGeom prst="line">
            <a:avLst/>
          </a:prstGeom>
          <a:ln w="25400">
            <a:solidFill>
              <a:srgbClr val="A9B7C6"/>
            </a:solidFill>
            <a:tailEnd type="none"/>
            <a:headEnd type="none"/>
          </a:ln>
        </p:spPr>
      </p:cxnSp>
      <p:sp>
        <p:nvSpPr>
          <p:cNvPr id="32" name="Shape 32"/>
          <p:cNvSpPr/>
          <p:nvPr/>
        </p:nvSpPr>
        <p:spPr>
          <a:xfrm>
            <a:off x="9052559" y="1600200"/>
            <a:ext cx="2194560" cy="214884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9052559" y="1600200"/>
            <a:ext cx="54864" cy="2148840"/>
          </a:xfrm>
          <a:prstGeom prst="roundRect">
            <a:avLst/>
          </a:prstGeom>
          <a:solidFill>
            <a:srgbClr val="7BE495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9198863" y="1709928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7BE495"/>
                </a:solidFill>
                <a:latin typeface="Aptos"/>
                <a:cs typeface="Aptos"/>
              </a:rPr>
              <a:t>stop_mapping()</a:t>
            </a:r>
            <a:endParaRPr lang="en-US" sz="1300"/>
          </a:p>
        </p:txBody>
      </p:sp>
      <p:sp>
        <p:nvSpPr>
          <p:cNvPr id="35" name="Text 35"/>
          <p:cNvSpPr txBox="1"/>
          <p:nvPr/>
        </p:nvSpPr>
        <p:spPr>
          <a:xfrm>
            <a:off x="9180576" y="2039112"/>
            <a:ext cx="1938528" cy="161848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call API 1802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or 1901</a:t>
            </a:r>
            <a:endParaRPr lang="en-US" sz="1400"/>
          </a:p>
        </p:txBody>
      </p:sp>
      <p:sp>
        <p:nvSpPr>
          <p:cNvPr id="20" name="Shape 20"/>
          <p:cNvSpPr/>
          <p:nvPr/>
        </p:nvSpPr>
        <p:spPr>
          <a:xfrm>
            <a:off x="685800" y="4160520"/>
            <a:ext cx="10789920" cy="123444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4160520"/>
            <a:ext cx="54864" cy="123444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832104" y="4270248"/>
            <a:ext cx="105156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relocate()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813816" y="4599431"/>
            <a:ext cx="10533888" cy="70408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Uses current pose, last pose, initial pose, or (0,0,0); calls API 1804 with G1_SLAM_MAP_PATH (default /home/unitree/test.pcd). On success, updates the cached poses.</a:t>
            </a:r>
            <a:endParaRPr lang="en-US"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1248–1271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Microphone input and expressive gestures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The wrapper exposes audio messages as polling results and maps friendly gesture names to SDK action IDs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28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53035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4805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get_mic_input(duration_s, poll_s)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5047488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Poll latest rt/audio_msg.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Deduplicate by timestamp + raw text.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Try JSON decode.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Return timestamp, topic, raw, payload, text.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duration_s ≤ 0 → one immediate read.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duration_s &gt; 0 → poll until deadline.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6080760" y="1371600"/>
            <a:ext cx="548640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080760" y="1371600"/>
            <a:ext cx="54864" cy="44805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6227064" y="1481328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Gesture methods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6208776" y="1810512"/>
            <a:ext cx="5230368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clap() → “clap”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face_wave() → “face wave”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high_wave() → “high wave”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shake_hand() → action + release after 2 s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hug() → action + release after 2 s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left_kiss() → “left kiss”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_exec_arm_action accepts label or ID.</a:t>
            </a:r>
            <a:endParaRPr lang="en-US"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1079–1108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Single-joint low-level motion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move_ll_joint chooses between the arm SDK handoff path and the full-body lowcmd path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29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417320"/>
            <a:ext cx="5303520" cy="434340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417320"/>
            <a:ext cx="54864" cy="434340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52704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arm_sdk=True (default)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56232"/>
            <a:ext cx="5047488" cy="381304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Valid IDs: 12–28 only.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Read current upper-body pose.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Replace one joint target.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Publish sparse pose on rt/arm_sdk.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Waist gains: kp 480 / kd 12.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Returns {joint_id, arm_sdk: True}.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6080760" y="1417320"/>
            <a:ext cx="5486400" cy="434340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080760" y="1417320"/>
            <a:ext cx="54864" cy="434340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6227064" y="1527048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arm_sdk=False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6208776" y="1856232"/>
            <a:ext cx="5230368" cy="381304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Valid IDs: 0–28.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Wait for current q + mode_machine.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Replace one q in 29-joint vector.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Override kp/kd for selected joint.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Publish all joints to rt/lowcmd.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CRC applied by _LowCmd.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Returns topic = rt/lowcmd.</a:t>
            </a:r>
            <a:endParaRPr lang="en-US"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1273–1369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IK architecture: from pose increment to motor frames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ik_move_ee separates geometry, solving, limits, rate limiting, and command streaming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30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53312"/>
            <a:ext cx="214884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53312"/>
            <a:ext cx="54864" cy="452628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63040"/>
            <a:ext cx="18745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1. Input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792224"/>
            <a:ext cx="1892808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hand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delta_q / pose_increment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max_speed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max_dq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rate_hz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position_only</a:t>
            </a:r>
            <a:endParaRPr lang="en-US" sz="1300"/>
          </a:p>
        </p:txBody>
      </p:sp>
      <p:sp>
        <p:nvSpPr>
          <p:cNvPr id="30" name="Shape 30"/>
          <p:cNvSpPr/>
          <p:nvPr/>
        </p:nvSpPr>
        <p:spPr>
          <a:xfrm>
            <a:off x="2880360" y="1353312"/>
            <a:ext cx="214884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2880360" y="1353312"/>
            <a:ext cx="54864" cy="452628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3026664" y="1463040"/>
            <a:ext cx="18745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2. Target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3008376" y="1792224"/>
            <a:ext cx="1892808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current upper-body q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FK(q_init)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add dx/dy/dz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optional Rx/Ry/Rz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left-side sign rules</a:t>
            </a:r>
            <a:endParaRPr lang="en-US" sz="1300"/>
          </a:p>
        </p:txBody>
      </p:sp>
      <p:sp>
        <p:nvSpPr>
          <p:cNvPr id="40" name="Shape 40"/>
          <p:cNvSpPr/>
          <p:nvPr/>
        </p:nvSpPr>
        <p:spPr>
          <a:xfrm>
            <a:off x="5212080" y="1353312"/>
            <a:ext cx="214884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5212080" y="1353312"/>
            <a:ext cx="54864" cy="452628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5358384" y="1463040"/>
            <a:ext cx="18745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3. Solve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5340096" y="1792224"/>
            <a:ext cx="1892808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position-only DLS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or ArmIK DLS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joint limits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success diagnostics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None on failure</a:t>
            </a:r>
            <a:endParaRPr lang="en-US" sz="1300"/>
          </a:p>
        </p:txBody>
      </p:sp>
      <p:sp>
        <p:nvSpPr>
          <p:cNvPr id="50" name="Shape 50"/>
          <p:cNvSpPr/>
          <p:nvPr/>
        </p:nvSpPr>
        <p:spPr>
          <a:xfrm>
            <a:off x="7543800" y="1353312"/>
            <a:ext cx="214884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51" name="Shape 51"/>
          <p:cNvSpPr/>
          <p:nvPr/>
        </p:nvSpPr>
        <p:spPr>
          <a:xfrm>
            <a:off x="7543800" y="1353312"/>
            <a:ext cx="54864" cy="4526280"/>
          </a:xfrm>
          <a:prstGeom prst="roundRect">
            <a:avLst/>
          </a:prstGeom>
          <a:solidFill>
            <a:srgbClr val="7BE495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52" name="Text 52"/>
          <p:cNvSpPr txBox="1"/>
          <p:nvPr/>
        </p:nvSpPr>
        <p:spPr>
          <a:xfrm>
            <a:off x="7690104" y="1463040"/>
            <a:ext cx="18745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7BE495"/>
                </a:solidFill>
                <a:latin typeface="Aptos"/>
                <a:cs typeface="Aptos"/>
              </a:rPr>
              <a:t>4. Shape</a:t>
            </a:r>
            <a:endParaRPr lang="en-US" sz="1300"/>
          </a:p>
        </p:txBody>
      </p:sp>
      <p:sp>
        <p:nvSpPr>
          <p:cNvPr id="53" name="Text 53"/>
          <p:cNvSpPr txBox="1"/>
          <p:nvPr/>
        </p:nvSpPr>
        <p:spPr>
          <a:xfrm>
            <a:off x="7671816" y="1792224"/>
            <a:ext cx="1892808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clip Δq to max_dq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step limit = speed/rate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smoothstep ramp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final joint target</a:t>
            </a:r>
            <a:endParaRPr lang="en-US" sz="1300"/>
          </a:p>
        </p:txBody>
      </p:sp>
      <p:sp>
        <p:nvSpPr>
          <p:cNvPr id="60" name="Shape 60"/>
          <p:cNvSpPr/>
          <p:nvPr/>
        </p:nvSpPr>
        <p:spPr>
          <a:xfrm>
            <a:off x="9875520" y="1353312"/>
            <a:ext cx="169164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61" name="Shape 61"/>
          <p:cNvSpPr/>
          <p:nvPr/>
        </p:nvSpPr>
        <p:spPr>
          <a:xfrm>
            <a:off x="9875520" y="1353312"/>
            <a:ext cx="54864" cy="4526280"/>
          </a:xfrm>
          <a:prstGeom prst="roundRect">
            <a:avLst/>
          </a:prstGeom>
          <a:solidFill>
            <a:srgbClr val="FF8A8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62" name="Text 62"/>
          <p:cNvSpPr txBox="1"/>
          <p:nvPr/>
        </p:nvSpPr>
        <p:spPr>
          <a:xfrm>
            <a:off x="10021824" y="1463040"/>
            <a:ext cx="14173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8A8A"/>
                </a:solidFill>
                <a:latin typeface="Aptos"/>
                <a:cs typeface="Aptos"/>
              </a:rPr>
              <a:t>5. Write</a:t>
            </a:r>
            <a:endParaRPr lang="en-US" sz="1300"/>
          </a:p>
        </p:txBody>
      </p:sp>
      <p:sp>
        <p:nvSpPr>
          <p:cNvPr id="63" name="Text 63"/>
          <p:cNvSpPr txBox="1"/>
          <p:nvPr/>
        </p:nvSpPr>
        <p:spPr>
          <a:xfrm>
            <a:off x="10003536" y="1792224"/>
            <a:ext cx="1435608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rt/arm_sdk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kp/kd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sleep 1/rate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return pose + steps</a:t>
            </a:r>
            <a:endParaRPr lang="en-US" sz="13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1273–1369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ik_move_ee: detailed behavior and side conventions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The same API supports 3D translations, 6D increments, full IK, and a safer position-only mode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31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4805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Input normalization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delta_q is an alias for pose_increment.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3 values → append 3 zeros.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6 values expected: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[dx, dy, dz, droll, dpitch, dyaw].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Anything else raises ValueError.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4187952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187952" y="1371600"/>
            <a:ext cx="54864" cy="44805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334256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Left-hand signs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315968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Translation: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target y += dy for right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target y -= dy for left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Rotation: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roll and yaw invert for left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pitch always uses -dpitch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This encodes mirror symmetry.</a:t>
            </a:r>
            <a:endParaRPr lang="en-US" sz="1300"/>
          </a:p>
        </p:txBody>
      </p:sp>
      <p:sp>
        <p:nvSpPr>
          <p:cNvPr id="40" name="Shape 40"/>
          <p:cNvSpPr/>
          <p:nvPr/>
        </p:nvSpPr>
        <p:spPr>
          <a:xfrm>
            <a:off x="7827264" y="1371600"/>
            <a:ext cx="3749039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827264" y="1371600"/>
            <a:ext cx="54864" cy="448056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973568" y="1481328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Streaming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955280" y="1810512"/>
            <a:ext cx="349300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Δq = q_sol − q_init.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Clip each joint delta to max_dq.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Compute number of frames from max joint move.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Use smoothstep interpolation.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Publish at rate_hz.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Returns joint_targets, ee_pose,
ik info, steps.</a:t>
            </a:r>
            <a:endParaRPr lang="en-US" sz="1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1371–1384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extend_arm: repeated position-only motion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extend_arm is a convenience loop that decomposes one displacement into small DLS moves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32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4805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Inputs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hand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dx / dy / dz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steps (minimum 1)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max_speed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max_dq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rate_hz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4187952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187952" y="1371600"/>
            <a:ext cx="54864" cy="44805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334256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Decomposition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315968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step_increment = [dx/n, dy/n, dz/n, 0,0,0]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For each step: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call ik_move_ee(..., position_only=True)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collect result</a:t>
            </a:r>
            <a:endParaRPr lang="en-US" sz="1400"/>
          </a:p>
        </p:txBody>
      </p:sp>
      <p:sp>
        <p:nvSpPr>
          <p:cNvPr id="40" name="Shape 40"/>
          <p:cNvSpPr/>
          <p:nvPr/>
        </p:nvSpPr>
        <p:spPr>
          <a:xfrm>
            <a:off x="7827264" y="1371600"/>
            <a:ext cx="3749039" cy="4480560"/>
          </a:xfrm>
          <a:prstGeom prst="roundRect">
            <a:avLst/>
          </a:prstGeom>
          <a:solidFill>
            <a:srgbClr val="0B111B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827264" y="1371600"/>
            <a:ext cx="54864" cy="448056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973568" y="1481328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Return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955280" y="1810512"/>
            <a:ext cx="349300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>{hand, steps, step_increment,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> position_only: True, results}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 Mono"/>
                <a:cs typeface="Aptos Mono"/>
              </a:rPr>
              <a:t>It does not stop early on a failed
sub-step; callers must inspect
each result.</a:t>
            </a:r>
            <a:endParaRPr lang="en-US" sz="1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CROSS-CUTTING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Return values and error philosophy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The wrapper mixes SDK codes with structured Python results; consumers should inspect both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33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4805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Raw-ish returns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Mode setters → SDK code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loco_stop → SDK return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say / set_headlight → int code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gesture methods → action code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start/stop mapping → {code, raw}</a:t>
            </a:r>
            <a:endParaRPr lang="en-US" sz="1300"/>
          </a:p>
        </p:txBody>
      </p:sp>
      <p:sp>
        <p:nvSpPr>
          <p:cNvPr id="30" name="Shape 30"/>
          <p:cNvSpPr/>
          <p:nvPr/>
        </p:nvSpPr>
        <p:spPr>
          <a:xfrm>
            <a:off x="4187952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187952" y="1371600"/>
            <a:ext cx="54864" cy="44805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334256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Structured returns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315968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get_state dict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get_lowstate dict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get_battery dict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hand operation dicts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IK diagnostics + targets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navigation list of targets/codes</a:t>
            </a:r>
            <a:endParaRPr lang="en-US" sz="1300"/>
          </a:p>
        </p:txBody>
      </p:sp>
      <p:sp>
        <p:nvSpPr>
          <p:cNvPr id="40" name="Shape 40"/>
          <p:cNvSpPr/>
          <p:nvPr/>
        </p:nvSpPr>
        <p:spPr>
          <a:xfrm>
            <a:off x="7827264" y="1371600"/>
            <a:ext cx="3749039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827264" y="1371600"/>
            <a:ext cx="54864" cy="448056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973568" y="1481328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Exceptions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955280" y="1810512"/>
            <a:ext cx="349300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Invalid user input → ValueError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missing dependencies → RuntimeError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timeout → TimeoutError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missing files → FileNotFoundError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network failures → propagated or wrapped
per method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No global exception policy.</a:t>
            </a:r>
            <a:endParaRPr lang="en-US" sz="13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READ BEFORE RUNNING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Safety and operational caveats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This is control code: static understanding is not a substitute for robot-side validation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34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53312"/>
            <a:ext cx="347472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53312"/>
            <a:ext cx="54864" cy="4526280"/>
          </a:xfrm>
          <a:prstGeom prst="roundRect">
            <a:avLst/>
          </a:prstGeom>
          <a:solidFill>
            <a:srgbClr val="FF8A8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63040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8A8A"/>
                </a:solidFill>
                <a:latin typeface="Aptos"/>
                <a:cs typeface="Aptos"/>
              </a:rPr>
              <a:t>Motion side effects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792224"/>
            <a:ext cx="3218687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FSM setters change robot mode.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loco_move drives for duration.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lowcmd / arm_sdk publish torque/gain commands.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Hand methods move physical fingers.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IK writes arm commands at 50 Hz by default.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4187952" y="1353312"/>
            <a:ext cx="3474720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187952" y="1353312"/>
            <a:ext cx="54864" cy="452628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334256" y="1463040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Environment assumptions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315968" y="1792224"/>
            <a:ext cx="3218687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DDS NIC defaults are supplied by caller.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Hard-coded Inspire IPs.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Hard-coded SLAM map fallback path.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Piper binary + model must exist.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ZMQ camera server must be reachable.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SDK message layouts must match.</a:t>
            </a:r>
            <a:endParaRPr lang="en-US" sz="1300"/>
          </a:p>
        </p:txBody>
      </p:sp>
      <p:sp>
        <p:nvSpPr>
          <p:cNvPr id="40" name="Shape 40"/>
          <p:cNvSpPr/>
          <p:nvPr/>
        </p:nvSpPr>
        <p:spPr>
          <a:xfrm>
            <a:off x="7827264" y="1353312"/>
            <a:ext cx="3749039" cy="452628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827264" y="1353312"/>
            <a:ext cx="54864" cy="4526280"/>
          </a:xfrm>
          <a:prstGeom prst="roundRect">
            <a:avLst/>
          </a:prstGeom>
          <a:solidFill>
            <a:srgbClr val="7BE495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973568" y="1463040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7BE495"/>
                </a:solidFill>
                <a:latin typeface="Aptos"/>
                <a:cs typeface="Aptos"/>
              </a:rPr>
              <a:t>Recommended checks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955280" y="1792224"/>
            <a:ext cx="3493007" cy="399592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Use simulation or lifted robot first.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Verify iface/domain and service state.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Test telemetry-only methods.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Set conservative speeds/gains.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Keep an independent E-stop.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Inspect return codes and nested results.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Do not assume “success” means
contact-free motion.</a:t>
            </a:r>
            <a:endParaRPr lang="en-US" sz="13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LINES 1159, 1386–1388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Known stubs and maintenance hotspots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Some APIs are intentionally placeholders; a few implementation details deserve explicit review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35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371600"/>
            <a:ext cx="54864" cy="4480560"/>
          </a:xfrm>
          <a:prstGeom prst="roundRect">
            <a:avLst/>
          </a:prstGeom>
          <a:solidFill>
            <a:srgbClr val="FF8A8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8A8A"/>
                </a:solidFill>
                <a:latin typeface="Aptos"/>
                <a:cs typeface="Aptos"/>
              </a:rPr>
              <a:t>Explicitly unimplemented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get_inspire_hand_sensors()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teach()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repeat()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They return a “hand not detected”
result or raise NotImplementedError.</a:t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400"/>
          </a:p>
          <a:p>
            <a:pPr/>
            <a:r>
              <a:rPr lang="en-US" sz="1400" b="0">
                <a:solidFill>
                  <a:srgbClr val="F3F7FA"/>
                </a:solidFill>
                <a:latin typeface="Aptos"/>
                <a:cs typeface="Aptos"/>
              </a:rPr>
              <a:t>Do not treat the names as complete
capabilities.</a:t>
            </a:r>
            <a:endParaRPr lang="en-US" sz="1400"/>
          </a:p>
        </p:txBody>
      </p:sp>
      <p:sp>
        <p:nvSpPr>
          <p:cNvPr id="30" name="Shape 30"/>
          <p:cNvSpPr/>
          <p:nvPr/>
        </p:nvSpPr>
        <p:spPr>
          <a:xfrm>
            <a:off x="4187952" y="1371600"/>
            <a:ext cx="3474720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187952" y="1371600"/>
            <a:ext cx="54864" cy="448056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334256" y="1481328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Hard-coded coupling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315968" y="1810512"/>
            <a:ext cx="321868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Joint count and index layout.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DDS topic names.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IP addresses and register addresses.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SLAM API IDs/version.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Piper model directory.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/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These are the first places to
update for another robot/setup.</a:t>
            </a:r>
            <a:endParaRPr lang="en-US" sz="1300"/>
          </a:p>
        </p:txBody>
      </p:sp>
      <p:sp>
        <p:nvSpPr>
          <p:cNvPr id="40" name="Shape 40"/>
          <p:cNvSpPr/>
          <p:nvPr/>
        </p:nvSpPr>
        <p:spPr>
          <a:xfrm>
            <a:off x="7827264" y="1371600"/>
            <a:ext cx="3749039" cy="448056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827264" y="1371600"/>
            <a:ext cx="54864" cy="44805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973568" y="1481328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Review points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955280" y="1810512"/>
            <a:ext cx="3493007" cy="39502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Broad except handling in hand APIs.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Private SDK _Call is used directly.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Wall-clock timestamps are not monotonic.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“latest” means newest callback,
not synchronized sensor data.</a:t>
            </a:r>
            <a:endParaRPr lang="en-US" sz="1300"/>
          </a:p>
          <a:p>
            <a:pPr/>
            <a:r>
              <a:rPr lang="en-US" sz="1300" b="0">
                <a:solidFill>
                  <a:srgbClr val="F3F7FA"/>
                </a:solidFill>
                <a:latin typeface="Aptos"/>
                <a:cs typeface="Aptos"/>
              </a:rPr>
              <a:t>get_state fans out across many
possible failure points.</a:t>
            </a:r>
            <a:endParaRPr lang="en-US" sz="13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QUICK INDEX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Method reference: startup, state, motion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Use this as a map back to the source file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36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298448"/>
            <a:ext cx="5303520" cy="4709160"/>
          </a:xfrm>
          <a:prstGeom prst="roundRect">
            <a:avLst/>
          </a:prstGeom>
          <a:solidFill>
            <a:srgbClr val="0B111B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298448"/>
            <a:ext cx="54864" cy="47091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0817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Construction + state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737360"/>
            <a:ext cx="5047488" cy="41788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517  G1.__init__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584  _load_type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599  _robot_state_client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612  _motion_client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620  _audio_client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628  _arm_action_client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642  _video_client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650  _slam_client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658  _lowcmd_client / _arm_sdk_client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725  get_state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738  get_service / toggle_service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790  mode setters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818  get_gait / toggle_gait</a:t>
            </a:r>
            <a:endParaRPr lang="en-US" sz="1200"/>
          </a:p>
        </p:txBody>
      </p:sp>
      <p:sp>
        <p:nvSpPr>
          <p:cNvPr id="30" name="Shape 30"/>
          <p:cNvSpPr/>
          <p:nvPr/>
        </p:nvSpPr>
        <p:spPr>
          <a:xfrm>
            <a:off x="6080760" y="1298448"/>
            <a:ext cx="5486400" cy="4709160"/>
          </a:xfrm>
          <a:prstGeom prst="roundRect">
            <a:avLst/>
          </a:prstGeom>
          <a:solidFill>
            <a:srgbClr val="0B111B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080760" y="1298448"/>
            <a:ext cx="54864" cy="47091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6227064" y="1408176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Telemetry + motion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6208776" y="1737360"/>
            <a:ext cx="5230368" cy="41788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859  get_lowstate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908  say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933  set_headlight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952  release_arms / engage_arms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1008 loco_move / loco_stop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1012 get_rgbd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1039 get_point_cloud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1064 get_slam_info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1079 move_ll_joint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1108 get_odom / get_imus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1150 get_battery</a:t>
            </a:r>
            <a:endParaRPr lang="en-US" sz="1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QUICK INDEX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Method reference: hands, SLAM, audio, IK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The remaining public methods are grouped here by feature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37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48640" y="1298448"/>
            <a:ext cx="3474720" cy="4709160"/>
          </a:xfrm>
          <a:prstGeom prst="roundRect">
            <a:avLst/>
          </a:prstGeom>
          <a:solidFill>
            <a:srgbClr val="0B111B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48640" y="1298448"/>
            <a:ext cx="54864" cy="470916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94944" y="1408176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Hands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676656" y="1737360"/>
            <a:ext cx="3218687" cy="41788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1179 open_dex3_hand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1189 close_dex3_hand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1199 get_dex3_hand_sensors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1210 get_inspire_hand_sensors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1214 open_inspire_hand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1224 close_inspire_hand</a:t>
            </a:r>
            <a:endParaRPr lang="en-US" sz="1200"/>
          </a:p>
        </p:txBody>
      </p:sp>
      <p:sp>
        <p:nvSpPr>
          <p:cNvPr id="30" name="Shape 30"/>
          <p:cNvSpPr/>
          <p:nvPr/>
        </p:nvSpPr>
        <p:spPr>
          <a:xfrm>
            <a:off x="4187952" y="1298448"/>
            <a:ext cx="3474720" cy="4709160"/>
          </a:xfrm>
          <a:prstGeom prst="roundRect">
            <a:avLst/>
          </a:prstGeom>
          <a:solidFill>
            <a:srgbClr val="0B111B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4187952" y="1298448"/>
            <a:ext cx="54864" cy="4709160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4334256" y="1408176"/>
            <a:ext cx="320040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F6B9A"/>
                </a:solidFill>
                <a:latin typeface="Aptos"/>
                <a:cs typeface="Aptos"/>
              </a:rPr>
              <a:t>SLAM + audio</a:t>
            </a:r>
            <a:endParaRPr lang="en-US" sz="1300"/>
          </a:p>
        </p:txBody>
      </p:sp>
      <p:sp>
        <p:nvSpPr>
          <p:cNvPr id="33" name="Text 33"/>
          <p:cNvSpPr txBox="1"/>
          <p:nvPr/>
        </p:nvSpPr>
        <p:spPr>
          <a:xfrm>
            <a:off x="4315968" y="1737360"/>
            <a:ext cx="3218687" cy="41788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1234 start_mapping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1239 stop_mapping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1243 relocate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1252 add_map_pose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1259 navigate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1275 get_mic_input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1296 clap / face_wave / high_wave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1309 shake_hand / hug / left_kiss</a:t>
            </a:r>
            <a:endParaRPr lang="en-US" sz="1200"/>
          </a:p>
        </p:txBody>
      </p:sp>
      <p:sp>
        <p:nvSpPr>
          <p:cNvPr id="40" name="Shape 40"/>
          <p:cNvSpPr/>
          <p:nvPr/>
        </p:nvSpPr>
        <p:spPr>
          <a:xfrm>
            <a:off x="7827264" y="1298448"/>
            <a:ext cx="3749039" cy="4709160"/>
          </a:xfrm>
          <a:prstGeom prst="roundRect">
            <a:avLst/>
          </a:prstGeom>
          <a:solidFill>
            <a:srgbClr val="0B111B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7827264" y="1298448"/>
            <a:ext cx="54864" cy="470916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973568" y="1408176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F6C85F"/>
                </a:solidFill>
                <a:latin typeface="Aptos"/>
                <a:cs typeface="Aptos"/>
              </a:rPr>
              <a:t>Arm geometry</a:t>
            </a:r>
            <a:endParaRPr lang="en-US" sz="1300"/>
          </a:p>
        </p:txBody>
      </p:sp>
      <p:sp>
        <p:nvSpPr>
          <p:cNvPr id="43" name="Text 43"/>
          <p:cNvSpPr txBox="1"/>
          <p:nvPr/>
        </p:nvSpPr>
        <p:spPr>
          <a:xfrm>
            <a:off x="7955280" y="1737360"/>
            <a:ext cx="3493007" cy="4178808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1320 ik_move_ee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1371 extend_arm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1386 teach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1388 repeat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/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Private solver: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228 _solve_position_shoulder_elbow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/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Main write path:</a:t>
            </a:r>
            <a:endParaRPr lang="en-US" sz="1200"/>
          </a:p>
          <a:p>
            <a:pPr/>
            <a:r>
              <a:rPr lang="en-US" sz="1200" b="0">
                <a:solidFill>
                  <a:srgbClr val="F3F7FA"/>
                </a:solidFill>
                <a:latin typeface="Aptos Mono"/>
                <a:cs typeface="Aptos Mono"/>
              </a:rPr>
              <a:t>436 _ArmSdk.write</a:t>
            </a:r>
            <a:endParaRPr lang="en-US" sz="12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 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20116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900" b="1">
                <a:solidFill>
                  <a:srgbClr val="5DE2E7"/>
                </a:solidFill>
                <a:latin typeface="Aptos"/>
                <a:cs typeface="Aptos"/>
              </a:rPr>
              <a:t>SUGGESTED READING ORDER</a:t>
            </a:r>
            <a:endParaRPr lang="en-US" sz="900"/>
          </a:p>
        </p:txBody>
      </p:sp>
      <p:sp>
        <p:nvSpPr>
          <p:cNvPr id="5" name="Text 5"/>
          <p:cNvSpPr txBox="1"/>
          <p:nvPr/>
        </p:nvSpPr>
        <p:spPr>
          <a:xfrm>
            <a:off x="502920" y="47548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2600" b="1">
                <a:solidFill>
                  <a:srgbClr val="F3F7FA"/>
                </a:solidFill>
                <a:latin typeface="Aptos Display"/>
                <a:cs typeface="Aptos Display"/>
              </a:rPr>
              <a:t>A safe way to approach this file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530352" y="950976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000" b="0">
                <a:solidFill>
                  <a:srgbClr val="A9B7C6"/>
                </a:solidFill>
                <a:latin typeface="Aptos"/>
                <a:cs typeface="Aptos"/>
              </a:rPr>
              <a:t>You can understand and test the wrapper incrementally</a:t>
            </a:r>
            <a:endParaRPr lang="en-US" sz="1000"/>
          </a:p>
        </p:txBody>
      </p:sp>
      <p:cxnSp>
        <p:nvCxnSpPr>
          <p:cNvPr id="7" name="Connector 7"/>
          <p:cNvCxnSpPr/>
          <p:nvPr/>
        </p:nvCxnSpPr>
        <p:spPr>
          <a:xfrm>
            <a:off x="502920" y="6473952"/>
            <a:ext cx="11183111" cy="0"/>
          </a:xfrm>
          <a:prstGeom prst="line">
            <a:avLst/>
          </a:prstGeom>
          <a:ln w="12700">
            <a:solidFill>
              <a:srgbClr val="202E40"/>
            </a:solidFill>
            <a:tailEnd type="none"/>
            <a:headEnd type="none"/>
          </a:ln>
        </p:spPr>
      </p:cxnSp>
      <p:sp>
        <p:nvSpPr>
          <p:cNvPr id="8" name="Text 8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0">
                <a:solidFill>
                  <a:srgbClr val="A9B7C6"/>
                </a:solidFill>
                <a:latin typeface="Aptos"/>
                <a:cs typeface="Aptos"/>
              </a:rPr>
              <a:t>STATIC EXPLANATION • SOURCE: g1/dev/sdk_wrapper_v3.py</a:t>
            </a:r>
            <a:endParaRPr lang="en-US" sz="800"/>
          </a:p>
        </p:txBody>
      </p:sp>
      <p:sp>
        <p:nvSpPr>
          <p:cNvPr id="9" name="Text 9"/>
          <p:cNvSpPr txBox="1"/>
          <p:nvPr/>
        </p:nvSpPr>
        <p:spPr>
          <a:xfrm>
            <a:off x="11064240" y="65196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800" b="1">
                <a:solidFill>
                  <a:srgbClr val="5DE2E7"/>
                </a:solidFill>
                <a:latin typeface="Aptos"/>
                <a:cs typeface="Aptos"/>
              </a:rPr>
              <a:t>38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594360" y="1481328"/>
            <a:ext cx="475488" cy="475488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594360" y="1563624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400" b="1">
                <a:solidFill>
                  <a:srgbClr val="101722"/>
                </a:solidFill>
                <a:latin typeface="Aptos"/>
                <a:cs typeface="Aptos"/>
              </a:rPr>
              <a:t>1</a:t>
            </a:r>
            <a:endParaRPr lang="en-US" sz="1400"/>
          </a:p>
        </p:txBody>
      </p:sp>
      <p:sp>
        <p:nvSpPr>
          <p:cNvPr id="22" name="Text 22"/>
          <p:cNvSpPr txBox="1"/>
          <p:nvPr/>
        </p:nvSpPr>
        <p:spPr>
          <a:xfrm>
            <a:off x="1234440" y="145389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500" b="1">
                <a:solidFill>
                  <a:srgbClr val="F3F7FA"/>
                </a:solidFill>
                <a:latin typeface="Aptos"/>
                <a:cs typeface="Aptos"/>
              </a:rPr>
              <a:t>Read constants</a:t>
            </a:r>
            <a:endParaRPr lang="en-US" sz="1500"/>
          </a:p>
        </p:txBody>
      </p:sp>
      <p:sp>
        <p:nvSpPr>
          <p:cNvPr id="23" name="Text 23"/>
          <p:cNvSpPr txBox="1"/>
          <p:nvPr/>
        </p:nvSpPr>
        <p:spPr>
          <a:xfrm>
            <a:off x="1234440" y="1801368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100" b="0">
                <a:solidFill>
                  <a:srgbClr val="A9B7C6"/>
                </a:solidFill>
                <a:latin typeface="Aptos"/>
                <a:cs typeface="Aptos"/>
              </a:rPr>
              <a:t>joint IDs, topics, IPs</a:t>
            </a:r>
            <a:endParaRPr lang="en-US" sz="1100"/>
          </a:p>
        </p:txBody>
      </p:sp>
      <p:sp>
        <p:nvSpPr>
          <p:cNvPr id="23" name="Shape 23"/>
          <p:cNvSpPr/>
          <p:nvPr/>
        </p:nvSpPr>
        <p:spPr>
          <a:xfrm>
            <a:off x="4389120" y="1481328"/>
            <a:ext cx="475488" cy="475488"/>
          </a:xfrm>
          <a:prstGeom prst="roundRect">
            <a:avLst/>
          </a:prstGeom>
          <a:solidFill>
            <a:srgbClr val="7BE495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4389120" y="1563624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400" b="1">
                <a:solidFill>
                  <a:srgbClr val="101722"/>
                </a:solidFill>
                <a:latin typeface="Aptos"/>
                <a:cs typeface="Aptos"/>
              </a:rPr>
              <a:t>2</a:t>
            </a:r>
            <a:endParaRPr lang="en-US" sz="1400"/>
          </a:p>
        </p:txBody>
      </p:sp>
      <p:sp>
        <p:nvSpPr>
          <p:cNvPr id="25" name="Text 25"/>
          <p:cNvSpPr txBox="1"/>
          <p:nvPr/>
        </p:nvSpPr>
        <p:spPr>
          <a:xfrm>
            <a:off x="5029200" y="145389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500" b="1">
                <a:solidFill>
                  <a:srgbClr val="F3F7FA"/>
                </a:solidFill>
                <a:latin typeface="Aptos"/>
                <a:cs typeface="Aptos"/>
              </a:rPr>
              <a:t>Run telemetry only</a:t>
            </a:r>
            <a:endParaRPr lang="en-US" sz="1500"/>
          </a:p>
        </p:txBody>
      </p:sp>
      <p:sp>
        <p:nvSpPr>
          <p:cNvPr id="26" name="Text 26"/>
          <p:cNvSpPr txBox="1"/>
          <p:nvPr/>
        </p:nvSpPr>
        <p:spPr>
          <a:xfrm>
            <a:off x="5029200" y="1801368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100" b="0">
                <a:solidFill>
                  <a:srgbClr val="A9B7C6"/>
                </a:solidFill>
                <a:latin typeface="Aptos"/>
                <a:cs typeface="Aptos"/>
              </a:rPr>
              <a:t>lowstate, odom, IMU, battery</a:t>
            </a:r>
            <a:endParaRPr lang="en-US" sz="1100"/>
          </a:p>
        </p:txBody>
      </p:sp>
      <p:sp>
        <p:nvSpPr>
          <p:cNvPr id="26" name="Shape 26"/>
          <p:cNvSpPr/>
          <p:nvPr/>
        </p:nvSpPr>
        <p:spPr>
          <a:xfrm>
            <a:off x="8183880" y="1481328"/>
            <a:ext cx="475488" cy="475488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183880" y="1563624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400" b="1">
                <a:solidFill>
                  <a:srgbClr val="101722"/>
                </a:solidFill>
                <a:latin typeface="Aptos"/>
                <a:cs typeface="Aptos"/>
              </a:rPr>
              <a:t>3</a:t>
            </a:r>
            <a:endParaRPr lang="en-US" sz="1400"/>
          </a:p>
        </p:txBody>
      </p:sp>
      <p:sp>
        <p:nvSpPr>
          <p:cNvPr id="28" name="Text 28"/>
          <p:cNvSpPr txBox="1"/>
          <p:nvPr/>
        </p:nvSpPr>
        <p:spPr>
          <a:xfrm>
            <a:off x="8823960" y="145389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500" b="1">
                <a:solidFill>
                  <a:srgbClr val="F3F7FA"/>
                </a:solidFill>
                <a:latin typeface="Aptos"/>
                <a:cs typeface="Aptos"/>
              </a:rPr>
              <a:t>Check services/modes</a:t>
            </a:r>
            <a:endParaRPr lang="en-US" sz="1500"/>
          </a:p>
        </p:txBody>
      </p:sp>
      <p:sp>
        <p:nvSpPr>
          <p:cNvPr id="29" name="Text 29"/>
          <p:cNvSpPr txBox="1"/>
          <p:nvPr/>
        </p:nvSpPr>
        <p:spPr>
          <a:xfrm>
            <a:off x="8823960" y="1801368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100" b="0">
                <a:solidFill>
                  <a:srgbClr val="A9B7C6"/>
                </a:solidFill>
                <a:latin typeface="Aptos"/>
                <a:cs typeface="Aptos"/>
              </a:rPr>
              <a:t>state without moving</a:t>
            </a:r>
            <a:endParaRPr lang="en-US" sz="1100"/>
          </a:p>
        </p:txBody>
      </p:sp>
      <p:sp>
        <p:nvSpPr>
          <p:cNvPr id="29" name="Shape 29"/>
          <p:cNvSpPr/>
          <p:nvPr/>
        </p:nvSpPr>
        <p:spPr>
          <a:xfrm>
            <a:off x="594360" y="3538728"/>
            <a:ext cx="475488" cy="475488"/>
          </a:xfrm>
          <a:prstGeom prst="roundRect">
            <a:avLst/>
          </a:prstGeom>
          <a:solidFill>
            <a:srgbClr val="FF6B9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594360" y="3621024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400" b="1">
                <a:solidFill>
                  <a:srgbClr val="101722"/>
                </a:solidFill>
                <a:latin typeface="Aptos"/>
                <a:cs typeface="Aptos"/>
              </a:rPr>
              <a:t>4</a:t>
            </a:r>
            <a:endParaRPr lang="en-US" sz="1400"/>
          </a:p>
        </p:txBody>
      </p:sp>
      <p:sp>
        <p:nvSpPr>
          <p:cNvPr id="31" name="Text 31"/>
          <p:cNvSpPr txBox="1"/>
          <p:nvPr/>
        </p:nvSpPr>
        <p:spPr>
          <a:xfrm>
            <a:off x="1234440" y="351129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500" b="1">
                <a:solidFill>
                  <a:srgbClr val="F3F7FA"/>
                </a:solidFill>
                <a:latin typeface="Aptos"/>
                <a:cs typeface="Aptos"/>
              </a:rPr>
              <a:t>Test outputs</a:t>
            </a:r>
            <a:endParaRPr lang="en-US" sz="1500"/>
          </a:p>
        </p:txBody>
      </p:sp>
      <p:sp>
        <p:nvSpPr>
          <p:cNvPr id="32" name="Text 32"/>
          <p:cNvSpPr txBox="1"/>
          <p:nvPr/>
        </p:nvSpPr>
        <p:spPr>
          <a:xfrm>
            <a:off x="1234440" y="3858768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100" b="0">
                <a:solidFill>
                  <a:srgbClr val="A9B7C6"/>
                </a:solidFill>
                <a:latin typeface="Aptos"/>
                <a:cs typeface="Aptos"/>
              </a:rPr>
              <a:t>audio, light, camera</a:t>
            </a:r>
            <a:endParaRPr lang="en-US" sz="1100"/>
          </a:p>
        </p:txBody>
      </p:sp>
      <p:sp>
        <p:nvSpPr>
          <p:cNvPr id="32" name="Shape 32"/>
          <p:cNvSpPr/>
          <p:nvPr/>
        </p:nvSpPr>
        <p:spPr>
          <a:xfrm>
            <a:off x="4389120" y="3538728"/>
            <a:ext cx="475488" cy="475488"/>
          </a:xfrm>
          <a:prstGeom prst="roundRect">
            <a:avLst/>
          </a:prstGeom>
          <a:solidFill>
            <a:srgbClr val="FF8A8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4389120" y="3621024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400" b="1">
                <a:solidFill>
                  <a:srgbClr val="101722"/>
                </a:solidFill>
                <a:latin typeface="Aptos"/>
                <a:cs typeface="Aptos"/>
              </a:rPr>
              <a:t>5</a:t>
            </a:r>
            <a:endParaRPr lang="en-US" sz="1400"/>
          </a:p>
        </p:txBody>
      </p:sp>
      <p:sp>
        <p:nvSpPr>
          <p:cNvPr id="34" name="Text 34"/>
          <p:cNvSpPr txBox="1"/>
          <p:nvPr/>
        </p:nvSpPr>
        <p:spPr>
          <a:xfrm>
            <a:off x="5029200" y="351129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500" b="1">
                <a:solidFill>
                  <a:srgbClr val="F3F7FA"/>
                </a:solidFill>
                <a:latin typeface="Aptos"/>
                <a:cs typeface="Aptos"/>
              </a:rPr>
              <a:t>Test hands</a:t>
            </a:r>
            <a:endParaRPr lang="en-US" sz="1500"/>
          </a:p>
        </p:txBody>
      </p:sp>
      <p:sp>
        <p:nvSpPr>
          <p:cNvPr id="35" name="Text 35"/>
          <p:cNvSpPr txBox="1"/>
          <p:nvPr/>
        </p:nvSpPr>
        <p:spPr>
          <a:xfrm>
            <a:off x="5029200" y="3858768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100" b="0">
                <a:solidFill>
                  <a:srgbClr val="A9B7C6"/>
                </a:solidFill>
                <a:latin typeface="Aptos"/>
                <a:cs typeface="Aptos"/>
              </a:rPr>
              <a:t>with physical clearance</a:t>
            </a:r>
            <a:endParaRPr lang="en-US" sz="1100"/>
          </a:p>
        </p:txBody>
      </p:sp>
      <p:sp>
        <p:nvSpPr>
          <p:cNvPr id="35" name="Shape 35"/>
          <p:cNvSpPr/>
          <p:nvPr/>
        </p:nvSpPr>
        <p:spPr>
          <a:xfrm>
            <a:off x="8183880" y="3538728"/>
            <a:ext cx="475488" cy="475488"/>
          </a:xfrm>
          <a:prstGeom prst="roundRect">
            <a:avLst/>
          </a:prstGeom>
          <a:solidFill>
            <a:srgbClr val="FF8A8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6" name="Text 36"/>
          <p:cNvSpPr txBox="1"/>
          <p:nvPr/>
        </p:nvSpPr>
        <p:spPr>
          <a:xfrm>
            <a:off x="8183880" y="3621024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400" b="1">
                <a:solidFill>
                  <a:srgbClr val="101722"/>
                </a:solidFill>
                <a:latin typeface="Aptos"/>
                <a:cs typeface="Aptos"/>
              </a:rPr>
              <a:t>6</a:t>
            </a:r>
            <a:endParaRPr lang="en-US" sz="1400"/>
          </a:p>
        </p:txBody>
      </p:sp>
      <p:sp>
        <p:nvSpPr>
          <p:cNvPr id="37" name="Text 37"/>
          <p:cNvSpPr txBox="1"/>
          <p:nvPr/>
        </p:nvSpPr>
        <p:spPr>
          <a:xfrm>
            <a:off x="8823960" y="351129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500" b="1">
                <a:solidFill>
                  <a:srgbClr val="F3F7FA"/>
                </a:solidFill>
                <a:latin typeface="Aptos"/>
                <a:cs typeface="Aptos"/>
              </a:rPr>
              <a:t>Test motion/IK</a:t>
            </a:r>
            <a:endParaRPr lang="en-US" sz="1500"/>
          </a:p>
        </p:txBody>
      </p:sp>
      <p:sp>
        <p:nvSpPr>
          <p:cNvPr id="38" name="Text 38"/>
          <p:cNvSpPr txBox="1"/>
          <p:nvPr/>
        </p:nvSpPr>
        <p:spPr>
          <a:xfrm>
            <a:off x="8823960" y="3858768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100" b="0">
                <a:solidFill>
                  <a:srgbClr val="A9B7C6"/>
                </a:solidFill>
                <a:latin typeface="Aptos"/>
                <a:cs typeface="Aptos"/>
              </a:rPr>
              <a:t>simulation or lifted robot</a:t>
            </a:r>
            <a:endParaRPr lang="en-US" sz="1100"/>
          </a:p>
        </p:txBody>
      </p:sp>
      <p:sp>
        <p:nvSpPr>
          <p:cNvPr id="20" name="Shape 20"/>
          <p:cNvSpPr/>
          <p:nvPr/>
        </p:nvSpPr>
        <p:spPr>
          <a:xfrm>
            <a:off x="594360" y="5532120"/>
            <a:ext cx="10927080" cy="502920"/>
          </a:xfrm>
          <a:prstGeom prst="roundRect">
            <a:avLst/>
          </a:prstGeom>
          <a:solidFill>
            <a:srgbClr val="182333"/>
          </a:solidFill>
          <a:ln w="12700">
            <a:solidFill>
              <a:srgbClr val="202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94360" y="5532120"/>
            <a:ext cx="54864" cy="502920"/>
          </a:xfrm>
          <a:prstGeom prst="roundRect">
            <a:avLst/>
          </a:prstGeom>
          <a:solidFill>
            <a:srgbClr val="5DE2E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740664" y="5641848"/>
            <a:ext cx="10652759" cy="24688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anchor="t"/>
          <a:lstStyle/>
          <a:p>
            <a:pPr/>
            <a:r>
              <a:rPr lang="en-US" sz="1300" b="1">
                <a:solidFill>
                  <a:srgbClr val="5DE2E7"/>
                </a:solidFill>
                <a:latin typeface="Aptos"/>
                <a:cs typeface="Aptos"/>
              </a:rPr>
              <a:t>Bottom line</a:t>
            </a:r>
            <a:endParaRPr lang="en-US" sz="1300"/>
          </a:p>
        </p:txBody>
      </p:sp>
      <p:sp>
        <p:nvSpPr>
          <p:cNvPr id="23" name="Text 23"/>
          <p:cNvSpPr txBox="1"/>
          <p:nvPr/>
        </p:nvSpPr>
        <p:spPr>
          <a:xfrm>
            <a:off x="722376" y="5971031"/>
            <a:ext cx="10671048" cy="-27431"/>
          </a:xfrm>
          <a:prstGeom prst="rect">
            <a:avLst/>
          </a:prstGeom>
          <a:noFill/>
          <a:ln>
            <a:noFill/>
          </a:ln>
        </p:spPr>
        <p:txBody>
          <a:bodyPr lIns="36576" rIns="36576" tIns="36576" bIns="36576" anchor="t"/>
          <a:lstStyle/>
          <a:p>
            <a:pPr/>
            <a:r>
              <a:rPr lang="en-US" sz="1100" b="0">
                <a:solidFill>
                  <a:srgbClr val="F3F7FA"/>
                </a:solidFill>
                <a:latin typeface="Aptos"/>
                <a:cs typeface="Aptos"/>
              </a:rPr>
              <a:t>sdk_wrapper_v3.py is a practical façade: it makes many robot capabilities callable from Python, but its correctness depends on the live Unitree SDK, network topology, message definitions, and physical safety setup.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DK Wrapper">
  <a:themeElements>
    <a:clrScheme name="SDK">
      <a:dk1>
        <a:srgbClr val="101722"/>
      </a:dk1>
      <a:lt1>
        <a:srgbClr val="F3F7FA"/>
      </a:lt1>
      <a:dk2>
        <a:srgbClr val="182333"/>
      </a:dk2>
      <a:lt2>
        <a:srgbClr val="A9B7C6"/>
      </a:lt2>
      <a:accent1>
        <a:srgbClr val="5DE2E7"/>
      </a:accent1>
      <a:accent2>
        <a:srgbClr val="FF6B9A"/>
      </a:accent2>
      <a:accent3>
        <a:srgbClr val="F6C85F"/>
      </a:accent3>
      <a:accent4>
        <a:srgbClr val="7BE495"/>
      </a:accent4>
      <a:accent5>
        <a:srgbClr val="FF8A8A"/>
      </a:accent5>
      <a:accent6>
        <a:srgbClr val="FFFFFF"/>
      </a:accent6>
      <a:hlink>
        <a:srgbClr val="5DE2E7"/>
      </a:hlink>
      <a:folHlink>
        <a:srgbClr val="FF6B9A"/>
      </a:folHlink>
    </a:clrScheme>
    <a:fontScheme name="SDK">
      <a:majorFont>
        <a:latin typeface="Aptos Display"/>
      </a:majorFont>
      <a:minorFont>
        <a:latin typeface="Aptos"/>
      </a:minorFont>
    </a:fontScheme>
    <a:fmtScheme name="SDK">
      <a:fillStyleLst/>
      <a:lnStyleLst/>
      <a:effectStyleLst/>
      <a:bgFillStyleLst/>
    </a:fmtScheme>
  </a:themeElements>
</a:theme>
</file>