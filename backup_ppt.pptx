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6" r:id="rId2"/>
    <p:sldId id="357" r:id="rId3"/>
    <p:sldId id="358" r:id="rId4"/>
    <p:sldId id="362" r:id="rId5"/>
    <p:sldId id="363" r:id="rId6"/>
    <p:sldId id="364" r:id="rId7"/>
    <p:sldId id="348" r:id="rId8"/>
    <p:sldId id="349" r:id="rId9"/>
    <p:sldId id="352" r:id="rId10"/>
    <p:sldId id="365" r:id="rId11"/>
    <p:sldId id="366" r:id="rId12"/>
    <p:sldId id="359" r:id="rId13"/>
    <p:sldId id="360" r:id="rId14"/>
    <p:sldId id="367" r:id="rId15"/>
    <p:sldId id="368" r:id="rId16"/>
    <p:sldId id="369" r:id="rId17"/>
    <p:sldId id="361" r:id="rId18"/>
    <p:sldId id="370" r:id="rId19"/>
    <p:sldId id="371" r:id="rId20"/>
    <p:sldId id="382" r:id="rId21"/>
    <p:sldId id="372" r:id="rId22"/>
    <p:sldId id="373" r:id="rId23"/>
    <p:sldId id="374" r:id="rId24"/>
    <p:sldId id="375" r:id="rId25"/>
    <p:sldId id="376" r:id="rId26"/>
    <p:sldId id="377" r:id="rId27"/>
    <p:sldId id="378" r:id="rId28"/>
    <p:sldId id="379" r:id="rId29"/>
    <p:sldId id="353" r:id="rId30"/>
    <p:sldId id="380" r:id="rId31"/>
    <p:sldId id="381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48" y="9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46510B-628E-A2AD-2DD3-1CB7CC2BC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0FB475-DA7B-CE0F-FE2D-8AAC4DCF9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83CAAF-6E78-14E9-3809-456A44EB5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B606-78DF-48A3-BAC6-00E569D091C6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4E8389-DB01-25AA-9443-6881DFFA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205E4E-6DD1-70F7-CA43-537AF853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059A-9793-4977-82A9-C9DB9282B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8383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EB7890-D674-3F98-72DF-7B28105C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34D2B4-9844-4934-9619-787ED75D6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E1F01A-29FE-53D0-8999-B3BFBF746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B606-78DF-48A3-BAC6-00E569D091C6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0ED37F-4A4A-4043-7643-B152A4C33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ED8CBA-8E7E-5CE2-27D5-8D418CFC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059A-9793-4977-82A9-C9DB9282B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238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7D5BC-9AE7-5208-693F-7146C9AE4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431EB5-D6B2-C211-7CA0-CE7675EF8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010BB5-FDE2-B531-3D5D-E3A749D73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B606-78DF-48A3-BAC6-00E569D091C6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89C953-CCDA-C71E-539D-71EF458E8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4A4FF8-FDE8-8B15-A5B8-059606DB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059A-9793-4977-82A9-C9DB9282B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4420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EC88AE-C699-0E5E-E063-EECE17096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40D321-BB14-7A59-2E5A-B8E84BCB7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566C1D4-6F8C-3399-57AC-0A9F04051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D34518-B16A-8704-F5BF-7D26B1D2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B606-78DF-48A3-BAC6-00E569D091C6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C3A9DE-8F76-EB6A-FECB-F1D505A84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1D50AB-1EF7-233F-270D-2003BE1F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059A-9793-4977-82A9-C9DB9282B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558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831E7-BF3B-C4F7-FDBA-FC615F521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78FA29-37D3-69B3-92EF-C3CBEDE38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E04FB9-0038-4AB0-7452-F8A720FB7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D9831F-CF49-F9D0-1E2B-A6088E4F84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090474E-2BD1-4DC6-B268-D33A47838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BCC0FF3-7CC5-EF60-C6B2-8D7A957A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B606-78DF-48A3-BAC6-00E569D091C6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D127D77-303B-229E-F3B3-FDE6F983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1E28BAB-4DB8-E6C9-C4CD-BAEFB1C1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059A-9793-4977-82A9-C9DB9282B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2854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CB586-EB5D-E495-494C-EBFE841F0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60D96CC-489E-C0C7-3D65-6D7B8CBA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B606-78DF-48A3-BAC6-00E569D091C6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08366A-9714-31E7-C8FC-521EB440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A756CA-BFA9-DE62-8A8B-4134D2DF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059A-9793-4977-82A9-C9DB9282B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3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A8FD65-72DC-424B-9D82-E774CBB43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B606-78DF-48A3-BAC6-00E569D091C6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4C11DC0-54CF-3201-92B0-F397116A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9A0AB8-7C16-83C4-18E0-0C97D4D3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059A-9793-4977-82A9-C9DB9282B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6078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9A1832-A2D0-1705-3805-3CC287884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497635-9BAC-4395-BAC6-1E713BD62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1B9602-77DD-05C2-CC6D-EF3FE0239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BE2F368-0731-213F-781C-E943AB0D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B606-78DF-48A3-BAC6-00E569D091C6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19E9F4-45F8-93D6-6886-BAF437DF9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8F3966-8064-D069-1521-31DC1E0B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059A-9793-4977-82A9-C9DB9282B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485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9DAE34-BB30-1182-A169-DD92DAEBE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30F898E-F8E8-9DC4-5B5C-09BD14687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373B99-FA8E-D9DA-B19D-AEBB4EEB6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99BB78-F057-F558-822B-42FA2C62D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B606-78DF-48A3-BAC6-00E569D091C6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C5B694-2DB1-569F-A523-03D82322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8C3E2D-27B1-E2BE-09E9-FF3AD7793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059A-9793-4977-82A9-C9DB9282B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46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1DA6C8-3F4D-CC68-A67F-2819DD4B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016D395-005B-D56B-CCFC-E34F97E54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C86859-8752-08A1-455C-26EB4AF43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B606-78DF-48A3-BAC6-00E569D091C6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844D2A-57AB-55BA-F20B-CE45A504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A6FA88-C243-19AA-AC09-8FE4F2F3E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059A-9793-4977-82A9-C9DB9282B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08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CDB0A91-6551-24EE-A2BE-788B71B4A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E1080A4-4524-CCBD-ACCF-469D2A4DC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60C358-6E1D-D303-6C40-78BCCA72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B606-78DF-48A3-BAC6-00E569D091C6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0A5B56-CE38-C2DD-3B9E-FEF3FC0B5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3D05D6-5DED-9C91-FFBB-5A0682A26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059A-9793-4977-82A9-C9DB9282B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1211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5C29434-5514-33E7-9C8D-8D311FA36ECC}"/>
              </a:ext>
            </a:extLst>
          </p:cNvPr>
          <p:cNvSpPr/>
          <p:nvPr userDrawn="1"/>
        </p:nvSpPr>
        <p:spPr>
          <a:xfrm>
            <a:off x="6684963" y="-1"/>
            <a:ext cx="5754449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4AF682-4566-28BF-928B-239B2EF38C19}"/>
              </a:ext>
            </a:extLst>
          </p:cNvPr>
          <p:cNvSpPr/>
          <p:nvPr userDrawn="1"/>
        </p:nvSpPr>
        <p:spPr>
          <a:xfrm>
            <a:off x="-5050" y="-1"/>
            <a:ext cx="6690014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AA33DE-4979-35B4-61E1-24B59F3A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5562987" cy="87806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9936F0-5BB2-26B7-3653-9C4D5FE3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562987" cy="428367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6CEC3-CD5E-7B98-43E2-29E86328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B38E75-7E8A-84CD-3602-DB03CF29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A8F89473-4375-7F44-223E-D8783992E43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08F6E060-7BAE-CEC9-290E-4099EF732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9" name="AutoShape 2">
            <a:extLst>
              <a:ext uri="{FF2B5EF4-FFF2-40B4-BE49-F238E27FC236}">
                <a16:creationId xmlns:a16="http://schemas.microsoft.com/office/drawing/2014/main" id="{6A570CEE-B803-E72C-444F-0CCFA366FA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67D10AD-E425-71DC-76CE-576F345F7DFE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71BC3B6C-0427-AEE1-A7A7-52EC522EBBEB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63CC2FD-26D6-5FDE-B15F-E95DC14F41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684" y="451945"/>
            <a:ext cx="5139916" cy="536624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655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5978D74-D6A8-4589-F85B-2C67C7C4B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F465F5-8A85-4499-3E1D-23C693524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029FC0-BD9E-1E4C-579F-608943D0D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FB606-78DF-48A3-BAC6-00E569D091C6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472664-B0C6-D897-5EAC-9FCE7F5B5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E51F96-51BE-454C-7A01-63FCB4237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A5059A-9793-4977-82A9-C9DB9282B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6442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A5412-17EE-3F94-B4D4-5FBB35E7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E5E72E-19ED-B2AF-10D4-3E3517384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Grundlagen der Laufbewegungen</a:t>
            </a:r>
            <a:br>
              <a:rPr lang="de-DE" sz="3600" dirty="0"/>
            </a:br>
            <a:r>
              <a:rPr lang="en-GB" sz="3600" dirty="0">
                <a:solidFill>
                  <a:srgbClr val="FB1A62"/>
                </a:solidFill>
              </a:rPr>
              <a:t>Aufgabe 1</a:t>
            </a:r>
            <a:endParaRPr lang="de-DE" sz="3600" dirty="0">
              <a:solidFill>
                <a:srgbClr val="FB1A6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81227-2900-311C-7F85-82CAAA6FA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983245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>
                <a:latin typeface="Arial"/>
              </a:rPr>
              <a:t>Laufen mit gegebener Geschwindigkeit für eine gegebene Zeit</a:t>
            </a:r>
          </a:p>
          <a:p>
            <a:r>
              <a:rPr lang="de-DE" dirty="0">
                <a:latin typeface="Arial"/>
              </a:rPr>
              <a:t>Latenz und Genauigkeit beobachten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DE420A4-3341-D7E5-FE69-42F07A24A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567030" y="511213"/>
            <a:ext cx="5624970" cy="58726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16FE313-ECC3-D297-FF6F-CD92EC6EBD23}"/>
              </a:ext>
            </a:extLst>
          </p:cNvPr>
          <p:cNvSpPr/>
          <p:nvPr/>
        </p:nvSpPr>
        <p:spPr>
          <a:xfrm>
            <a:off x="83094" y="4778314"/>
            <a:ext cx="2541573" cy="429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Sicheres Stehen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40E645-01B4-94D4-3F01-79D0053474D5}"/>
              </a:ext>
            </a:extLst>
          </p:cNvPr>
          <p:cNvSpPr/>
          <p:nvPr/>
        </p:nvSpPr>
        <p:spPr>
          <a:xfrm>
            <a:off x="3960827" y="4778314"/>
            <a:ext cx="2541573" cy="429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Laufen von A nach 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B332C8-25B2-2B32-70E1-2DE5F2108A9B}"/>
              </a:ext>
            </a:extLst>
          </p:cNvPr>
          <p:cNvCxnSpPr/>
          <p:nvPr/>
        </p:nvCxnSpPr>
        <p:spPr>
          <a:xfrm>
            <a:off x="2794000" y="4993307"/>
            <a:ext cx="1041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487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91063-4D7D-9AE8-B754-65E8FE064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DD972-D96B-D636-A125-6A02C0F98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Grundlagen der Laufbewegungen</a:t>
            </a:r>
            <a:br>
              <a:rPr lang="de-DE" sz="3600" dirty="0"/>
            </a:br>
            <a:r>
              <a:rPr lang="en-GB" sz="3600" dirty="0">
                <a:solidFill>
                  <a:srgbClr val="FB1A62"/>
                </a:solidFill>
              </a:rPr>
              <a:t>Aufgabe 2</a:t>
            </a:r>
            <a:endParaRPr lang="de-DE" sz="3600" dirty="0">
              <a:solidFill>
                <a:srgbClr val="FB1A6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79726-F798-7BD3-55C7-61D4DA301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983245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>
                <a:latin typeface="Arial"/>
              </a:rPr>
              <a:t>Skript ergänzen. Bei Ankunft 90 Grad drehen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0406C4-83DE-CC1C-3DA5-358FE7AEB2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94611BB7-7F10-2D79-69BB-270FD1ECD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24" y="1708805"/>
            <a:ext cx="4890036" cy="28525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7F2801-906D-CF5F-AC84-5F1D32B79702}"/>
              </a:ext>
            </a:extLst>
          </p:cNvPr>
          <p:cNvSpPr/>
          <p:nvPr/>
        </p:nvSpPr>
        <p:spPr>
          <a:xfrm>
            <a:off x="152400" y="3389065"/>
            <a:ext cx="2598540" cy="4033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Sicheres Stehen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2D1910-61D8-745B-0B9A-D98820DC734E}"/>
              </a:ext>
            </a:extLst>
          </p:cNvPr>
          <p:cNvSpPr/>
          <p:nvPr/>
        </p:nvSpPr>
        <p:spPr>
          <a:xfrm>
            <a:off x="3928533" y="3389065"/>
            <a:ext cx="2590800" cy="4033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Laufen von A nach 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90201E-6AD6-EB6F-755C-A3C442BF0547}"/>
              </a:ext>
            </a:extLst>
          </p:cNvPr>
          <p:cNvCxnSpPr/>
          <p:nvPr/>
        </p:nvCxnSpPr>
        <p:spPr>
          <a:xfrm>
            <a:off x="2857499" y="3590754"/>
            <a:ext cx="965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B6EC485-505A-DF34-C5C1-FAF4163F20FD}"/>
              </a:ext>
            </a:extLst>
          </p:cNvPr>
          <p:cNvSpPr/>
          <p:nvPr/>
        </p:nvSpPr>
        <p:spPr>
          <a:xfrm>
            <a:off x="3928533" y="5198263"/>
            <a:ext cx="2590800" cy="4033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90 Grad Drehen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08D8BF-CB92-596C-2461-988CC2FA67B0}"/>
              </a:ext>
            </a:extLst>
          </p:cNvPr>
          <p:cNvCxnSpPr/>
          <p:nvPr/>
        </p:nvCxnSpPr>
        <p:spPr>
          <a:xfrm>
            <a:off x="5223933" y="3886200"/>
            <a:ext cx="0" cy="1193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402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1580C-1EEB-C131-FFDD-33AFE967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B90911-31A0-D3FE-498C-BFB828EA9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Grundlagen der Laufbewegungen</a:t>
            </a:r>
            <a:br>
              <a:rPr lang="de-DE" sz="3600" dirty="0"/>
            </a:br>
            <a:r>
              <a:rPr lang="en-GB" sz="3600" dirty="0">
                <a:solidFill>
                  <a:srgbClr val="FB1A62"/>
                </a:solidFill>
              </a:rPr>
              <a:t>Aufgabe 3</a:t>
            </a:r>
            <a:endParaRPr lang="de-DE" sz="3600" dirty="0">
              <a:solidFill>
                <a:srgbClr val="FB1A6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EEE1DF-2C3D-F8FA-C16E-85FE50779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983245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>
                <a:latin typeface="Arial"/>
              </a:rPr>
              <a:t>Skript ergänzen. Weiter laufen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9CD95-C8C1-02A3-F17C-AA1DC39D1A3D}"/>
              </a:ext>
            </a:extLst>
          </p:cNvPr>
          <p:cNvSpPr/>
          <p:nvPr/>
        </p:nvSpPr>
        <p:spPr>
          <a:xfrm>
            <a:off x="152400" y="3389065"/>
            <a:ext cx="2598540" cy="4033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Sicheres Stehen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EEEE41-0ADD-3B02-95D1-D254905DB63D}"/>
              </a:ext>
            </a:extLst>
          </p:cNvPr>
          <p:cNvSpPr/>
          <p:nvPr/>
        </p:nvSpPr>
        <p:spPr>
          <a:xfrm>
            <a:off x="3928533" y="3389065"/>
            <a:ext cx="2590800" cy="4033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Laufen von A nach 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7A7D03-0609-1D83-8ED2-61BB3B1EBFA5}"/>
              </a:ext>
            </a:extLst>
          </p:cNvPr>
          <p:cNvCxnSpPr/>
          <p:nvPr/>
        </p:nvCxnSpPr>
        <p:spPr>
          <a:xfrm>
            <a:off x="2857499" y="3590754"/>
            <a:ext cx="965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8814266-5408-85F6-8B6B-642FB9B53F48}"/>
              </a:ext>
            </a:extLst>
          </p:cNvPr>
          <p:cNvSpPr/>
          <p:nvPr/>
        </p:nvSpPr>
        <p:spPr>
          <a:xfrm>
            <a:off x="3928533" y="5198263"/>
            <a:ext cx="2590800" cy="4033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90 Grad Drehen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748F47-3954-F316-8CD2-6F3D360D2A6A}"/>
              </a:ext>
            </a:extLst>
          </p:cNvPr>
          <p:cNvCxnSpPr>
            <a:cxnSpLocks/>
          </p:cNvCxnSpPr>
          <p:nvPr/>
        </p:nvCxnSpPr>
        <p:spPr>
          <a:xfrm flipH="1">
            <a:off x="2857499" y="5409989"/>
            <a:ext cx="965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22F9648-D8F6-8DF3-6159-588BA220430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68068" y="746125"/>
            <a:ext cx="5140325" cy="53657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CE9D2D2-8120-20E3-501F-98751ACDEF74}"/>
              </a:ext>
            </a:extLst>
          </p:cNvPr>
          <p:cNvSpPr/>
          <p:nvPr/>
        </p:nvSpPr>
        <p:spPr>
          <a:xfrm>
            <a:off x="152401" y="5208300"/>
            <a:ext cx="2598539" cy="4033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Laufen von B nach 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1BEC92-A32A-DD57-D0F8-A7F9354C0A94}"/>
              </a:ext>
            </a:extLst>
          </p:cNvPr>
          <p:cNvCxnSpPr/>
          <p:nvPr/>
        </p:nvCxnSpPr>
        <p:spPr>
          <a:xfrm>
            <a:off x="5105400" y="3886200"/>
            <a:ext cx="0" cy="1143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4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82BC5-1026-A3DD-89C3-EB0A3890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FFA674-48C3-E2E7-7B02-3121FA21A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Kartierung und Navigation</a:t>
            </a:r>
            <a:br>
              <a:rPr lang="de-DE" sz="3600" dirty="0"/>
            </a:br>
            <a:r>
              <a:rPr lang="en-GB" sz="3600" dirty="0">
                <a:solidFill>
                  <a:srgbClr val="FB1A62"/>
                </a:solidFill>
              </a:rPr>
              <a:t>Aufgabe 4</a:t>
            </a:r>
            <a:br>
              <a:rPr lang="en-GB" sz="3600" dirty="0">
                <a:solidFill>
                  <a:srgbClr val="FB1A62"/>
                </a:solidFill>
              </a:rPr>
            </a:br>
            <a:r>
              <a:rPr lang="en-GB" sz="2000" dirty="0">
                <a:solidFill>
                  <a:srgbClr val="FB1A62"/>
                </a:solidFill>
              </a:rPr>
              <a:t>(Navigation </a:t>
            </a:r>
            <a:r>
              <a:rPr lang="en-GB" sz="2000" dirty="0" err="1">
                <a:solidFill>
                  <a:srgbClr val="FB1A62"/>
                </a:solidFill>
              </a:rPr>
              <a:t>ohne</a:t>
            </a:r>
            <a:r>
              <a:rPr lang="en-GB" sz="2000" dirty="0">
                <a:solidFill>
                  <a:srgbClr val="FB1A62"/>
                </a:solidFill>
              </a:rPr>
              <a:t> </a:t>
            </a:r>
            <a:r>
              <a:rPr lang="en-GB" sz="2000" dirty="0" err="1">
                <a:solidFill>
                  <a:srgbClr val="FB1A62"/>
                </a:solidFill>
              </a:rPr>
              <a:t>Hindernisvermeidung</a:t>
            </a:r>
            <a:r>
              <a:rPr lang="en-GB" sz="2000" dirty="0">
                <a:solidFill>
                  <a:srgbClr val="FB1A62"/>
                </a:solidFill>
              </a:rPr>
              <a:t>)</a:t>
            </a:r>
            <a:endParaRPr lang="de-DE" sz="2000" dirty="0">
              <a:solidFill>
                <a:srgbClr val="FB1A6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56C32-08C2-3DA0-6A2C-5AE8AA789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983245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>
                <a:latin typeface="Arial"/>
              </a:rPr>
              <a:t>Schritt 1: Karte Laden</a:t>
            </a:r>
          </a:p>
          <a:p>
            <a:r>
              <a:rPr lang="de-DE" dirty="0">
                <a:latin typeface="Arial"/>
              </a:rPr>
              <a:t>Schritt 3: Navigation von A nach B</a:t>
            </a:r>
          </a:p>
          <a:p>
            <a:r>
              <a:rPr lang="de-DE" dirty="0">
                <a:latin typeface="Arial"/>
              </a:rPr>
              <a:t>Schritt 4: Navigation von B nach 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58EB7C-AEFC-CFCE-F932-A582943798D7}"/>
              </a:ext>
            </a:extLst>
          </p:cNvPr>
          <p:cNvSpPr/>
          <p:nvPr/>
        </p:nvSpPr>
        <p:spPr>
          <a:xfrm>
            <a:off x="169334" y="3990199"/>
            <a:ext cx="2598540" cy="4033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Karte laden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5238D8-C161-F734-B642-2A573BB68D92}"/>
              </a:ext>
            </a:extLst>
          </p:cNvPr>
          <p:cNvSpPr/>
          <p:nvPr/>
        </p:nvSpPr>
        <p:spPr>
          <a:xfrm>
            <a:off x="3810000" y="4001064"/>
            <a:ext cx="2590800" cy="4033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Laufen von A nach 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87337F-E324-591F-5803-26352EBC3333}"/>
              </a:ext>
            </a:extLst>
          </p:cNvPr>
          <p:cNvCxnSpPr>
            <a:cxnSpLocks/>
          </p:cNvCxnSpPr>
          <p:nvPr/>
        </p:nvCxnSpPr>
        <p:spPr>
          <a:xfrm>
            <a:off x="2844800" y="4184309"/>
            <a:ext cx="82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8167ABF-2BAC-2300-271C-E763318243CC}"/>
              </a:ext>
            </a:extLst>
          </p:cNvPr>
          <p:cNvSpPr/>
          <p:nvPr/>
        </p:nvSpPr>
        <p:spPr>
          <a:xfrm>
            <a:off x="3822699" y="5608574"/>
            <a:ext cx="2590800" cy="4033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Laufen von B nach C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E9827B0-2590-18C7-5DD7-B31ABCAB4D2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68068" y="746125"/>
            <a:ext cx="5140325" cy="536575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B609AD-A547-B11E-9484-6F9B87A418E7}"/>
              </a:ext>
            </a:extLst>
          </p:cNvPr>
          <p:cNvCxnSpPr>
            <a:cxnSpLocks/>
          </p:cNvCxnSpPr>
          <p:nvPr/>
        </p:nvCxnSpPr>
        <p:spPr>
          <a:xfrm>
            <a:off x="5105400" y="4529667"/>
            <a:ext cx="0" cy="892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020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26D05-DD9A-6072-D1AE-29579E61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EEBDD5-681E-1D20-AE3F-1F60D7336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3FCCB209-65E2-4418-9F21-9A76E3738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80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Hindernisvermeidung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8F45C04-7D06-30F2-1B7F-780B26E6DE9E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000" dirty="0">
                <a:solidFill>
                  <a:srgbClr val="FB1A62"/>
                </a:solidFill>
              </a:rPr>
              <a:t>Pfadumplannung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24E056-9021-C91F-F40F-332C2EABCD46}"/>
              </a:ext>
            </a:extLst>
          </p:cNvPr>
          <p:cNvSpPr/>
          <p:nvPr/>
        </p:nvSpPr>
        <p:spPr>
          <a:xfrm>
            <a:off x="4418752" y="1955655"/>
            <a:ext cx="3920065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Sensor (Lidar/Depth)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1D5B54-08F2-C5DA-9155-B43904840617}"/>
              </a:ext>
            </a:extLst>
          </p:cNvPr>
          <p:cNvSpPr/>
          <p:nvPr/>
        </p:nvSpPr>
        <p:spPr>
          <a:xfrm>
            <a:off x="4418752" y="2793244"/>
            <a:ext cx="3920065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Hindernis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erkannt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B21C75-CC10-BEBA-71A7-CA9B386D34D7}"/>
              </a:ext>
            </a:extLst>
          </p:cNvPr>
          <p:cNvSpPr/>
          <p:nvPr/>
        </p:nvSpPr>
        <p:spPr>
          <a:xfrm>
            <a:off x="4418752" y="3630834"/>
            <a:ext cx="3920065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Belegungskarte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aktualisieren</a:t>
            </a:r>
            <a:endParaRPr lang="en-GB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1158D9-0C43-528C-33EA-37C413A12CE4}"/>
              </a:ext>
            </a:extLst>
          </p:cNvPr>
          <p:cNvSpPr/>
          <p:nvPr/>
        </p:nvSpPr>
        <p:spPr>
          <a:xfrm>
            <a:off x="4411131" y="4460763"/>
            <a:ext cx="3920065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Aktuellen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Pfad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</a:t>
            </a:r>
            <a:r>
              <a:rPr lang="de-D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ü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D3A91E-3349-FC0E-E4B6-83454B26C744}"/>
              </a:ext>
            </a:extLst>
          </p:cNvPr>
          <p:cNvSpPr/>
          <p:nvPr/>
        </p:nvSpPr>
        <p:spPr>
          <a:xfrm>
            <a:off x="4418752" y="5298352"/>
            <a:ext cx="3920065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Pfad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neu </a:t>
            </a:r>
            <a:r>
              <a:rPr lang="en-GB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berechnen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(A*)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909290-89BE-F907-2AA4-169D4332D1F3}"/>
              </a:ext>
            </a:extLst>
          </p:cNvPr>
          <p:cNvSpPr/>
          <p:nvPr/>
        </p:nvSpPr>
        <p:spPr>
          <a:xfrm>
            <a:off x="4411131" y="6126304"/>
            <a:ext cx="3920065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Navigation </a:t>
            </a:r>
            <a:r>
              <a:rPr lang="en-GB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fortsetzen</a:t>
            </a:r>
            <a:endParaRPr lang="en-GB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77AF91-0E80-5E11-C684-34F0729278E8}"/>
              </a:ext>
            </a:extLst>
          </p:cNvPr>
          <p:cNvCxnSpPr/>
          <p:nvPr/>
        </p:nvCxnSpPr>
        <p:spPr>
          <a:xfrm>
            <a:off x="6476999" y="2362055"/>
            <a:ext cx="0" cy="431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91B349-3A0E-C110-F54E-43A085928AFA}"/>
              </a:ext>
            </a:extLst>
          </p:cNvPr>
          <p:cNvCxnSpPr/>
          <p:nvPr/>
        </p:nvCxnSpPr>
        <p:spPr>
          <a:xfrm>
            <a:off x="6476999" y="3213405"/>
            <a:ext cx="0" cy="431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F3F03D-A423-93CB-3BE1-4EC1CB8F7B37}"/>
              </a:ext>
            </a:extLst>
          </p:cNvPr>
          <p:cNvCxnSpPr/>
          <p:nvPr/>
        </p:nvCxnSpPr>
        <p:spPr>
          <a:xfrm>
            <a:off x="6460065" y="4037234"/>
            <a:ext cx="0" cy="431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F13888-5B02-197B-CBE9-EB92F9D2198C}"/>
              </a:ext>
            </a:extLst>
          </p:cNvPr>
          <p:cNvCxnSpPr/>
          <p:nvPr/>
        </p:nvCxnSpPr>
        <p:spPr>
          <a:xfrm>
            <a:off x="6476999" y="4867163"/>
            <a:ext cx="0" cy="431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0C74DF-1032-4636-0F8C-08A000D11351}"/>
              </a:ext>
            </a:extLst>
          </p:cNvPr>
          <p:cNvCxnSpPr/>
          <p:nvPr/>
        </p:nvCxnSpPr>
        <p:spPr>
          <a:xfrm>
            <a:off x="6460065" y="5695115"/>
            <a:ext cx="0" cy="431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277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273B-4372-ABFB-CBB8-DBFC324C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D30FE0-C430-72CC-06B2-C4FC28DB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Hindernisvermeidung</a:t>
            </a:r>
            <a:br>
              <a:rPr lang="de-DE" sz="3600" dirty="0"/>
            </a:br>
            <a:r>
              <a:rPr lang="en-GB" sz="3600" dirty="0">
                <a:solidFill>
                  <a:srgbClr val="FB1A62"/>
                </a:solidFill>
              </a:rPr>
              <a:t>Aufgabe 4</a:t>
            </a:r>
            <a:br>
              <a:rPr lang="en-GB" sz="3600" dirty="0">
                <a:solidFill>
                  <a:srgbClr val="FB1A62"/>
                </a:solidFill>
              </a:rPr>
            </a:br>
            <a:r>
              <a:rPr lang="en-GB" sz="2000" dirty="0">
                <a:solidFill>
                  <a:srgbClr val="FB1A62"/>
                </a:solidFill>
              </a:rPr>
              <a:t>(Navigation </a:t>
            </a:r>
            <a:r>
              <a:rPr lang="en-GB" sz="2000" dirty="0" err="1">
                <a:solidFill>
                  <a:srgbClr val="FB1A62"/>
                </a:solidFill>
              </a:rPr>
              <a:t>mit</a:t>
            </a:r>
            <a:r>
              <a:rPr lang="en-GB" sz="2000" dirty="0">
                <a:solidFill>
                  <a:srgbClr val="FB1A62"/>
                </a:solidFill>
              </a:rPr>
              <a:t> </a:t>
            </a:r>
            <a:r>
              <a:rPr lang="en-GB" sz="2000" dirty="0" err="1">
                <a:solidFill>
                  <a:srgbClr val="FB1A62"/>
                </a:solidFill>
              </a:rPr>
              <a:t>Hindernisvermeidung</a:t>
            </a:r>
            <a:r>
              <a:rPr lang="en-GB" sz="2000" dirty="0">
                <a:solidFill>
                  <a:srgbClr val="FB1A62"/>
                </a:solidFill>
              </a:rPr>
              <a:t>)</a:t>
            </a:r>
            <a:endParaRPr lang="de-DE" sz="2000" dirty="0">
              <a:solidFill>
                <a:srgbClr val="FB1A6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F7CB05-463F-7E22-75C5-AB7FD1C25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983245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>
                <a:latin typeface="Arial"/>
              </a:rPr>
              <a:t>Schritt 1: Navigation von A nach B</a:t>
            </a:r>
          </a:p>
          <a:p>
            <a:r>
              <a:rPr lang="de-DE" dirty="0">
                <a:latin typeface="Arial"/>
              </a:rPr>
              <a:t>Schritt 2: Navigation von B nach C (mit Hindernisvermeidung)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AAA1F-6501-AD42-B100-2E994F6CBD4C}"/>
              </a:ext>
            </a:extLst>
          </p:cNvPr>
          <p:cNvSpPr/>
          <p:nvPr/>
        </p:nvSpPr>
        <p:spPr>
          <a:xfrm>
            <a:off x="169334" y="3990199"/>
            <a:ext cx="2598540" cy="4033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Karte laden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02A6A-AA22-DD70-48DA-55625CAD4448}"/>
              </a:ext>
            </a:extLst>
          </p:cNvPr>
          <p:cNvSpPr/>
          <p:nvPr/>
        </p:nvSpPr>
        <p:spPr>
          <a:xfrm>
            <a:off x="3810000" y="4001064"/>
            <a:ext cx="2590800" cy="4033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Laufen von A nach 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ACEB2A-15ED-3466-CACA-2A32516B1281}"/>
              </a:ext>
            </a:extLst>
          </p:cNvPr>
          <p:cNvCxnSpPr>
            <a:cxnSpLocks/>
          </p:cNvCxnSpPr>
          <p:nvPr/>
        </p:nvCxnSpPr>
        <p:spPr>
          <a:xfrm>
            <a:off x="2844800" y="4184309"/>
            <a:ext cx="82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86452FC-6FFC-4AF5-20B4-4D2904045A13}"/>
              </a:ext>
            </a:extLst>
          </p:cNvPr>
          <p:cNvSpPr/>
          <p:nvPr/>
        </p:nvSpPr>
        <p:spPr>
          <a:xfrm>
            <a:off x="3822699" y="5608574"/>
            <a:ext cx="2578101" cy="961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Laufen von B nach C (Hindernis im Weg vermeiden)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2DC7E2-9A2E-0E90-EDE3-E2207B7AFA87}"/>
              </a:ext>
            </a:extLst>
          </p:cNvPr>
          <p:cNvCxnSpPr>
            <a:cxnSpLocks/>
          </p:cNvCxnSpPr>
          <p:nvPr/>
        </p:nvCxnSpPr>
        <p:spPr>
          <a:xfrm>
            <a:off x="5105400" y="4529667"/>
            <a:ext cx="0" cy="892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Placeholder 6">
            <a:extLst>
              <a:ext uri="{FF2B5EF4-FFF2-40B4-BE49-F238E27FC236}">
                <a16:creationId xmlns:a16="http://schemas.microsoft.com/office/drawing/2014/main" id="{9BDFFAF0-1A26-3FBD-CEC4-ED565A1C5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7051675" y="511213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27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03C6D-421F-D856-8AD4-8E708D1B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16E2B0-D72B-C794-2EBD-CACAFCFAD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Grundlagen der Armtätigkeit​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E1BD86DD-5AE4-9663-7167-A5DE79E24B2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68990" y="841411"/>
            <a:ext cx="5139916" cy="5366243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1BC7A496-0799-D68A-3D49-D3313AD49B5A}"/>
              </a:ext>
            </a:extLst>
          </p:cNvPr>
          <p:cNvSpPr txBox="1">
            <a:spLocks/>
          </p:cNvSpPr>
          <p:nvPr/>
        </p:nvSpPr>
        <p:spPr>
          <a:xfrm>
            <a:off x="83094" y="1554816"/>
            <a:ext cx="6509294" cy="1813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endParaRPr lang="de-DE" sz="3200" dirty="0">
              <a:solidFill>
                <a:srgbClr val="FA1960"/>
              </a:solidFill>
            </a:endParaRPr>
          </a:p>
          <a:p>
            <a:pPr algn="ctr"/>
            <a:endParaRPr lang="de-DE" sz="3200" dirty="0">
              <a:solidFill>
                <a:srgbClr val="FA1960"/>
              </a:solidFill>
            </a:endParaRPr>
          </a:p>
          <a:p>
            <a:pPr algn="ctr"/>
            <a:r>
              <a:rPr lang="de-DE" sz="3200" dirty="0">
                <a:solidFill>
                  <a:srgbClr val="FA1960"/>
                </a:solidFill>
              </a:rPr>
              <a:t>Demo Hand Movement</a:t>
            </a:r>
          </a:p>
          <a:p>
            <a:pPr algn="ctr"/>
            <a:endParaRPr lang="de-DE" sz="3200" dirty="0">
              <a:solidFill>
                <a:srgbClr val="FA1960"/>
              </a:solidFill>
            </a:endParaRPr>
          </a:p>
          <a:p>
            <a:pPr algn="ctr"/>
            <a:endParaRPr lang="de-DE" sz="3200" dirty="0">
              <a:solidFill>
                <a:srgbClr val="FA1960"/>
              </a:solidFill>
            </a:endParaRPr>
          </a:p>
          <a:p>
            <a:pPr algn="ctr"/>
            <a:r>
              <a:rPr lang="de-DE" sz="3200" dirty="0"/>
              <a:t>​</a:t>
            </a:r>
            <a:endParaRPr lang="de-DE" sz="3000" dirty="0">
              <a:solidFill>
                <a:srgbClr val="FB1A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639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8AA12-94CE-A280-6C85-6C1E1B95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45D20-E790-690A-DB21-F3C59325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Grundlagen der Armtätigkeit​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BD163-2310-C927-53D0-9E8643DF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983245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Aufgabe 1 (Teach und Repeat)​</a:t>
            </a:r>
          </a:p>
          <a:p>
            <a:pPr marL="0" indent="0">
              <a:buNone/>
            </a:pPr>
            <a:br>
              <a:rPr lang="en-GB" dirty="0"/>
            </a:br>
            <a:endParaRPr lang="de-DE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6F93F01-8235-3042-2DD6-AC9DDFAFEBC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68990" y="841411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851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C15DB5-954C-4A2A-881A-5F0CCB925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DF340-1350-32D6-7186-4EF6AB7F3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Festprogrammierte Greifaufgabe​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5A76472A-26F9-1A96-ACE0-204CB8A312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68990" y="841411"/>
            <a:ext cx="5139916" cy="5366243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DB297192-6575-CE74-3BB7-07EC48EFD355}"/>
              </a:ext>
            </a:extLst>
          </p:cNvPr>
          <p:cNvSpPr txBox="1">
            <a:spLocks/>
          </p:cNvSpPr>
          <p:nvPr/>
        </p:nvSpPr>
        <p:spPr>
          <a:xfrm>
            <a:off x="0" y="1532466"/>
            <a:ext cx="6680200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000" dirty="0">
                <a:solidFill>
                  <a:srgbClr val="FB1A62"/>
                </a:solidFill>
              </a:rPr>
              <a:t>Stabilität beim Heben (Schwerpunktänderung)</a:t>
            </a:r>
          </a:p>
        </p:txBody>
      </p:sp>
    </p:spTree>
    <p:extLst>
      <p:ext uri="{BB962C8B-B14F-4D97-AF65-F5344CB8AC3E}">
        <p14:creationId xmlns:p14="http://schemas.microsoft.com/office/powerpoint/2010/main" val="1589749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3786F0-933F-53A6-EE2B-008307950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63678"/>
            <a:ext cx="6129867" cy="878066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rgbClr val="FB1A62"/>
                </a:solidFill>
              </a:rPr>
              <a:t>Aufgabe 3 </a:t>
            </a:r>
            <a:r>
              <a:rPr lang="de-DE" altLang="de-DE" dirty="0" err="1">
                <a:solidFill>
                  <a:srgbClr val="FA1960"/>
                </a:solidFill>
                <a:latin typeface="Arial" panose="020B0604020202020204" pitchFamily="34" charset="0"/>
              </a:rPr>
              <a:t>Mujoco</a:t>
            </a:r>
            <a:r>
              <a:rPr lang="de-DE" altLang="de-DE" dirty="0">
                <a:solidFill>
                  <a:srgbClr val="FA1960"/>
                </a:solidFill>
                <a:latin typeface="Arial" panose="020B0604020202020204" pitchFamily="34" charset="0"/>
              </a:rPr>
              <a:t> Simulation –go2</a:t>
            </a:r>
            <a:br>
              <a:rPr lang="de-DE" altLang="de-DE" dirty="0">
                <a:latin typeface="Arial" panose="020B0604020202020204" pitchFamily="34" charset="0"/>
              </a:rPr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7ED2A7-0F92-BEFA-CD24-CB44DA862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67" y="1921155"/>
            <a:ext cx="5562987" cy="4283678"/>
          </a:xfrm>
        </p:spPr>
        <p:txBody>
          <a:bodyPr/>
          <a:lstStyle/>
          <a:p>
            <a:r>
              <a:rPr lang="de-DE" dirty="0"/>
              <a:t>REPOSITORY: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6" name="Grafik 5" descr="Ein Bild, das Spielzeug enthält.&#10;&#10;KI-generierte Inhalte können fehlerhaft sein.">
            <a:extLst>
              <a:ext uri="{FF2B5EF4-FFF2-40B4-BE49-F238E27FC236}">
                <a16:creationId xmlns:a16="http://schemas.microsoft.com/office/drawing/2014/main" id="{502F4225-FEF5-99B6-E34F-3753BC577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583" y="2043548"/>
            <a:ext cx="4389500" cy="3368332"/>
          </a:xfrm>
          <a:prstGeom prst="rect">
            <a:avLst/>
          </a:prstGeom>
        </p:spPr>
      </p:pic>
      <p:pic>
        <p:nvPicPr>
          <p:cNvPr id="8" name="Grafik 7" descr="Ein Bild, das Muster, Quadrat, Symmetrie, Pixel enthält.&#10;&#10;KI-generierte Inhalte können fehlerhaft sein.">
            <a:extLst>
              <a:ext uri="{FF2B5EF4-FFF2-40B4-BE49-F238E27FC236}">
                <a16:creationId xmlns:a16="http://schemas.microsoft.com/office/drawing/2014/main" id="{E37ED483-8F7B-8755-C862-CA2FADA92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88" y="2706021"/>
            <a:ext cx="3133052" cy="313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35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D339DF-DF83-13BE-31AB-07C34FE6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Mujoco</a:t>
            </a:r>
            <a:r>
              <a:rPr lang="de-DE" dirty="0"/>
              <a:t> Installation</a:t>
            </a:r>
            <a:br>
              <a:rPr lang="de-DE" dirty="0"/>
            </a:br>
            <a:endParaRPr lang="de-DE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C7712FB-98EE-43A0-C3AC-0DE2071DE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7663" y="1989293"/>
            <a:ext cx="30572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Schritte 1: </a:t>
            </a:r>
            <a:r>
              <a:rPr lang="de-DE" altLang="de-DE" sz="1800" dirty="0">
                <a:latin typeface="Arial" panose="020B0604020202020204" pitchFamily="34" charset="0"/>
              </a:rPr>
              <a:t>C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lone Repository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fik 7" descr="Ein Bild, das Text, Screenshot, Schrift, Schwarz enthält.&#10;&#10;KI-generierte Inhalte können fehlerhaft sein.">
            <a:extLst>
              <a:ext uri="{FF2B5EF4-FFF2-40B4-BE49-F238E27FC236}">
                <a16:creationId xmlns:a16="http://schemas.microsoft.com/office/drawing/2014/main" id="{FB9EED44-9859-FF50-F50E-412577327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84" y="3294905"/>
            <a:ext cx="11193623" cy="158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41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E2F37F-4D37-FB38-B8B1-C42983BCA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81" y="451945"/>
            <a:ext cx="5562987" cy="878066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Install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 Software (</a:t>
            </a:r>
            <a:r>
              <a:rPr lang="de-DE" dirty="0" err="1"/>
              <a:t>Dependencies</a:t>
            </a:r>
            <a:r>
              <a:rPr lang="de-DE" dirty="0"/>
              <a:t>)</a:t>
            </a:r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BCA36B82-2E3E-AF13-422C-858CACD48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481" y="2897738"/>
            <a:ext cx="10070338" cy="187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0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58E212-BD8F-B4F1-4481-7E39C2170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136" y="1403131"/>
            <a:ext cx="5562987" cy="878066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Install</a:t>
            </a:r>
            <a:r>
              <a:rPr lang="de-DE" dirty="0"/>
              <a:t> </a:t>
            </a:r>
            <a:r>
              <a:rPr lang="de-DE" dirty="0" err="1"/>
              <a:t>Unitree</a:t>
            </a:r>
            <a:r>
              <a:rPr lang="de-DE" dirty="0"/>
              <a:t> SDK2 (Python Version)-</a:t>
            </a:r>
            <a:r>
              <a:rPr lang="de-DE" altLang="de-DE" b="0" dirty="0">
                <a:latin typeface="Arial" panose="020B0604020202020204" pitchFamily="34" charset="0"/>
              </a:rPr>
              <a:t>Wenn bereits installiert, nicht erneut installieren.</a:t>
            </a:r>
            <a:br>
              <a:rPr lang="de-DE" altLang="de-DE" b="0" dirty="0">
                <a:latin typeface="Arial" panose="020B0604020202020204" pitchFamily="34" charset="0"/>
              </a:rPr>
            </a:br>
            <a:endParaRPr lang="de-DE" dirty="0"/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7949273F-7225-1BCD-9D64-2901EE55C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136" y="4154765"/>
            <a:ext cx="9649222" cy="1655704"/>
          </a:xfrm>
          <a:prstGeom prst="rect">
            <a:avLst/>
          </a:prstGeom>
        </p:spPr>
      </p:pic>
      <p:pic>
        <p:nvPicPr>
          <p:cNvPr id="4" name="Grafik 3" descr="Ein Bild, das Muster, Grafiken, Kunst, Pixel enthält.&#10;&#10;KI-generierte Inhalte können fehlerhaft sein.">
            <a:extLst>
              <a:ext uri="{FF2B5EF4-FFF2-40B4-BE49-F238E27FC236}">
                <a16:creationId xmlns:a16="http://schemas.microsoft.com/office/drawing/2014/main" id="{94A04984-C1ED-CEE8-2D90-04C7BF89E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920" y="284480"/>
            <a:ext cx="33020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22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75C832-97F3-E030-3C2F-6202CD001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Common </a:t>
            </a:r>
            <a:r>
              <a:rPr lang="de-DE" dirty="0" err="1"/>
              <a:t>Mistake</a:t>
            </a:r>
            <a:r>
              <a:rPr lang="de-DE" dirty="0"/>
              <a:t>!!</a:t>
            </a:r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1874510-DB95-1DA3-C0B4-F1F7AB502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802" y="2550933"/>
            <a:ext cx="11164769" cy="163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214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445313-2DBF-1E4E-EA1E-64F3798D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Fix Cyclone DDS (Simple Way)</a:t>
            </a:r>
            <a:endParaRPr lang="de-DE" dirty="0"/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089C20A-9385-5A29-ED44-9FDA799F3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272" y="2059892"/>
            <a:ext cx="9399576" cy="257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5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FBDCD11C-06B1-443B-9628-1E7C42B63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" y="71673"/>
            <a:ext cx="6433273" cy="1579700"/>
          </a:xfrm>
          <a:prstGeom prst="rect">
            <a:avLst/>
          </a:prstGeom>
        </p:spPr>
      </p:pic>
      <p:pic>
        <p:nvPicPr>
          <p:cNvPr id="8" name="Grafik 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1D0A6E64-E59B-5561-5B97-DEAD5D270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111803"/>
            <a:ext cx="9705216" cy="2167033"/>
          </a:xfrm>
          <a:prstGeom prst="rect">
            <a:avLst/>
          </a:prstGeom>
        </p:spPr>
      </p:pic>
      <p:pic>
        <p:nvPicPr>
          <p:cNvPr id="10" name="Grafik 9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CF1D6BFD-C10E-2C55-1F1B-4DF5FA2BF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" y="4739266"/>
            <a:ext cx="5793193" cy="1934628"/>
          </a:xfrm>
          <a:prstGeom prst="rect">
            <a:avLst/>
          </a:prstGeom>
        </p:spPr>
      </p:pic>
      <p:pic>
        <p:nvPicPr>
          <p:cNvPr id="12" name="Grafik 11" descr="Ein Bild, das Muster, Quadra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4EB23DFC-7C6A-16D8-BD5F-837DEA2ED8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480" y="143933"/>
            <a:ext cx="2333118" cy="233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75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FED6FA-2B2A-2C47-DCD1-1D5A5A75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Check Robot </a:t>
            </a:r>
            <a:r>
              <a:rPr lang="de-DE" dirty="0" err="1"/>
              <a:t>Configuration</a:t>
            </a:r>
            <a:endParaRPr lang="de-DE" dirty="0"/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A39A616-73D9-748B-4BD8-9169EF163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700" y="1775165"/>
            <a:ext cx="10911903" cy="1653835"/>
          </a:xfrm>
          <a:prstGeom prst="rect">
            <a:avLst/>
          </a:prstGeom>
        </p:spPr>
      </p:pic>
      <p:pic>
        <p:nvPicPr>
          <p:cNvPr id="8" name="Grafik 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681809E8-5D66-CA82-C394-BD8F76007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30" y="3874152"/>
            <a:ext cx="9127011" cy="210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8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F47301-6D2B-6B9B-66A9-9EFA030C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Start </a:t>
            </a:r>
            <a:r>
              <a:rPr lang="de-DE" dirty="0" err="1"/>
              <a:t>the</a:t>
            </a:r>
            <a:r>
              <a:rPr lang="de-DE" dirty="0"/>
              <a:t> Simulator</a:t>
            </a:r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6EB59943-D4BD-315D-821B-4E9828994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34" y="2002759"/>
            <a:ext cx="11048940" cy="243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18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Screenshot, Multimedia-Software, Grafiksoftware, 3D-Modellierung enthält.&#10;&#10;KI-generierte Inhalte können fehlerhaft sein.">
            <a:extLst>
              <a:ext uri="{FF2B5EF4-FFF2-40B4-BE49-F238E27FC236}">
                <a16:creationId xmlns:a16="http://schemas.microsoft.com/office/drawing/2014/main" id="{C06F578D-11F1-3A2E-A6F6-6D8BAA5E3D4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b="1314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29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Screenshot, Multimedia-Software, Grafiksoftware, 3D-Modellierung enthält.&#10;&#10;KI-generierte Inhalte können fehlerhaft sein.">
            <a:extLst>
              <a:ext uri="{FF2B5EF4-FFF2-40B4-BE49-F238E27FC236}">
                <a16:creationId xmlns:a16="http://schemas.microsoft.com/office/drawing/2014/main" id="{C06F578D-11F1-3A2E-A6F6-6D8BAA5E3D4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b="13144"/>
          <a:stretch>
            <a:fillRect/>
          </a:stretch>
        </p:blipFill>
        <p:spPr>
          <a:xfrm>
            <a:off x="211666" y="1027313"/>
            <a:ext cx="7010400" cy="3942619"/>
          </a:xfrm>
          <a:prstGeom prst="rect">
            <a:avLst/>
          </a:prstGeom>
        </p:spPr>
      </p:pic>
      <p:pic>
        <p:nvPicPr>
          <p:cNvPr id="3" name="Grafik 2" descr="Ein Bild, das Screenshot, 3D-Modellierung, PC-Spiel, Spielesoftware enthält.&#10;&#10;KI-generierte Inhalte können fehlerhaft sein.">
            <a:extLst>
              <a:ext uri="{FF2B5EF4-FFF2-40B4-BE49-F238E27FC236}">
                <a16:creationId xmlns:a16="http://schemas.microsoft.com/office/drawing/2014/main" id="{931CE017-7E03-9E8C-40B1-087CA4C20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420" y="819113"/>
            <a:ext cx="4320914" cy="43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CF61B-92C5-0275-66FD-4FC0F8850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Run the Test Program (New Terminal)</a:t>
            </a:r>
            <a:endParaRPr lang="de-DE" dirty="0"/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9D0B50DC-7942-23BA-B9E7-CB4F12C62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033" y="3101419"/>
            <a:ext cx="10150058" cy="197020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4FDFC00A-FA05-E29E-051C-BF5D72523EA8}"/>
              </a:ext>
            </a:extLst>
          </p:cNvPr>
          <p:cNvSpPr txBox="1"/>
          <p:nvPr/>
        </p:nvSpPr>
        <p:spPr>
          <a:xfrm>
            <a:off x="1532466" y="1638532"/>
            <a:ext cx="6493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Create an virtual </a:t>
            </a:r>
            <a:r>
              <a:rPr lang="de-DE" dirty="0" err="1">
                <a:solidFill>
                  <a:schemeClr val="bg1"/>
                </a:solidFill>
              </a:rPr>
              <a:t>environment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this</a:t>
            </a:r>
            <a:r>
              <a:rPr lang="de-DE" dirty="0">
                <a:solidFill>
                  <a:schemeClr val="bg1"/>
                </a:solidFill>
              </a:rPr>
              <a:t> : </a:t>
            </a:r>
          </a:p>
          <a:p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python3 –m 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venv</a:t>
            </a:r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venv</a:t>
            </a:r>
            <a:endParaRPr lang="de-D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source /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venv</a:t>
            </a:r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/bin /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activate</a:t>
            </a:r>
            <a:endParaRPr lang="de-D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2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EDCD36-A63F-CAD0-2AFE-7C4A065E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C++ </a:t>
            </a:r>
            <a:r>
              <a:rPr lang="de-DE" dirty="0" err="1"/>
              <a:t>scripts</a:t>
            </a:r>
            <a:r>
              <a:rPr lang="de-DE" dirty="0"/>
              <a:t>: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412DB0-3597-D850-6DA4-477AC28B8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0012"/>
            <a:ext cx="5562987" cy="4283678"/>
          </a:xfrm>
        </p:spPr>
        <p:txBody>
          <a:bodyPr/>
          <a:lstStyle/>
          <a:p>
            <a:r>
              <a:rPr lang="de-DE" dirty="0"/>
              <a:t>schritt1 : </a:t>
            </a:r>
            <a:r>
              <a:rPr lang="de-DE" dirty="0" err="1"/>
              <a:t>unitree</a:t>
            </a:r>
            <a:r>
              <a:rPr lang="de-DE" dirty="0"/>
              <a:t> C++ </a:t>
            </a:r>
            <a:r>
              <a:rPr lang="de-DE" dirty="0" err="1"/>
              <a:t>skd</a:t>
            </a:r>
            <a:r>
              <a:rPr lang="de-DE" dirty="0"/>
              <a:t> </a:t>
            </a:r>
            <a:r>
              <a:rPr lang="de-DE" dirty="0" err="1"/>
              <a:t>installtion</a:t>
            </a:r>
            <a:r>
              <a:rPr lang="de-DE" dirty="0"/>
              <a:t> : </a:t>
            </a:r>
          </a:p>
        </p:txBody>
      </p:sp>
      <p:pic>
        <p:nvPicPr>
          <p:cNvPr id="6" name="Bildplatzhalter 5" descr="Ein Bild, das Muster, Kuns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42470771-8002-5D5B-2337-886BC7AABB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7919880" y="1330012"/>
            <a:ext cx="3433920" cy="3585127"/>
          </a:xfrm>
          <a:prstGeom prst="rect">
            <a:avLst/>
          </a:prstGeom>
        </p:spPr>
      </p:pic>
      <p:pic>
        <p:nvPicPr>
          <p:cNvPr id="8" name="Grafik 7" descr="Ein Bild, das Text, Screenshot, Schrift, Schwarz enthält.&#10;&#10;KI-generierte Inhalte können fehlerhaft sein.">
            <a:extLst>
              <a:ext uri="{FF2B5EF4-FFF2-40B4-BE49-F238E27FC236}">
                <a16:creationId xmlns:a16="http://schemas.microsoft.com/office/drawing/2014/main" id="{A816EEA1-0323-542F-E73C-7AC4F2828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71" y="2256930"/>
            <a:ext cx="7160861" cy="1111647"/>
          </a:xfrm>
          <a:prstGeom prst="rect">
            <a:avLst/>
          </a:prstGeom>
        </p:spPr>
      </p:pic>
      <p:pic>
        <p:nvPicPr>
          <p:cNvPr id="10" name="Grafik 9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13FD317-7C56-8C25-04BA-2DB786F11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71" y="3598163"/>
            <a:ext cx="5920207" cy="1524564"/>
          </a:xfrm>
          <a:prstGeom prst="rect">
            <a:avLst/>
          </a:prstGeom>
        </p:spPr>
      </p:pic>
      <p:pic>
        <p:nvPicPr>
          <p:cNvPr id="12" name="Grafik 11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6B8AA601-1EF3-562E-FCF3-3F1D2AA84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71" y="5407143"/>
            <a:ext cx="6145515" cy="111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97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Text, Screenshot, Schrift, Schwarz enthält.&#10;&#10;KI-generierte Inhalte können fehlerhaft sein.">
            <a:extLst>
              <a:ext uri="{FF2B5EF4-FFF2-40B4-BE49-F238E27FC236}">
                <a16:creationId xmlns:a16="http://schemas.microsoft.com/office/drawing/2014/main" id="{01FA6335-0F79-D2F0-6608-A84CE426B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009" y="812602"/>
            <a:ext cx="9267865" cy="1714288"/>
          </a:xfrm>
          <a:prstGeom prst="rect">
            <a:avLst/>
          </a:prstGeom>
        </p:spPr>
      </p:pic>
      <p:pic>
        <p:nvPicPr>
          <p:cNvPr id="8" name="Grafik 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93490A5C-8002-CF53-A714-4F1DFB470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67" y="3903223"/>
            <a:ext cx="7597262" cy="153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193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1631C3-DE6A-CF30-2782-88200E50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Schritt 2</a:t>
            </a:r>
            <a:r>
              <a:rPr lang="de-DE" dirty="0"/>
              <a:t>: Run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script</a:t>
            </a:r>
            <a:endParaRPr lang="de-DE" dirty="0"/>
          </a:p>
        </p:txBody>
      </p:sp>
      <p:pic>
        <p:nvPicPr>
          <p:cNvPr id="6" name="Inhaltsplatzhalter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F0E5B0BA-ECE1-4D9D-00AA-F08B42615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160" y="1881850"/>
            <a:ext cx="5166808" cy="1013548"/>
          </a:xfrm>
          <a:prstGeom prst="rect">
            <a:avLst/>
          </a:prstGeom>
        </p:spPr>
      </p:pic>
      <p:pic>
        <p:nvPicPr>
          <p:cNvPr id="8" name="Grafik 7" descr="Ein Bild, das Screenshot, Text, Schwarz, weiß enthält.&#10;&#10;KI-generierte Inhalte können fehlerhaft sein.">
            <a:extLst>
              <a:ext uri="{FF2B5EF4-FFF2-40B4-BE49-F238E27FC236}">
                <a16:creationId xmlns:a16="http://schemas.microsoft.com/office/drawing/2014/main" id="{B20F454D-46F1-4DF4-E80F-E8434047C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60" y="3212335"/>
            <a:ext cx="4366638" cy="777307"/>
          </a:xfrm>
          <a:prstGeom prst="rect">
            <a:avLst/>
          </a:prstGeom>
        </p:spPr>
      </p:pic>
      <p:pic>
        <p:nvPicPr>
          <p:cNvPr id="10" name="Grafik 9" descr="Ein Bild, das Screenshot, Schwarz, weiß, Schwarzweiß enthält.&#10;&#10;KI-generierte Inhalte können fehlerhaft sein.">
            <a:extLst>
              <a:ext uri="{FF2B5EF4-FFF2-40B4-BE49-F238E27FC236}">
                <a16:creationId xmlns:a16="http://schemas.microsoft.com/office/drawing/2014/main" id="{4C94FC2F-67CE-719B-8A5E-ABD69E23E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60" y="4423869"/>
            <a:ext cx="4229467" cy="7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84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1F6EA5-9281-94AB-5916-C3860168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MJ LAB SIMULATION</a:t>
            </a:r>
          </a:p>
        </p:txBody>
      </p:sp>
      <p:pic>
        <p:nvPicPr>
          <p:cNvPr id="6" name="Inhaltsplatzhalter 5" descr="Ein Bild, das Tanz, Schuhwerk, Boxen, Person enthält.&#10;&#10;KI-generierte Inhalte können fehlerhaft sein.">
            <a:extLst>
              <a:ext uri="{FF2B5EF4-FFF2-40B4-BE49-F238E27FC236}">
                <a16:creationId xmlns:a16="http://schemas.microsoft.com/office/drawing/2014/main" id="{942BC0FB-C30B-94DC-BE1C-DF35027FC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3656" y="1940559"/>
            <a:ext cx="5551690" cy="2976881"/>
          </a:xfrm>
          <a:prstGeom prst="rect">
            <a:avLst/>
          </a:prstGeom>
        </p:spPr>
      </p:pic>
      <p:pic>
        <p:nvPicPr>
          <p:cNvPr id="8" name="Grafik 7" descr="Ein Bild, das Muster, Quadra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FD957D8F-ED0F-E052-0EAD-B342C0DF5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320" y="2316480"/>
            <a:ext cx="3398520" cy="339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983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C5AFF-2EA2-0AB4-C186-7CF30628F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Schritte 1:</a:t>
            </a:r>
          </a:p>
        </p:txBody>
      </p:sp>
      <p:pic>
        <p:nvPicPr>
          <p:cNvPr id="14" name="Grafik 13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5AC21264-5AF8-7FE5-E682-B16F9225C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49487"/>
            <a:ext cx="10394149" cy="1695046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1F69A01D-F3A1-E528-806C-628967DEC634}"/>
              </a:ext>
            </a:extLst>
          </p:cNvPr>
          <p:cNvSpPr txBox="1"/>
          <p:nvPr/>
        </p:nvSpPr>
        <p:spPr>
          <a:xfrm>
            <a:off x="1532466" y="1638532"/>
            <a:ext cx="6493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Create an virtual </a:t>
            </a:r>
            <a:r>
              <a:rPr lang="de-DE" dirty="0" err="1">
                <a:solidFill>
                  <a:schemeClr val="bg1"/>
                </a:solidFill>
              </a:rPr>
              <a:t>environment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this</a:t>
            </a:r>
            <a:r>
              <a:rPr lang="de-DE" dirty="0">
                <a:solidFill>
                  <a:schemeClr val="bg1"/>
                </a:solidFill>
              </a:rPr>
              <a:t> : </a:t>
            </a:r>
          </a:p>
          <a:p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python3 –m 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venv</a:t>
            </a:r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venv</a:t>
            </a:r>
            <a:endParaRPr lang="de-D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source /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venv</a:t>
            </a:r>
            <a:r>
              <a:rPr lang="de-D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/bin /</a:t>
            </a:r>
            <a:r>
              <a:rPr lang="de-D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activate</a:t>
            </a:r>
            <a:endParaRPr lang="de-D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938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Screenshot, Grafiksoftware enthält.&#10;&#10;KI-generierte Inhalte können fehlerhaft sein.">
            <a:extLst>
              <a:ext uri="{FF2B5EF4-FFF2-40B4-BE49-F238E27FC236}">
                <a16:creationId xmlns:a16="http://schemas.microsoft.com/office/drawing/2014/main" id="{DA0BEC59-7F1E-D681-B47F-93703BC2C7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0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59BB85-0429-1D9B-B3A8-6EC7A143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Schritte 3:Scripts: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F56AC9-9546-09D8-D04A-5D540198F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930751"/>
            <a:ext cx="11059160" cy="4283678"/>
          </a:xfrm>
        </p:spPr>
        <p:txBody>
          <a:bodyPr>
            <a:normAutofit/>
          </a:bodyPr>
          <a:lstStyle/>
          <a:p>
            <a:r>
              <a:rPr lang="de-DE" sz="2000" dirty="0"/>
              <a:t>.</a:t>
            </a:r>
            <a:r>
              <a:rPr lang="de-DE" sz="2000" dirty="0" err="1"/>
              <a:t>venv</a:t>
            </a:r>
            <a:r>
              <a:rPr lang="de-DE" sz="2000" dirty="0"/>
              <a:t>/bin/</a:t>
            </a:r>
            <a:r>
              <a:rPr lang="de-DE" sz="2000" dirty="0" err="1"/>
              <a:t>python</a:t>
            </a:r>
            <a:r>
              <a:rPr lang="de-DE" sz="2000" dirty="0"/>
              <a:t> -m </a:t>
            </a:r>
            <a:r>
              <a:rPr lang="de-DE" sz="2000" dirty="0" err="1"/>
              <a:t>mjlab.scripts.play</a:t>
            </a:r>
            <a:r>
              <a:rPr lang="de-DE" sz="2000" dirty="0"/>
              <a:t> Mjlab-Velocity-Flat-Unitree-G1 --viewer </a:t>
            </a:r>
            <a:r>
              <a:rPr lang="de-DE" sz="2000" dirty="0" err="1"/>
              <a:t>viser</a:t>
            </a:r>
            <a:r>
              <a:rPr lang="de-DE" sz="2000" dirty="0"/>
              <a:t> --</a:t>
            </a:r>
            <a:r>
              <a:rPr lang="de-DE" sz="2000" dirty="0" err="1"/>
              <a:t>num-envs</a:t>
            </a:r>
            <a:r>
              <a:rPr lang="de-DE" sz="2000" dirty="0"/>
              <a:t> 1 --</a:t>
            </a:r>
            <a:r>
              <a:rPr lang="de-DE" sz="2000" dirty="0" err="1"/>
              <a:t>device</a:t>
            </a:r>
            <a:r>
              <a:rPr lang="de-DE" sz="2000" dirty="0"/>
              <a:t> </a:t>
            </a:r>
            <a:r>
              <a:rPr lang="de-DE" sz="2000" dirty="0" err="1"/>
              <a:t>cpu</a:t>
            </a:r>
            <a:r>
              <a:rPr lang="de-DE" sz="2000" dirty="0"/>
              <a:t> --agent </a:t>
            </a:r>
            <a:r>
              <a:rPr lang="de-DE" sz="2000" dirty="0" err="1"/>
              <a:t>random</a:t>
            </a:r>
            <a:endParaRPr lang="de-DE" sz="2000" dirty="0"/>
          </a:p>
          <a:p>
            <a:endParaRPr lang="de-DE" sz="2000" dirty="0"/>
          </a:p>
          <a:p>
            <a:r>
              <a:rPr lang="de-DE" sz="2000" dirty="0"/>
              <a:t>FOR TRAINING : .</a:t>
            </a:r>
            <a:r>
              <a:rPr lang="de-DE" sz="2000" dirty="0" err="1"/>
              <a:t>venv</a:t>
            </a:r>
            <a:r>
              <a:rPr lang="de-DE" sz="2000" dirty="0"/>
              <a:t>/bin/</a:t>
            </a:r>
            <a:r>
              <a:rPr lang="de-DE" sz="2000" dirty="0" err="1"/>
              <a:t>python</a:t>
            </a:r>
            <a:r>
              <a:rPr lang="de-DE" sz="2000" dirty="0"/>
              <a:t> -m </a:t>
            </a:r>
            <a:r>
              <a:rPr lang="de-DE" sz="2000" dirty="0" err="1"/>
              <a:t>mjlab.scripts.train</a:t>
            </a:r>
            <a:r>
              <a:rPr lang="de-DE" sz="2000" dirty="0"/>
              <a:t> Mjlab-Velocity-Flat-Unitree-G1 --</a:t>
            </a:r>
            <a:r>
              <a:rPr lang="de-DE" sz="2000" dirty="0" err="1"/>
              <a:t>env.scene.num-envs</a:t>
            </a:r>
            <a:r>
              <a:rPr lang="de-DE" sz="2000" dirty="0"/>
              <a:t> 8 --</a:t>
            </a:r>
            <a:r>
              <a:rPr lang="de-DE" sz="2000" dirty="0" err="1"/>
              <a:t>gpu-ids</a:t>
            </a:r>
            <a:r>
              <a:rPr lang="de-DE" sz="2000" dirty="0"/>
              <a:t> None</a:t>
            </a:r>
          </a:p>
        </p:txBody>
      </p:sp>
    </p:spTree>
    <p:extLst>
      <p:ext uri="{BB962C8B-B14F-4D97-AF65-F5344CB8AC3E}">
        <p14:creationId xmlns:p14="http://schemas.microsoft.com/office/powerpoint/2010/main" val="3462373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2A5AC-9040-ACE5-6999-99194D61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3E24CDC1-BE42-6D54-B7EB-1FE428BB140C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000" dirty="0">
                <a:solidFill>
                  <a:srgbClr val="FB1A62"/>
                </a:solidFill>
              </a:rPr>
              <a:t>Aufgabe 3 (</a:t>
            </a:r>
            <a:r>
              <a:rPr lang="de-DE" sz="3000" dirty="0" err="1">
                <a:solidFill>
                  <a:srgbClr val="FB1A62"/>
                </a:solidFill>
              </a:rPr>
              <a:t>Indentifikation</a:t>
            </a:r>
            <a:r>
              <a:rPr lang="de-DE" sz="3000" dirty="0">
                <a:solidFill>
                  <a:srgbClr val="FB1A62"/>
                </a:solidFill>
              </a:rPr>
              <a:t> </a:t>
            </a:r>
            <a:r>
              <a:rPr lang="de-DE" sz="3000" dirty="0" err="1">
                <a:solidFill>
                  <a:srgbClr val="FB1A62"/>
                </a:solidFill>
              </a:rPr>
              <a:t>of</a:t>
            </a:r>
            <a:r>
              <a:rPr lang="de-DE" sz="3000" dirty="0">
                <a:solidFill>
                  <a:srgbClr val="FB1A62"/>
                </a:solidFill>
              </a:rPr>
              <a:t> </a:t>
            </a:r>
            <a:r>
              <a:rPr lang="de-DE" sz="3000" dirty="0" err="1">
                <a:solidFill>
                  <a:srgbClr val="FB1A62"/>
                </a:solidFill>
              </a:rPr>
              <a:t>objekt</a:t>
            </a:r>
            <a:r>
              <a:rPr lang="de-DE" sz="3000" dirty="0">
                <a:solidFill>
                  <a:srgbClr val="FB1A62"/>
                </a:solidFill>
              </a:rPr>
              <a:t>)​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15338D66-2E1F-C81C-4EFA-ADAFFA0F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806"/>
            <a:ext cx="12446000" cy="768194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Festprogrammierte Objektidentifikation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99991A8-F9B5-C0D3-3E60-460C69FC5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485" y="2281364"/>
            <a:ext cx="3633383" cy="248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3A24971-573F-EB5A-23C5-3D6A6CAC3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304" y="2361196"/>
            <a:ext cx="2779128" cy="240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350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6766BF-AB03-B06A-7ACE-4688E3C3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Abschlussaufgabe 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ECC7D7-5EED-CEC9-3045-75E937570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Roboter starten und in sicheren Stand bringen</a:t>
            </a:r>
          </a:p>
          <a:p>
            <a:r>
              <a:rPr lang="de-DE" dirty="0"/>
              <a:t>Laufen für 6m geradeaus</a:t>
            </a:r>
          </a:p>
          <a:p>
            <a:r>
              <a:rPr lang="de-DE" dirty="0"/>
              <a:t>Identifikation Boxsack</a:t>
            </a:r>
          </a:p>
          <a:p>
            <a:r>
              <a:rPr lang="de-DE" dirty="0"/>
              <a:t>Wenn ja: Punch 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7EC01E80-D437-F868-2732-8B4C5514C70D}"/>
              </a:ext>
            </a:extLst>
          </p:cNvPr>
          <p:cNvSpPr txBox="1">
            <a:spLocks/>
          </p:cNvSpPr>
          <p:nvPr/>
        </p:nvSpPr>
        <p:spPr>
          <a:xfrm>
            <a:off x="6798733" y="451946"/>
            <a:ext cx="5562987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de-DE" dirty="0"/>
              <a:t>Abschlussaufgabe B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99852CB2-3339-4324-0BAE-E6CC4A67D986}"/>
              </a:ext>
            </a:extLst>
          </p:cNvPr>
          <p:cNvSpPr txBox="1">
            <a:spLocks/>
          </p:cNvSpPr>
          <p:nvPr/>
        </p:nvSpPr>
        <p:spPr>
          <a:xfrm>
            <a:off x="6798733" y="1534511"/>
            <a:ext cx="5562987" cy="42836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Roboter starten und in sicheren Stand bringen</a:t>
            </a:r>
          </a:p>
          <a:p>
            <a:r>
              <a:rPr lang="de-DE" dirty="0"/>
              <a:t>Laufen für 0,9m </a:t>
            </a:r>
          </a:p>
          <a:p>
            <a:r>
              <a:rPr lang="de-DE" dirty="0"/>
              <a:t>90° Drehung</a:t>
            </a:r>
          </a:p>
          <a:p>
            <a:r>
              <a:rPr lang="de-DE" dirty="0"/>
              <a:t>Laufen für 1m</a:t>
            </a:r>
          </a:p>
          <a:p>
            <a:r>
              <a:rPr lang="de-DE" dirty="0"/>
              <a:t>Identifikation KLT</a:t>
            </a:r>
          </a:p>
          <a:p>
            <a:r>
              <a:rPr lang="de-DE" dirty="0"/>
              <a:t>Wenn Ja: anheben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67041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0DEB8F-5039-0A35-FD69-19B0265E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Abschlussaufgabe 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8F16C2-7D98-FE61-9A0B-9D1B092BD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Roboter starten und in sicheren Stand bringen</a:t>
            </a:r>
          </a:p>
          <a:p>
            <a:r>
              <a:rPr lang="de-DE" dirty="0"/>
              <a:t>Laufen für 0,9m </a:t>
            </a:r>
          </a:p>
          <a:p>
            <a:r>
              <a:rPr lang="de-DE" dirty="0"/>
              <a:t>90° Drehung</a:t>
            </a:r>
          </a:p>
          <a:p>
            <a:r>
              <a:rPr lang="de-DE" dirty="0"/>
              <a:t>Laufen für 1m</a:t>
            </a:r>
          </a:p>
          <a:p>
            <a:r>
              <a:rPr lang="de-DE" dirty="0"/>
              <a:t>Identifikation KLT</a:t>
            </a:r>
          </a:p>
          <a:p>
            <a:r>
              <a:rPr lang="de-DE" dirty="0"/>
              <a:t>Wenn Ja: anheben</a:t>
            </a:r>
          </a:p>
          <a:p>
            <a:endParaRPr lang="de-DE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C21F5F0-E6E5-00F8-E79F-A21B10496F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4530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Microsoft Office PowerPoint</Application>
  <PresentationFormat>Breitbild</PresentationFormat>
  <Paragraphs>96</Paragraphs>
  <Slides>31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Roboto</vt:lpstr>
      <vt:lpstr>Office</vt:lpstr>
      <vt:lpstr>Grundlagen der Laufbewegungen Aufgabe 1</vt:lpstr>
      <vt:lpstr>Grundlagen der Laufbewegungen Aufgabe 2</vt:lpstr>
      <vt:lpstr>Grundlagen der Laufbewegungen Aufgabe 3</vt:lpstr>
      <vt:lpstr>Kartierung und Navigation Aufgabe 4 (Navigation ohne Hindernisvermeidung)</vt:lpstr>
      <vt:lpstr>Hindernisvermeidung</vt:lpstr>
      <vt:lpstr>Hindernisvermeidung Aufgabe 4 (Navigation mit Hindernisvermeidung)</vt:lpstr>
      <vt:lpstr>Grundlagen der Armtätigkeit​</vt:lpstr>
      <vt:lpstr>Grundlagen der Armtätigkeit​</vt:lpstr>
      <vt:lpstr>Festprogrammierte Greifaufgabe​</vt:lpstr>
      <vt:lpstr>Aufgabe 3 Mujoco Simulation –go2 </vt:lpstr>
      <vt:lpstr>Mujoco Installation </vt:lpstr>
      <vt:lpstr>Install Required Software (Dependencies)</vt:lpstr>
      <vt:lpstr>Install Unitree SDK2 (Python Version)-Wenn bereits installiert, nicht erneut installieren. </vt:lpstr>
      <vt:lpstr>Common Mistake!!</vt:lpstr>
      <vt:lpstr>How To Fix Cyclone DDS (Simple Way)</vt:lpstr>
      <vt:lpstr>PowerPoint-Präsentation</vt:lpstr>
      <vt:lpstr>Check Robot Configuration</vt:lpstr>
      <vt:lpstr>Start the Simulator</vt:lpstr>
      <vt:lpstr>PowerPoint-Präsentation</vt:lpstr>
      <vt:lpstr>PowerPoint-Präsentation</vt:lpstr>
      <vt:lpstr>Run the Test Program (New Terminal)</vt:lpstr>
      <vt:lpstr>C++ scripts: </vt:lpstr>
      <vt:lpstr>PowerPoint-Präsentation</vt:lpstr>
      <vt:lpstr>Schritt 2: Run test script</vt:lpstr>
      <vt:lpstr>MJ LAB SIMULATION</vt:lpstr>
      <vt:lpstr>Schritte 1:</vt:lpstr>
      <vt:lpstr>PowerPoint-Präsentation</vt:lpstr>
      <vt:lpstr>Schritte 3:Scripts:</vt:lpstr>
      <vt:lpstr>Festprogrammierte Objektidentifikation</vt:lpstr>
      <vt:lpstr>Abschlussaufgabe A</vt:lpstr>
      <vt:lpstr>Abschlussaufgabe 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Midhun Eldose</dc:creator>
  <cp:lastModifiedBy>Midhun Eldose</cp:lastModifiedBy>
  <cp:revision>1</cp:revision>
  <dcterms:created xsi:type="dcterms:W3CDTF">2026-04-24T16:58:51Z</dcterms:created>
  <dcterms:modified xsi:type="dcterms:W3CDTF">2026-04-24T17:02:51Z</dcterms:modified>
</cp:coreProperties>
</file>