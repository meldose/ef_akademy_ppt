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45"/>
  </p:notesMasterIdLst>
  <p:sldIdLst>
    <p:sldId id="317" r:id="rId6"/>
    <p:sldId id="260" r:id="rId7"/>
    <p:sldId id="261" r:id="rId8"/>
    <p:sldId id="346" r:id="rId9"/>
    <p:sldId id="348" r:id="rId10"/>
    <p:sldId id="257" r:id="rId11"/>
    <p:sldId id="347" r:id="rId12"/>
    <p:sldId id="320" r:id="rId13"/>
    <p:sldId id="323" r:id="rId14"/>
    <p:sldId id="322" r:id="rId15"/>
    <p:sldId id="349" r:id="rId16"/>
    <p:sldId id="326" r:id="rId17"/>
    <p:sldId id="327" r:id="rId18"/>
    <p:sldId id="330" r:id="rId19"/>
    <p:sldId id="329" r:id="rId20"/>
    <p:sldId id="332" r:id="rId21"/>
    <p:sldId id="334" r:id="rId22"/>
    <p:sldId id="335" r:id="rId23"/>
    <p:sldId id="336" r:id="rId24"/>
    <p:sldId id="337" r:id="rId25"/>
    <p:sldId id="338" r:id="rId26"/>
    <p:sldId id="341" r:id="rId27"/>
    <p:sldId id="342" r:id="rId28"/>
    <p:sldId id="339" r:id="rId29"/>
    <p:sldId id="340" r:id="rId30"/>
    <p:sldId id="328" r:id="rId31"/>
    <p:sldId id="343" r:id="rId32"/>
    <p:sldId id="355" r:id="rId33"/>
    <p:sldId id="344" r:id="rId34"/>
    <p:sldId id="345" r:id="rId35"/>
    <p:sldId id="333" r:id="rId36"/>
    <p:sldId id="351" r:id="rId37"/>
    <p:sldId id="352" r:id="rId38"/>
    <p:sldId id="353" r:id="rId39"/>
    <p:sldId id="354" r:id="rId40"/>
    <p:sldId id="358" r:id="rId41"/>
    <p:sldId id="357" r:id="rId42"/>
    <p:sldId id="359" r:id="rId43"/>
    <p:sldId id="360" r:id="rId4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1A62"/>
    <a:srgbClr val="FA1960"/>
    <a:srgbClr val="FFFFFF"/>
    <a:srgbClr val="1D1E1F"/>
    <a:srgbClr val="282A2E"/>
    <a:srgbClr val="D90962"/>
    <a:srgbClr val="3635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22D02B-8AF8-401F-97D1-2A91FC4CCC9C}" v="29" dt="2026-06-15T12:41:48.6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660"/>
  </p:normalViewPr>
  <p:slideViewPr>
    <p:cSldViewPr snapToGrid="0">
      <p:cViewPr varScale="1">
        <p:scale>
          <a:sx n="90" d="100"/>
          <a:sy n="90" d="100"/>
        </p:scale>
        <p:origin x="62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theme" Target="theme/theme1.xml"/><Relationship Id="rId8" Type="http://schemas.openxmlformats.org/officeDocument/2006/relationships/slide" Target="slides/slide3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presProps" Target="pres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dhun Eldose" userId="276e0ff496d1bc83" providerId="LiveId" clId="{EBE7DE87-C041-44F4-B6B2-379359185045}"/>
    <pc:docChg chg="undo custSel addSld delSld modSld sldOrd">
      <pc:chgData name="Midhun Eldose" userId="276e0ff496d1bc83" providerId="LiveId" clId="{EBE7DE87-C041-44F4-B6B2-379359185045}" dt="2026-06-15T12:46:52.165" v="1758" actId="729"/>
      <pc:docMkLst>
        <pc:docMk/>
      </pc:docMkLst>
      <pc:sldChg chg="addSp delSp modSp mod">
        <pc:chgData name="Midhun Eldose" userId="276e0ff496d1bc83" providerId="LiveId" clId="{EBE7DE87-C041-44F4-B6B2-379359185045}" dt="2026-06-15T07:27:09.132" v="1397" actId="20577"/>
        <pc:sldMkLst>
          <pc:docMk/>
          <pc:sldMk cId="674145726" sldId="260"/>
        </pc:sldMkLst>
        <pc:graphicFrameChg chg="mod modGraphic">
          <ac:chgData name="Midhun Eldose" userId="276e0ff496d1bc83" providerId="LiveId" clId="{EBE7DE87-C041-44F4-B6B2-379359185045}" dt="2026-06-15T07:27:09.132" v="1397" actId="20577"/>
          <ac:graphicFrameMkLst>
            <pc:docMk/>
            <pc:sldMk cId="674145726" sldId="260"/>
            <ac:graphicFrameMk id="9" creationId="{29479B6B-F538-0E70-8D94-4B61194632CB}"/>
          </ac:graphicFrameMkLst>
        </pc:graphicFrameChg>
        <pc:picChg chg="del mod">
          <ac:chgData name="Midhun Eldose" userId="276e0ff496d1bc83" providerId="LiveId" clId="{EBE7DE87-C041-44F4-B6B2-379359185045}" dt="2026-06-15T07:06:03.919" v="1052" actId="478"/>
          <ac:picMkLst>
            <pc:docMk/>
            <pc:sldMk cId="674145726" sldId="260"/>
            <ac:picMk id="4" creationId="{5B67693D-8B31-016F-9DE3-2BBE831469A8}"/>
          </ac:picMkLst>
        </pc:picChg>
      </pc:sldChg>
      <pc:sldChg chg="mod modShow">
        <pc:chgData name="Midhun Eldose" userId="276e0ff496d1bc83" providerId="LiveId" clId="{EBE7DE87-C041-44F4-B6B2-379359185045}" dt="2026-06-15T10:48:28.425" v="1398" actId="729"/>
        <pc:sldMkLst>
          <pc:docMk/>
          <pc:sldMk cId="1988433813" sldId="329"/>
        </pc:sldMkLst>
      </pc:sldChg>
      <pc:sldChg chg="ord">
        <pc:chgData name="Midhun Eldose" userId="276e0ff496d1bc83" providerId="LiveId" clId="{EBE7DE87-C041-44F4-B6B2-379359185045}" dt="2026-06-15T10:48:53.414" v="1400"/>
        <pc:sldMkLst>
          <pc:docMk/>
          <pc:sldMk cId="3627521003" sldId="339"/>
        </pc:sldMkLst>
      </pc:sldChg>
      <pc:sldChg chg="addSp delSp modSp mod">
        <pc:chgData name="Midhun Eldose" userId="276e0ff496d1bc83" providerId="LiveId" clId="{EBE7DE87-C041-44F4-B6B2-379359185045}" dt="2026-06-14T08:18:00.401" v="1042" actId="1076"/>
        <pc:sldMkLst>
          <pc:docMk/>
          <pc:sldMk cId="344121974" sldId="343"/>
        </pc:sldMkLst>
        <pc:spChg chg="mod">
          <ac:chgData name="Midhun Eldose" userId="276e0ff496d1bc83" providerId="LiveId" clId="{EBE7DE87-C041-44F4-B6B2-379359185045}" dt="2026-06-14T08:14:26.819" v="1032" actId="1076"/>
          <ac:spMkLst>
            <pc:docMk/>
            <pc:sldMk cId="344121974" sldId="343"/>
            <ac:spMk id="2" creationId="{6A29EB30-28DB-7503-5F7B-F57C6335D340}"/>
          </ac:spMkLst>
        </pc:spChg>
        <pc:picChg chg="del">
          <ac:chgData name="Midhun Eldose" userId="276e0ff496d1bc83" providerId="LiveId" clId="{EBE7DE87-C041-44F4-B6B2-379359185045}" dt="2026-06-14T08:15:00.130" v="1033" actId="478"/>
          <ac:picMkLst>
            <pc:docMk/>
            <pc:sldMk cId="344121974" sldId="343"/>
            <ac:picMk id="4" creationId="{19085ABD-D2D4-142B-6F16-2F8BE02409FB}"/>
          </ac:picMkLst>
        </pc:picChg>
        <pc:picChg chg="add del mod">
          <ac:chgData name="Midhun Eldose" userId="276e0ff496d1bc83" providerId="LiveId" clId="{EBE7DE87-C041-44F4-B6B2-379359185045}" dt="2026-06-14T08:17:54.703" v="1038" actId="478"/>
          <ac:picMkLst>
            <pc:docMk/>
            <pc:sldMk cId="344121974" sldId="343"/>
            <ac:picMk id="5" creationId="{C47C4EBD-6260-A8A1-9ED6-164D62DFDA26}"/>
          </ac:picMkLst>
        </pc:picChg>
        <pc:picChg chg="add mod">
          <ac:chgData name="Midhun Eldose" userId="276e0ff496d1bc83" providerId="LiveId" clId="{EBE7DE87-C041-44F4-B6B2-379359185045}" dt="2026-06-14T08:18:00.401" v="1042" actId="1076"/>
          <ac:picMkLst>
            <pc:docMk/>
            <pc:sldMk cId="344121974" sldId="343"/>
            <ac:picMk id="7" creationId="{530FE49B-C9F0-6D37-E6A5-5BA22E82B633}"/>
          </ac:picMkLst>
        </pc:picChg>
      </pc:sldChg>
      <pc:sldChg chg="addSp modSp mod">
        <pc:chgData name="Midhun Eldose" userId="276e0ff496d1bc83" providerId="LiveId" clId="{EBE7DE87-C041-44F4-B6B2-379359185045}" dt="2026-06-15T12:42:06.466" v="1426" actId="20577"/>
        <pc:sldMkLst>
          <pc:docMk/>
          <pc:sldMk cId="2277404325" sldId="355"/>
        </pc:sldMkLst>
        <pc:spChg chg="mod">
          <ac:chgData name="Midhun Eldose" userId="276e0ff496d1bc83" providerId="LiveId" clId="{EBE7DE87-C041-44F4-B6B2-379359185045}" dt="2026-06-15T12:42:06.466" v="1426" actId="20577"/>
          <ac:spMkLst>
            <pc:docMk/>
            <pc:sldMk cId="2277404325" sldId="355"/>
            <ac:spMk id="3" creationId="{5E4D2433-28B5-B3FB-8DC6-1C1152B28BB8}"/>
          </ac:spMkLst>
        </pc:spChg>
        <pc:picChg chg="add mod">
          <ac:chgData name="Midhun Eldose" userId="276e0ff496d1bc83" providerId="LiveId" clId="{EBE7DE87-C041-44F4-B6B2-379359185045}" dt="2026-06-15T12:41:48.673" v="1415" actId="1076"/>
          <ac:picMkLst>
            <pc:docMk/>
            <pc:sldMk cId="2277404325" sldId="355"/>
            <ac:picMk id="3074" creationId="{D9F7DCF9-57FB-7E0E-FF8F-1ECBDFE4B0E2}"/>
          </ac:picMkLst>
        </pc:picChg>
      </pc:sldChg>
      <pc:sldChg chg="addSp delSp modSp del">
        <pc:chgData name="Midhun Eldose" userId="276e0ff496d1bc83" providerId="LiveId" clId="{EBE7DE87-C041-44F4-B6B2-379359185045}" dt="2026-06-15T12:41:16.839" v="1409" actId="2696"/>
        <pc:sldMkLst>
          <pc:docMk/>
          <pc:sldMk cId="2934478673" sldId="356"/>
        </pc:sldMkLst>
        <pc:spChg chg="add mod">
          <ac:chgData name="Midhun Eldose" userId="276e0ff496d1bc83" providerId="LiveId" clId="{EBE7DE87-C041-44F4-B6B2-379359185045}" dt="2026-06-15T12:41:08.756" v="1408" actId="21"/>
          <ac:spMkLst>
            <pc:docMk/>
            <pc:sldMk cId="2934478673" sldId="356"/>
            <ac:spMk id="2" creationId="{00AB67C4-D130-1CF7-2317-3142482CD3AD}"/>
          </ac:spMkLst>
        </pc:spChg>
        <pc:picChg chg="del">
          <ac:chgData name="Midhun Eldose" userId="276e0ff496d1bc83" providerId="LiveId" clId="{EBE7DE87-C041-44F4-B6B2-379359185045}" dt="2026-06-15T12:41:08.756" v="1408" actId="21"/>
          <ac:picMkLst>
            <pc:docMk/>
            <pc:sldMk cId="2934478673" sldId="356"/>
            <ac:picMk id="3074" creationId="{D9F7DCF9-57FB-7E0E-FF8F-1ECBDFE4B0E2}"/>
          </ac:picMkLst>
        </pc:picChg>
      </pc:sldChg>
      <pc:sldChg chg="modSp mod">
        <pc:chgData name="Midhun Eldose" userId="276e0ff496d1bc83" providerId="LiveId" clId="{EBE7DE87-C041-44F4-B6B2-379359185045}" dt="2026-06-15T12:46:41.049" v="1757" actId="20577"/>
        <pc:sldMkLst>
          <pc:docMk/>
          <pc:sldMk cId="1885175481" sldId="357"/>
        </pc:sldMkLst>
        <pc:spChg chg="mod">
          <ac:chgData name="Midhun Eldose" userId="276e0ff496d1bc83" providerId="LiveId" clId="{EBE7DE87-C041-44F4-B6B2-379359185045}" dt="2026-06-15T12:46:41.049" v="1757" actId="20577"/>
          <ac:spMkLst>
            <pc:docMk/>
            <pc:sldMk cId="1885175481" sldId="357"/>
            <ac:spMk id="3" creationId="{5EF9FC5C-BF68-0921-E5E4-E731D52A8CEE}"/>
          </ac:spMkLst>
        </pc:spChg>
      </pc:sldChg>
      <pc:sldChg chg="addSp delSp modSp new mod modShow">
        <pc:chgData name="Midhun Eldose" userId="276e0ff496d1bc83" providerId="LiveId" clId="{EBE7DE87-C041-44F4-B6B2-379359185045}" dt="2026-06-15T12:46:52.165" v="1758" actId="729"/>
        <pc:sldMkLst>
          <pc:docMk/>
          <pc:sldMk cId="1786459368" sldId="359"/>
        </pc:sldMkLst>
        <pc:spChg chg="mod">
          <ac:chgData name="Midhun Eldose" userId="276e0ff496d1bc83" providerId="LiveId" clId="{EBE7DE87-C041-44F4-B6B2-379359185045}" dt="2026-06-04T07:34:09.525" v="1025"/>
          <ac:spMkLst>
            <pc:docMk/>
            <pc:sldMk cId="1786459368" sldId="359"/>
            <ac:spMk id="2" creationId="{A41D936C-B4A0-6EA0-CF4E-FAE1D4D98B91}"/>
          </ac:spMkLst>
        </pc:spChg>
        <pc:spChg chg="mod">
          <ac:chgData name="Midhun Eldose" userId="276e0ff496d1bc83" providerId="LiveId" clId="{EBE7DE87-C041-44F4-B6B2-379359185045}" dt="2026-06-04T07:34:13.539" v="1026"/>
          <ac:spMkLst>
            <pc:docMk/>
            <pc:sldMk cId="1786459368" sldId="359"/>
            <ac:spMk id="3" creationId="{55FA4A8C-679A-E85C-A2E3-8105B35221DC}"/>
          </ac:spMkLst>
        </pc:spChg>
        <pc:picChg chg="add mod">
          <ac:chgData name="Midhun Eldose" userId="276e0ff496d1bc83" providerId="LiveId" clId="{EBE7DE87-C041-44F4-B6B2-379359185045}" dt="2026-06-04T07:34:19.365" v="1027"/>
          <ac:picMkLst>
            <pc:docMk/>
            <pc:sldMk cId="1786459368" sldId="359"/>
            <ac:picMk id="5" creationId="{E72FE251-E11D-345A-BDEA-E7F750F5D30F}"/>
          </ac:picMkLst>
        </pc:picChg>
      </pc:sldChg>
      <pc:sldChg chg="addSp delSp modSp new mod modShow">
        <pc:chgData name="Midhun Eldose" userId="276e0ff496d1bc83" providerId="LiveId" clId="{EBE7DE87-C041-44F4-B6B2-379359185045}" dt="2026-06-15T12:42:49.627" v="1427" actId="729"/>
        <pc:sldMkLst>
          <pc:docMk/>
          <pc:sldMk cId="4170009794" sldId="360"/>
        </pc:sldMkLst>
        <pc:spChg chg="mod">
          <ac:chgData name="Midhun Eldose" userId="276e0ff496d1bc83" providerId="LiveId" clId="{EBE7DE87-C041-44F4-B6B2-379359185045}" dt="2026-06-04T07:34:36.695" v="1029"/>
          <ac:spMkLst>
            <pc:docMk/>
            <pc:sldMk cId="4170009794" sldId="360"/>
            <ac:spMk id="2" creationId="{B42D8988-650D-2714-1A34-D54289DE2277}"/>
          </ac:spMkLst>
        </pc:spChg>
        <pc:spChg chg="mod">
          <ac:chgData name="Midhun Eldose" userId="276e0ff496d1bc83" providerId="LiveId" clId="{EBE7DE87-C041-44F4-B6B2-379359185045}" dt="2026-06-04T07:34:40.142" v="1030"/>
          <ac:spMkLst>
            <pc:docMk/>
            <pc:sldMk cId="4170009794" sldId="360"/>
            <ac:spMk id="3" creationId="{CBF2A62F-7534-7A08-7003-9D8FF3C64D07}"/>
          </ac:spMkLst>
        </pc:spChg>
        <pc:picChg chg="add mod">
          <ac:chgData name="Midhun Eldose" userId="276e0ff496d1bc83" providerId="LiveId" clId="{EBE7DE87-C041-44F4-B6B2-379359185045}" dt="2026-06-04T07:34:45.425" v="1031"/>
          <ac:picMkLst>
            <pc:docMk/>
            <pc:sldMk cId="4170009794" sldId="360"/>
            <ac:picMk id="5" creationId="{CA714D24-6666-4372-3BDB-030DDE87461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D626C6-69D6-41F5-9210-4551A7F74285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5747CD-7FEE-4FE1-9DC9-E85BA0CF4CE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89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747CD-7FEE-4FE1-9DC9-E85BA0CF4CE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37324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B5CF7-4FB6-80D9-A2AF-BFA6F8FCB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DF7550-0791-4078-6256-93007A9FBE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36C9EB-3700-9CFB-2590-EEE5225347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45875-5E99-04E8-9617-332796AF98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747CD-7FEE-4FE1-9DC9-E85BA0CF4CE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8636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174C35-7FDB-BB91-82F8-FB02EB059F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3436" y="1134442"/>
            <a:ext cx="8625037" cy="230892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6D2C720-ED91-9F73-692B-B66013DFC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3436" y="3610415"/>
            <a:ext cx="8625037" cy="160120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DE88287-0E93-39B8-918C-AF8556423FEC}"/>
              </a:ext>
            </a:extLst>
          </p:cNvPr>
          <p:cNvSpPr/>
          <p:nvPr userDrawn="1"/>
        </p:nvSpPr>
        <p:spPr>
          <a:xfrm>
            <a:off x="557048" y="-1"/>
            <a:ext cx="11672551" cy="6858001"/>
          </a:xfrm>
          <a:prstGeom prst="rect">
            <a:avLst/>
          </a:prstGeom>
          <a:solidFill>
            <a:srgbClr val="1D1E1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winkliges Dreieck 7">
            <a:extLst>
              <a:ext uri="{FF2B5EF4-FFF2-40B4-BE49-F238E27FC236}">
                <a16:creationId xmlns:a16="http://schemas.microsoft.com/office/drawing/2014/main" id="{63189508-4F81-18AE-CA12-3C95735B820E}"/>
              </a:ext>
            </a:extLst>
          </p:cNvPr>
          <p:cNvSpPr/>
          <p:nvPr userDrawn="1"/>
        </p:nvSpPr>
        <p:spPr>
          <a:xfrm flipH="1">
            <a:off x="7063339" y="-1"/>
            <a:ext cx="5328357" cy="6858001"/>
          </a:xfrm>
          <a:prstGeom prst="rtTriangle">
            <a:avLst/>
          </a:prstGeom>
          <a:gradFill flip="none" rotWithShape="0">
            <a:gsLst>
              <a:gs pos="0">
                <a:srgbClr val="FB1A62"/>
              </a:gs>
              <a:gs pos="56000">
                <a:srgbClr val="FA19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2700000" scaled="1"/>
            <a:tileRect/>
          </a:gradFill>
          <a:ln>
            <a:solidFill>
              <a:srgbClr val="FB1A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6A0EC1E-852C-532A-A4F2-1B1FCF62B24E}"/>
              </a:ext>
            </a:extLst>
          </p:cNvPr>
          <p:cNvSpPr/>
          <p:nvPr userDrawn="1"/>
        </p:nvSpPr>
        <p:spPr>
          <a:xfrm>
            <a:off x="5609424" y="3069240"/>
            <a:ext cx="2246374" cy="2720292"/>
          </a:xfrm>
          <a:prstGeom prst="roundRect">
            <a:avLst/>
          </a:prstGeom>
          <a:blipFill dpi="0" rotWithShape="1">
            <a:blip r:embed="rId2"/>
            <a:srcRect/>
            <a:stretch>
              <a:fillRect l="-3000" r="-33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E4AD166-3A37-F926-6276-F7DD8FF8FB17}"/>
              </a:ext>
            </a:extLst>
          </p:cNvPr>
          <p:cNvSpPr/>
          <p:nvPr userDrawn="1"/>
        </p:nvSpPr>
        <p:spPr>
          <a:xfrm>
            <a:off x="-5051" y="-1"/>
            <a:ext cx="6550567" cy="6858001"/>
          </a:xfrm>
          <a:prstGeom prst="rect">
            <a:avLst/>
          </a:prstGeom>
          <a:solidFill>
            <a:srgbClr val="282A2E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1BAB4807-8614-CE8C-21C5-AE689AA8C40C}"/>
              </a:ext>
            </a:extLst>
          </p:cNvPr>
          <p:cNvSpPr txBox="1">
            <a:spLocks/>
          </p:cNvSpPr>
          <p:nvPr userDrawn="1"/>
        </p:nvSpPr>
        <p:spPr>
          <a:xfrm>
            <a:off x="-104198" y="4238707"/>
            <a:ext cx="6550567" cy="4238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b="1">
                <a:solidFill>
                  <a:srgbClr val="D9096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Roboter-Potential-Analyse</a:t>
            </a:r>
          </a:p>
        </p:txBody>
      </p:sp>
      <p:pic>
        <p:nvPicPr>
          <p:cNvPr id="13" name="Grafik 12" descr="Ein Bild, das Symbol, Schrift, Grafiken, Text enthält.&#10;&#10;Automatisch generierte Beschreibung">
            <a:extLst>
              <a:ext uri="{FF2B5EF4-FFF2-40B4-BE49-F238E27FC236}">
                <a16:creationId xmlns:a16="http://schemas.microsoft.com/office/drawing/2014/main" id="{A6DA24F0-6604-239A-E40F-1C0531F7AE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203" y="5955083"/>
            <a:ext cx="870810" cy="786713"/>
          </a:xfrm>
          <a:prstGeom prst="rect">
            <a:avLst/>
          </a:prstGeom>
        </p:spPr>
      </p:pic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9F7A04FE-4364-F265-3DFB-1536B5681921}"/>
              </a:ext>
            </a:extLst>
          </p:cNvPr>
          <p:cNvSpPr/>
          <p:nvPr userDrawn="1"/>
        </p:nvSpPr>
        <p:spPr>
          <a:xfrm>
            <a:off x="6720048" y="357096"/>
            <a:ext cx="2831129" cy="2545097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77362DE9-F5D3-E529-2091-D7B03874CF34}"/>
              </a:ext>
            </a:extLst>
          </p:cNvPr>
          <p:cNvSpPr/>
          <p:nvPr userDrawn="1"/>
        </p:nvSpPr>
        <p:spPr>
          <a:xfrm>
            <a:off x="9726982" y="377434"/>
            <a:ext cx="2465018" cy="2545097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E4CDF83D-2E20-E8CA-E095-AC3E3BFC196E}"/>
              </a:ext>
            </a:extLst>
          </p:cNvPr>
          <p:cNvSpPr/>
          <p:nvPr userDrawn="1"/>
        </p:nvSpPr>
        <p:spPr>
          <a:xfrm>
            <a:off x="8041752" y="3069240"/>
            <a:ext cx="2586721" cy="2720292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blipFill>
                <a:blip r:embed="rId6"/>
                <a:stretch>
                  <a:fillRect/>
                </a:stretch>
              </a:blipFill>
            </a:endParaRP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3B3EF718-F394-D1D6-AD3A-A8A65C21C02C}"/>
              </a:ext>
            </a:extLst>
          </p:cNvPr>
          <p:cNvSpPr/>
          <p:nvPr userDrawn="1"/>
        </p:nvSpPr>
        <p:spPr>
          <a:xfrm>
            <a:off x="10787495" y="3090506"/>
            <a:ext cx="2831129" cy="2720292"/>
          </a:xfrm>
          <a:prstGeom prst="roundRect">
            <a:avLst/>
          </a:prstGeom>
          <a:blipFill dpi="0" rotWithShape="1">
            <a:blip r:embed="rId7"/>
            <a:srcRect/>
            <a:stretch>
              <a:fillRect l="-22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AutoShape 2">
            <a:extLst>
              <a:ext uri="{FF2B5EF4-FFF2-40B4-BE49-F238E27FC236}">
                <a16:creationId xmlns:a16="http://schemas.microsoft.com/office/drawing/2014/main" id="{716F0882-FCF5-8CDB-BB97-BA474F7EB659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34632" y="3359105"/>
            <a:ext cx="301875" cy="30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5B18F83-6B39-7343-1789-0A82774BDDE3}"/>
              </a:ext>
            </a:extLst>
          </p:cNvPr>
          <p:cNvSpPr txBox="1"/>
          <p:nvPr userDrawn="1"/>
        </p:nvSpPr>
        <p:spPr>
          <a:xfrm>
            <a:off x="7581741" y="6463989"/>
            <a:ext cx="2967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>
                <a:latin typeface="Roboto" panose="02000000000000000000" pitchFamily="2" charset="0"/>
                <a:ea typeface="Roboto" panose="02000000000000000000" pitchFamily="2" charset="0"/>
              </a:rPr>
              <a:t>www.ef-robotics.de</a:t>
            </a:r>
          </a:p>
        </p:txBody>
      </p:sp>
      <p:sp>
        <p:nvSpPr>
          <p:cNvPr id="20" name="Untertitel 2">
            <a:extLst>
              <a:ext uri="{FF2B5EF4-FFF2-40B4-BE49-F238E27FC236}">
                <a16:creationId xmlns:a16="http://schemas.microsoft.com/office/drawing/2014/main" id="{F4436904-CA22-EA33-D85A-6AB37E71C729}"/>
              </a:ext>
            </a:extLst>
          </p:cNvPr>
          <p:cNvSpPr txBox="1">
            <a:spLocks/>
          </p:cNvSpPr>
          <p:nvPr userDrawn="1"/>
        </p:nvSpPr>
        <p:spPr>
          <a:xfrm>
            <a:off x="-24085" y="4156594"/>
            <a:ext cx="6545394" cy="423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b="1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DE22A7A8-67CD-B8FD-F12E-78B06745B7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712721"/>
            <a:ext cx="6521450" cy="1071753"/>
          </a:xfrm>
        </p:spPr>
        <p:txBody>
          <a:bodyPr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94261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05C29434-5514-33E7-9C8D-8D311FA36ECC}"/>
              </a:ext>
            </a:extLst>
          </p:cNvPr>
          <p:cNvSpPr/>
          <p:nvPr userDrawn="1"/>
        </p:nvSpPr>
        <p:spPr>
          <a:xfrm>
            <a:off x="6684963" y="-1"/>
            <a:ext cx="5754449" cy="6858001"/>
          </a:xfrm>
          <a:prstGeom prst="rect">
            <a:avLst/>
          </a:prstGeom>
          <a:solidFill>
            <a:srgbClr val="1D1E1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54AF682-4566-28BF-928B-239B2EF38C19}"/>
              </a:ext>
            </a:extLst>
          </p:cNvPr>
          <p:cNvSpPr/>
          <p:nvPr userDrawn="1"/>
        </p:nvSpPr>
        <p:spPr>
          <a:xfrm>
            <a:off x="-5050" y="-1"/>
            <a:ext cx="6690014" cy="6858001"/>
          </a:xfrm>
          <a:prstGeom prst="rect">
            <a:avLst/>
          </a:prstGeom>
          <a:solidFill>
            <a:srgbClr val="282A2E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3AA33DE-4979-35B4-61E1-24B59F3A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946"/>
            <a:ext cx="5562987" cy="878066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9936F0-5BB2-26B7-3653-9C4D5FE3F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511"/>
            <a:ext cx="5562987" cy="428367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86CEC3-CD5E-7B98-43E2-29E863286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14.06.2026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B38E75-7E8A-84CD-3602-DB03CF29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Rechtwinkliges Dreieck 9">
            <a:extLst>
              <a:ext uri="{FF2B5EF4-FFF2-40B4-BE49-F238E27FC236}">
                <a16:creationId xmlns:a16="http://schemas.microsoft.com/office/drawing/2014/main" id="{A8F89473-4375-7F44-223E-D8783992E43E}"/>
              </a:ext>
            </a:extLst>
          </p:cNvPr>
          <p:cNvSpPr/>
          <p:nvPr userDrawn="1"/>
        </p:nvSpPr>
        <p:spPr>
          <a:xfrm flipH="1">
            <a:off x="7063339" y="-1"/>
            <a:ext cx="5328357" cy="6858001"/>
          </a:xfrm>
          <a:prstGeom prst="rtTriangle">
            <a:avLst/>
          </a:prstGeom>
          <a:gradFill flip="none" rotWithShape="0">
            <a:gsLst>
              <a:gs pos="0">
                <a:srgbClr val="FB1A62"/>
              </a:gs>
              <a:gs pos="56000">
                <a:srgbClr val="FA19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2700000" scaled="1"/>
            <a:tileRect/>
          </a:gradFill>
          <a:ln>
            <a:solidFill>
              <a:srgbClr val="FB1A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4" name="Grafik 13" descr="Ein Bild, das Symbol, Schrift, Grafiken, Text enthält.&#10;&#10;Automatisch generierte Beschreibung">
            <a:extLst>
              <a:ext uri="{FF2B5EF4-FFF2-40B4-BE49-F238E27FC236}">
                <a16:creationId xmlns:a16="http://schemas.microsoft.com/office/drawing/2014/main" id="{08F6E060-7BAE-CEC9-290E-4099EF7329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203" y="5955083"/>
            <a:ext cx="870810" cy="786713"/>
          </a:xfrm>
          <a:prstGeom prst="rect">
            <a:avLst/>
          </a:prstGeom>
        </p:spPr>
      </p:pic>
      <p:sp>
        <p:nvSpPr>
          <p:cNvPr id="19" name="AutoShape 2">
            <a:extLst>
              <a:ext uri="{FF2B5EF4-FFF2-40B4-BE49-F238E27FC236}">
                <a16:creationId xmlns:a16="http://schemas.microsoft.com/office/drawing/2014/main" id="{6A570CEE-B803-E72C-444F-0CCFA366FA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34632" y="3359105"/>
            <a:ext cx="301875" cy="30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67D10AD-E425-71DC-76CE-576F345F7DFE}"/>
              </a:ext>
            </a:extLst>
          </p:cNvPr>
          <p:cNvSpPr txBox="1"/>
          <p:nvPr userDrawn="1"/>
        </p:nvSpPr>
        <p:spPr>
          <a:xfrm>
            <a:off x="7581741" y="6463989"/>
            <a:ext cx="2967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>
                <a:latin typeface="Roboto" panose="02000000000000000000" pitchFamily="2" charset="0"/>
                <a:ea typeface="Roboto" panose="02000000000000000000" pitchFamily="2" charset="0"/>
              </a:rPr>
              <a:t>www.ef-robotics.de</a:t>
            </a:r>
          </a:p>
        </p:txBody>
      </p:sp>
      <p:sp>
        <p:nvSpPr>
          <p:cNvPr id="21" name="Untertitel 2">
            <a:extLst>
              <a:ext uri="{FF2B5EF4-FFF2-40B4-BE49-F238E27FC236}">
                <a16:creationId xmlns:a16="http://schemas.microsoft.com/office/drawing/2014/main" id="{71BC3B6C-0427-AEE1-A7A7-52EC522EBBEB}"/>
              </a:ext>
            </a:extLst>
          </p:cNvPr>
          <p:cNvSpPr txBox="1">
            <a:spLocks/>
          </p:cNvSpPr>
          <p:nvPr userDrawn="1"/>
        </p:nvSpPr>
        <p:spPr>
          <a:xfrm>
            <a:off x="-24085" y="4156594"/>
            <a:ext cx="6545394" cy="423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b="1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4" name="Bildplatzhalter 23">
            <a:extLst>
              <a:ext uri="{FF2B5EF4-FFF2-40B4-BE49-F238E27FC236}">
                <a16:creationId xmlns:a16="http://schemas.microsoft.com/office/drawing/2014/main" id="{D63CC2FD-26D6-5FDE-B15F-E95DC14F41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99684" y="451945"/>
            <a:ext cx="5139916" cy="5366243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23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7FC8A6-31C1-8CA8-0B26-22244455C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00B1F0-73E0-AA03-3912-5AACC5D82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B125F0-445E-68BA-600D-66FF2B776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14.06.2026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F6F0F0-F890-E52D-29D5-EE8FD0510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D4D990-4D87-B964-A5B0-3796CD510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182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CAA2D9-3F95-2B45-6A8B-ADE8C3C90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E6E88B-B5D7-AA42-AA0C-17B533E91E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24F2245-D256-493F-3001-F9FEDC366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E77E9E3-ADF5-CF44-BD82-4B5CD847E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14.06.2026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4CF7593-D3DC-477E-96E0-F8AE509F1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668076-276F-448D-7E56-2488B6F6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2680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BFCFD4-2344-BAFD-C71E-81E07A0B7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B10FEF1-C076-E1B4-5466-0799420E6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7B6203D-DDA7-345D-6718-4E7B1C530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670DDB8-3435-C449-6514-F4FD30F4CF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2EA8B5D-576F-52DA-2E06-07FA66A360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740C192-6493-937A-E1A7-4AC898A40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14.06.2026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F2D3025-4C40-71F0-C136-0C01CCC29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DC22DF8-7DB8-A88E-198A-2C3872C31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9301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122CB0-565F-6B79-79FA-264304567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C56AF3-6C88-B0C9-153A-AE301ED80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14.06.2026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8A58577-1551-42DF-3343-DCD1AE0C2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FFF5D3-583E-0580-105C-E9BDA64C2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2069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2C8B202-34E0-B70D-539B-56ECCE0C6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14.06.2026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538E195-F527-E3EE-EA2E-E18C80D55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5CD99A6-59A0-85EF-A5D8-E2BE7E8E8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824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A85B8D-6095-1C20-C825-3357CDE14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789CB9-584F-AB7F-6BAB-E3DDA0D19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14CF95E-BADA-7F6D-476A-DAC6CEEEC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29122EB-0B5A-258E-3CA9-79A830DBF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14.06.2026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E303DF-BFA5-A4F4-D0A5-002C78236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43ED301-798A-C4CA-600B-FAAAEBEDB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3354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D69862-D0EE-B148-F264-F46C38942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845EDAF-FF4A-6185-414B-5B1F581A41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9B7EEAC-191C-5E06-AA0B-A6A740AC2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E8D56E2-3DFE-13FE-D3B8-A74345BDD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14.06.2026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C20674A-AE4F-A1E9-8DAC-CACAAC997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E440943-DACB-4B6F-0C38-F837E8DCE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013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571FB8-1E20-26E2-9B03-AD078F9C2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0805EE5-5D39-A4A4-98A1-51F2C8524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A449B3-6AEF-4406-1C7D-98FC9F4C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14.06.2026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174E01-2AE6-4669-EFD4-A14A36AE6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A4F85F-9E86-898F-5398-6EB69590A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6751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4C58488-98F5-3BFD-C6EF-183F777284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9F3DB59-B74F-B226-22D7-4AB39201C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481213-398D-CEC7-D082-8035B1971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14.06.2026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B71EAA-6ED4-CCA3-0ACA-5DD188909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E1C6FE-5D82-8D49-FDE3-9AF6F24D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9328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81231FA-5C1D-C1C1-233E-42489A9FC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1785687-1EF5-457B-72B3-15F50B7E8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781CE5-18E6-B38C-7F35-6CC37AC35F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552704-49FC-4C1E-8A13-0C957A174B8A}" type="datetimeFigureOut">
              <a:rPr lang="de-DE" smtClean="0"/>
              <a:t>14.06.2026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49E698-6194-751D-AB14-7E8E2E87AF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F93E3C-D90E-884C-1B1A-012EEF57D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6273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unitree.com/home/en/G1_developer/quick_start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F-Robotics-Humanoid-Academy/ef_ws" TargetMode="External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D6292-771A-4A1E-6876-8709E6AEE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feld 21">
            <a:extLst>
              <a:ext uri="{FF2B5EF4-FFF2-40B4-BE49-F238E27FC236}">
                <a16:creationId xmlns:a16="http://schemas.microsoft.com/office/drawing/2014/main" id="{837588D7-E7EA-6F6C-C2FD-082149DB6DDB}"/>
              </a:ext>
            </a:extLst>
          </p:cNvPr>
          <p:cNvSpPr txBox="1"/>
          <p:nvPr/>
        </p:nvSpPr>
        <p:spPr>
          <a:xfrm>
            <a:off x="69669" y="1235167"/>
            <a:ext cx="6528391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de-DE" sz="7000" b="1" dirty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Humanoid</a:t>
            </a:r>
          </a:p>
          <a:p>
            <a:pPr algn="ctr"/>
            <a:r>
              <a:rPr lang="de-DE" sz="7200" b="1" dirty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Academy</a:t>
            </a:r>
            <a:endParaRPr lang="de-DE" sz="72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138A959C-19B3-D920-FE06-C273AA3D9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74080"/>
            <a:ext cx="5562987" cy="878066"/>
          </a:xfrm>
        </p:spPr>
        <p:txBody>
          <a:bodyPr>
            <a:normAutofit fontScale="90000"/>
          </a:bodyPr>
          <a:lstStyle/>
          <a:p>
            <a:pPr algn="ctr"/>
            <a:r>
              <a:rPr lang="de-DE" sz="4000" dirty="0">
                <a:solidFill>
                  <a:srgbClr val="FB1A62"/>
                </a:solidFill>
                <a:latin typeface="Roboto"/>
                <a:ea typeface="Roboto"/>
                <a:cs typeface="Roboto"/>
              </a:rPr>
              <a:t>Tag 1: Einführung und Entwicklungsumgebung​</a:t>
            </a:r>
            <a:endParaRPr lang="de-DE" sz="4000" dirty="0">
              <a:solidFill>
                <a:srgbClr val="FB1A62"/>
              </a:solidFill>
            </a:endParaRPr>
          </a:p>
        </p:txBody>
      </p:sp>
      <p:pic>
        <p:nvPicPr>
          <p:cNvPr id="29" name="Picture Placeholder 28">
            <a:extLst>
              <a:ext uri="{FF2B5EF4-FFF2-40B4-BE49-F238E27FC236}">
                <a16:creationId xmlns:a16="http://schemas.microsoft.com/office/drawing/2014/main" id="{CD66A275-8B7A-F5FD-337A-D36CC561A4B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30015" y="461752"/>
            <a:ext cx="5684201" cy="593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393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A7649-6D90-14F4-1574-8C1788334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962ECC-7F5A-B2EA-B3AB-BB43112AF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4981"/>
            <a:ext cx="6688183" cy="878066"/>
          </a:xfrm>
        </p:spPr>
        <p:txBody>
          <a:bodyPr>
            <a:normAutofit fontScale="90000"/>
          </a:bodyPr>
          <a:lstStyle/>
          <a:p>
            <a:pPr algn="ctr"/>
            <a:r>
              <a:rPr lang="de-DE" sz="4000" dirty="0">
                <a:latin typeface="Roboto"/>
                <a:ea typeface="Roboto"/>
                <a:cs typeface="Roboto"/>
              </a:rPr>
              <a:t>Zeitplan</a:t>
            </a:r>
            <a:br>
              <a:rPr lang="de-DE" sz="4000" dirty="0">
                <a:latin typeface="Roboto"/>
                <a:ea typeface="Roboto"/>
                <a:cs typeface="Roboto"/>
              </a:rPr>
            </a:br>
            <a:r>
              <a:rPr lang="de-DE" sz="4000" dirty="0">
                <a:solidFill>
                  <a:srgbClr val="FB1A62"/>
                </a:solidFill>
                <a:latin typeface="Roboto"/>
                <a:ea typeface="Roboto"/>
                <a:cs typeface="Roboto"/>
              </a:rPr>
              <a:t>Tag 1</a:t>
            </a:r>
            <a:endParaRPr lang="de-DE" sz="4000" dirty="0">
              <a:solidFill>
                <a:srgbClr val="FB1A62"/>
              </a:solidFill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29479B6B-F538-0E70-8D94-4B61194632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9384599"/>
              </p:ext>
            </p:extLst>
          </p:nvPr>
        </p:nvGraphicFramePr>
        <p:xfrm>
          <a:off x="562791" y="1881578"/>
          <a:ext cx="5562600" cy="91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2600">
                  <a:extLst>
                    <a:ext uri="{9D8B030D-6E8A-4147-A177-3AD203B41FA5}">
                      <a16:colId xmlns:a16="http://schemas.microsoft.com/office/drawing/2014/main" val="2677736132"/>
                    </a:ext>
                  </a:extLst>
                </a:gridCol>
              </a:tblGrid>
              <a:tr h="347119">
                <a:tc>
                  <a:txBody>
                    <a:bodyPr/>
                    <a:lstStyle/>
                    <a:p>
                      <a:pPr algn="ctr"/>
                      <a:r>
                        <a:rPr lang="de-DE" sz="2000" b="0" i="0" u="none" strike="noStrike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Mo 15.06.2026</a:t>
                      </a:r>
                      <a:r>
                        <a:rPr lang="de-DE" sz="2000" b="0" i="0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rgbClr val="FB1A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830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9:30 - Open Registrierung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6598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10:00 – 12:00 Schulungsblock 1</a:t>
                      </a:r>
                    </a:p>
                    <a:p>
                      <a:pPr algn="l"/>
                      <a:endParaRPr lang="de-DE" sz="2000" b="0" i="0" u="none" strike="noStrike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12:00 – 13:00 Mittagessen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0" b="0" i="0" u="none" strike="noStrike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13:00 – 14:30 Schulungsblock 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0" b="0" i="0" u="none" strike="noStrike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14:30 – 15:00 Pause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0" b="0" i="0" u="none" strike="noStrike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15:00– 17:00 Schulungsblock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 3</a:t>
                      </a:r>
                    </a:p>
                    <a:p>
                      <a:pPr algn="l"/>
                      <a:endParaRPr lang="de-DE" sz="2000" b="0" i="0" u="none" strike="noStrike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0" b="0" i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0" b="0" i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0" b="0" i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 algn="l"/>
                      <a:endParaRPr lang="de-DE" sz="2000" b="0" i="0" u="none" strike="noStrike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525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89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178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15:00 – 15:30 Pause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463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7661"/>
                  </a:ext>
                </a:extLst>
              </a:tr>
              <a:tr h="214615">
                <a:tc>
                  <a:txBody>
                    <a:bodyPr/>
                    <a:lstStyle/>
                    <a:p>
                      <a:pPr algn="l"/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832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6484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de-DE" sz="2000" b="0" i="0" u="none" strike="noStrike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/>
                        <a:ea typeface="Roboto"/>
                        <a:cs typeface="Roboto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294279"/>
                  </a:ext>
                </a:extLst>
              </a:tr>
            </a:tbl>
          </a:graphicData>
        </a:graphic>
      </p:graphicFrame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A556332C-0495-D477-E5D9-622A046E440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514011" y="504981"/>
            <a:ext cx="5813456" cy="5940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145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0CEC7-088C-FA66-F5F7-57FAF217A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6204E4-BED6-8E00-09C9-277678CB4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1213"/>
            <a:ext cx="66802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Tagesziele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C83429-2AD8-5708-108E-9EA785AF8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94" y="1983245"/>
            <a:ext cx="6514011" cy="263108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 dirty="0"/>
              <a:t>Überblick G1 Base/EDU</a:t>
            </a:r>
          </a:p>
          <a:p>
            <a:r>
              <a:rPr lang="de-DE" dirty="0" err="1"/>
              <a:t>Safety</a:t>
            </a:r>
            <a:endParaRPr lang="de-DE" dirty="0"/>
          </a:p>
          <a:p>
            <a:r>
              <a:rPr lang="de-DE" dirty="0"/>
              <a:t>Remote Steuerung</a:t>
            </a:r>
          </a:p>
          <a:p>
            <a:r>
              <a:rPr lang="de-DE" dirty="0">
                <a:latin typeface="Roboto"/>
                <a:ea typeface="Roboto"/>
                <a:cs typeface="Roboto"/>
              </a:rPr>
              <a:t>G1 Programmierung</a:t>
            </a:r>
          </a:p>
          <a:p>
            <a:r>
              <a:rPr lang="de-DE" dirty="0">
                <a:latin typeface="Roboto"/>
                <a:ea typeface="Roboto"/>
                <a:cs typeface="Roboto"/>
              </a:rPr>
              <a:t>Verbindungsmethoden</a:t>
            </a:r>
          </a:p>
          <a:p>
            <a:r>
              <a:rPr lang="de-DE" dirty="0"/>
              <a:t>Entwicklungsumgebung</a:t>
            </a:r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544C48BF-9B87-C31F-FE76-9F18335111D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684" y="451945"/>
            <a:ext cx="5624970" cy="587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121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BD00DB-2408-841B-79CC-8893BB00D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EF Robotics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156F73-AF45-1B0C-3F6F-7E75D6E7F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Integrator</a:t>
            </a:r>
          </a:p>
          <a:p>
            <a:r>
              <a:rPr lang="de-DE" dirty="0"/>
              <a:t>Distributor AMR, Reinigungsroboter, Humanoide</a:t>
            </a:r>
          </a:p>
          <a:p>
            <a:r>
              <a:rPr lang="de-DE" dirty="0"/>
              <a:t>Über 450 Roboter Installationen</a:t>
            </a:r>
          </a:p>
          <a:p>
            <a:r>
              <a:rPr lang="de-DE" dirty="0"/>
              <a:t>Eigenes Servicetechnikernetz</a:t>
            </a:r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1028" name="Picture 4" descr="A red letter on a black background&#10;&#10;AI-generated content may be incorrect.">
            <a:extLst>
              <a:ext uri="{FF2B5EF4-FFF2-40B4-BE49-F238E27FC236}">
                <a16:creationId xmlns:a16="http://schemas.microsoft.com/office/drawing/2014/main" id="{9056B601-AD47-F55D-3DE0-3E9C87BB8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7449" y="5361175"/>
            <a:ext cx="1517374" cy="30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Grafik 13" descr="Ein Bild, das Schrift, Kreis, Grafiken, Logo enthält.&#10;&#10;KI-generierte Inhalte können fehlerhaft sein.">
            <a:extLst>
              <a:ext uri="{FF2B5EF4-FFF2-40B4-BE49-F238E27FC236}">
                <a16:creationId xmlns:a16="http://schemas.microsoft.com/office/drawing/2014/main" id="{D14C38B1-B3A5-D3B1-AFE3-2FD1514187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9" y="5153762"/>
            <a:ext cx="1282768" cy="753024"/>
          </a:xfrm>
          <a:prstGeom prst="rect">
            <a:avLst/>
          </a:prstGeom>
        </p:spPr>
      </p:pic>
      <p:pic>
        <p:nvPicPr>
          <p:cNvPr id="18" name="Grafik 17" descr="Ein Bild, das Schrift, Grafiken, Logo, Design enthält.&#10;&#10;KI-generierte Inhalte können fehlerhaft sein.">
            <a:extLst>
              <a:ext uri="{FF2B5EF4-FFF2-40B4-BE49-F238E27FC236}">
                <a16:creationId xmlns:a16="http://schemas.microsoft.com/office/drawing/2014/main" id="{52337D25-92F4-7624-5815-FB677DCFC5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9" y="4272803"/>
            <a:ext cx="1928192" cy="771277"/>
          </a:xfrm>
          <a:prstGeom prst="rect">
            <a:avLst/>
          </a:prstGeom>
        </p:spPr>
      </p:pic>
      <p:pic>
        <p:nvPicPr>
          <p:cNvPr id="20" name="Grafik 19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F2E24CD0-227C-7824-3079-408C1903D6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9" y="6009604"/>
            <a:ext cx="1816169" cy="792900"/>
          </a:xfrm>
          <a:prstGeom prst="rect">
            <a:avLst/>
          </a:prstGeom>
        </p:spPr>
      </p:pic>
      <p:pic>
        <p:nvPicPr>
          <p:cNvPr id="22" name="Grafik 21" descr="Ein Bild, das Schrift, Logo, Grafiken, Text enthält.&#10;&#10;KI-generierte Inhalte können fehlerhaft sein.">
            <a:extLst>
              <a:ext uri="{FF2B5EF4-FFF2-40B4-BE49-F238E27FC236}">
                <a16:creationId xmlns:a16="http://schemas.microsoft.com/office/drawing/2014/main" id="{D95222BE-E60F-526F-4521-0A06A59DC2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821" y="6009604"/>
            <a:ext cx="2272618" cy="771277"/>
          </a:xfrm>
          <a:prstGeom prst="rect">
            <a:avLst/>
          </a:prstGeom>
        </p:spPr>
      </p:pic>
      <p:pic>
        <p:nvPicPr>
          <p:cNvPr id="1032" name="Picture 8" descr="A yellow and blue logo&#10;&#10;AI-generated content may be incorrect.">
            <a:extLst>
              <a:ext uri="{FF2B5EF4-FFF2-40B4-BE49-F238E27FC236}">
                <a16:creationId xmlns:a16="http://schemas.microsoft.com/office/drawing/2014/main" id="{443024E8-0051-3EA3-62A1-45D964E91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17" y="6009603"/>
            <a:ext cx="1439860" cy="808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A red and black logo&#10;&#10;AI-generated content may be incorrect.">
            <a:extLst>
              <a:ext uri="{FF2B5EF4-FFF2-40B4-BE49-F238E27FC236}">
                <a16:creationId xmlns:a16="http://schemas.microsoft.com/office/drawing/2014/main" id="{0D94FE0B-10B6-910F-C8A7-DCBF3035BA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437" y="4352087"/>
            <a:ext cx="1394012" cy="612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 red and white logo&#10;&#10;AI-generated content may be incorrect.">
            <a:extLst>
              <a:ext uri="{FF2B5EF4-FFF2-40B4-BE49-F238E27FC236}">
                <a16:creationId xmlns:a16="http://schemas.microsoft.com/office/drawing/2014/main" id="{869402DC-F2AD-803F-4F1A-D34944335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195" y="5212425"/>
            <a:ext cx="1742421" cy="605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A logo with a deer head and a cross&#10;&#10;AI-generated content may be incorrect.">
            <a:extLst>
              <a:ext uri="{FF2B5EF4-FFF2-40B4-BE49-F238E27FC236}">
                <a16:creationId xmlns:a16="http://schemas.microsoft.com/office/drawing/2014/main" id="{5DA0EA04-5B2B-7CBB-C7C5-C3EBF180F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7342" y="4272803"/>
            <a:ext cx="1928193" cy="1009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17" descr="A blue and grey machine&#10;&#10;AI-generated content may be incorrect.">
            <a:extLst>
              <a:ext uri="{FF2B5EF4-FFF2-40B4-BE49-F238E27FC236}">
                <a16:creationId xmlns:a16="http://schemas.microsoft.com/office/drawing/2014/main" id="{414C7242-3C42-12EA-89BE-D80E50492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200504" y="1063321"/>
            <a:ext cx="4388304" cy="5092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A white machine with a screen&#10;&#10;AI-generated content may be incorrect.">
            <a:extLst>
              <a:ext uri="{FF2B5EF4-FFF2-40B4-BE49-F238E27FC236}">
                <a16:creationId xmlns:a16="http://schemas.microsoft.com/office/drawing/2014/main" id="{9D6482CB-74C7-5042-F0BE-EC64BFA7B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32" y="-49750"/>
            <a:ext cx="3130405" cy="3151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 descr="A black and grey scrubber machine&#10;&#10;AI-generated content may be incorrect.">
            <a:extLst>
              <a:ext uri="{FF2B5EF4-FFF2-40B4-BE49-F238E27FC236}">
                <a16:creationId xmlns:a16="http://schemas.microsoft.com/office/drawing/2014/main" id="{1411F2C4-B460-54E6-B85B-2B98460D5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3535" y="2633686"/>
            <a:ext cx="2281999" cy="2727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1106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B00DAF-DA2B-533C-936E-65D0189A6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Warum Humanoide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D46953-1787-078F-4208-ECF5B4220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Universell einsetzbar</a:t>
            </a:r>
          </a:p>
          <a:p>
            <a:r>
              <a:rPr lang="de-DE" dirty="0"/>
              <a:t>Skalierbar</a:t>
            </a:r>
          </a:p>
          <a:p>
            <a:r>
              <a:rPr lang="de-DE" dirty="0"/>
              <a:t>EDU vs. Echteinsatz</a:t>
            </a:r>
          </a:p>
          <a:p>
            <a:endParaRPr lang="de-DE" dirty="0"/>
          </a:p>
          <a:p>
            <a:endParaRPr lang="de-DE" dirty="0"/>
          </a:p>
        </p:txBody>
      </p:sp>
      <p:pic>
        <p:nvPicPr>
          <p:cNvPr id="1026" name="Picture 2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4C94FA6B-A85D-45C0-5ACE-83F086FFC1D5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28" t="-663" r="25820" b="31650"/>
          <a:stretch>
            <a:fillRect/>
          </a:stretch>
        </p:blipFill>
        <p:spPr bwMode="auto">
          <a:xfrm>
            <a:off x="7254240" y="1534511"/>
            <a:ext cx="4836160" cy="3703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8944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3B9859-74F0-5D8F-94AC-7E9E71C67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1946"/>
            <a:ext cx="6663267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Überblick </a:t>
            </a:r>
            <a:br>
              <a:rPr lang="de-DE" sz="3600" dirty="0"/>
            </a:br>
            <a:r>
              <a:rPr lang="de-DE" sz="3600" dirty="0"/>
              <a:t>Unitree G1 ​</a:t>
            </a:r>
          </a:p>
        </p:txBody>
      </p:sp>
      <p:pic>
        <p:nvPicPr>
          <p:cNvPr id="1030" name="Picture 6" descr="G1 overview run">
            <a:extLst>
              <a:ext uri="{FF2B5EF4-FFF2-40B4-BE49-F238E27FC236}">
                <a16:creationId xmlns:a16="http://schemas.microsoft.com/office/drawing/2014/main" id="{4311B8FB-715D-5311-8BAE-D3A0CEE79A5E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58" r="9858"/>
          <a:stretch>
            <a:fillRect/>
          </a:stretch>
        </p:blipFill>
        <p:spPr bwMode="auto">
          <a:xfrm>
            <a:off x="6663267" y="372533"/>
            <a:ext cx="5698066" cy="5791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29C8A7C-99DA-84C6-4697-B4C065D40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414850"/>
              </p:ext>
            </p:extLst>
          </p:nvPr>
        </p:nvGraphicFramePr>
        <p:xfrm>
          <a:off x="482600" y="2831625"/>
          <a:ext cx="5698066" cy="269339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53266">
                  <a:extLst>
                    <a:ext uri="{9D8B030D-6E8A-4147-A177-3AD203B41FA5}">
                      <a16:colId xmlns:a16="http://schemas.microsoft.com/office/drawing/2014/main" val="666248267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918464403"/>
                    </a:ext>
                  </a:extLst>
                </a:gridCol>
              </a:tblGrid>
              <a:tr h="664117">
                <a:tc>
                  <a:txBody>
                    <a:bodyPr/>
                    <a:lstStyle/>
                    <a:p>
                      <a:r>
                        <a:rPr lang="de-DE" sz="2000" b="0" i="0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Gewicht​</a:t>
                      </a:r>
                      <a:endParaRPr lang="en-GB" sz="20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2000" b="0" i="0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35 kg​</a:t>
                      </a:r>
                      <a:endParaRPr lang="en-GB" sz="20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217889"/>
                  </a:ext>
                </a:extLst>
              </a:tr>
              <a:tr h="664117">
                <a:tc>
                  <a:txBody>
                    <a:bodyPr/>
                    <a:lstStyle/>
                    <a:p>
                      <a:r>
                        <a:rPr lang="de-DE" sz="2000" b="0" i="0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Größe​</a:t>
                      </a:r>
                      <a:endParaRPr lang="en-GB" sz="20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1270 mm​</a:t>
                      </a:r>
                      <a:endParaRPr lang="en-GB" sz="20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936219"/>
                  </a:ext>
                </a:extLst>
              </a:tr>
              <a:tr h="664117">
                <a:tc>
                  <a:txBody>
                    <a:bodyPr/>
                    <a:lstStyle/>
                    <a:p>
                      <a:r>
                        <a:rPr lang="de-DE" sz="2000" b="0" i="0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Anzahl Freiheitsgrade​</a:t>
                      </a:r>
                      <a:endParaRPr lang="en-GB" sz="20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Up to 43​</a:t>
                      </a:r>
                      <a:endParaRPr lang="en-GB" sz="20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058205"/>
                  </a:ext>
                </a:extLst>
              </a:tr>
              <a:tr h="664117">
                <a:tc>
                  <a:txBody>
                    <a:bodyPr/>
                    <a:lstStyle/>
                    <a:p>
                      <a:r>
                        <a:rPr lang="de-DE" sz="2000" b="0" i="0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Maximaler Gelenk-Drehmoment​</a:t>
                      </a:r>
                      <a:endParaRPr lang="en-GB" sz="20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120 N.m​</a:t>
                      </a:r>
                      <a:endParaRPr lang="en-GB" sz="20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098871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4AFFAED-63E4-B59C-D818-7DF69EABD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198037"/>
              </p:ext>
            </p:extLst>
          </p:nvPr>
        </p:nvGraphicFramePr>
        <p:xfrm>
          <a:off x="482600" y="2404905"/>
          <a:ext cx="5698066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8066">
                  <a:extLst>
                    <a:ext uri="{9D8B030D-6E8A-4147-A177-3AD203B41FA5}">
                      <a16:colId xmlns:a16="http://schemas.microsoft.com/office/drawing/2014/main" val="4676563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Allgemein</a:t>
                      </a:r>
                      <a:endParaRPr lang="en-GB" sz="20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solidFill>
                      <a:srgbClr val="FB1A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226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1813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98BC86-2875-D3F1-79BF-BF5F7F546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Safety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87D26D-B078-5A17-343A-44AE819D5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Sicherheitszonen</a:t>
            </a:r>
          </a:p>
          <a:p>
            <a:r>
              <a:rPr lang="de-DE" dirty="0"/>
              <a:t>Not-Aus (</a:t>
            </a:r>
            <a:r>
              <a:rPr lang="de-DE" dirty="0" err="1"/>
              <a:t>Damping</a:t>
            </a:r>
            <a:r>
              <a:rPr lang="de-DE" dirty="0"/>
              <a:t>)</a:t>
            </a:r>
          </a:p>
          <a:p>
            <a:r>
              <a:rPr lang="de-DE" dirty="0"/>
              <a:t>Laborbetrieb / CE</a:t>
            </a:r>
          </a:p>
          <a:p>
            <a:endParaRPr lang="de-DE" dirty="0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33E8913-9FC9-99A7-5444-A5F81B1E28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8746CD53-DC8F-FB64-3508-999F9B825D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1691" y="659232"/>
            <a:ext cx="3752109" cy="495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294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21C39A2-97E5-ED5B-6510-08EFE80D70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446001" cy="68580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F332CB-F83B-4F02-FD47-857DD2705D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42413"/>
            <a:ext cx="10363200" cy="5017578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2321B068-31A7-5712-5E36-BD5B8C4D3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4831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Überblick </a:t>
            </a:r>
            <a:br>
              <a:rPr lang="de-DE" sz="3600" dirty="0"/>
            </a:br>
            <a:r>
              <a:rPr lang="de-DE" sz="3600" dirty="0"/>
              <a:t>Unitree G1 Edu​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25050892-B774-21B0-9902-34DEA01B5535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de-DE" sz="3600" dirty="0">
                <a:solidFill>
                  <a:srgbClr val="FB1A62"/>
                </a:solidFill>
              </a:rPr>
              <a:t>Motoren</a:t>
            </a:r>
          </a:p>
        </p:txBody>
      </p:sp>
    </p:spTree>
    <p:extLst>
      <p:ext uri="{BB962C8B-B14F-4D97-AF65-F5344CB8AC3E}">
        <p14:creationId xmlns:p14="http://schemas.microsoft.com/office/powerpoint/2010/main" val="100278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3FB92-9EBB-4BC6-85F2-099840177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2743A07-4549-3296-2618-AE8F4B3128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01" y="-87087"/>
            <a:ext cx="12719595" cy="7088778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32538C1C-4FCB-37B4-7D35-D936894F9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3084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Überblick </a:t>
            </a:r>
            <a:br>
              <a:rPr lang="de-DE" sz="3600" dirty="0"/>
            </a:br>
            <a:r>
              <a:rPr lang="de-DE" sz="3600" dirty="0"/>
              <a:t>Unitree G1 Edu​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684990-3F60-04A0-B273-22F2DE9586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165" y="1624397"/>
            <a:ext cx="7335167" cy="5047336"/>
          </a:xfrm>
          <a:prstGeom prst="rect">
            <a:avLst/>
          </a:prstGeom>
        </p:spPr>
      </p:pic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593BAFB9-39B7-4E75-A339-852DC71B4F24}"/>
              </a:ext>
            </a:extLst>
          </p:cNvPr>
          <p:cNvSpPr txBox="1">
            <a:spLocks/>
          </p:cNvSpPr>
          <p:nvPr/>
        </p:nvSpPr>
        <p:spPr>
          <a:xfrm>
            <a:off x="143798" y="1624397"/>
            <a:ext cx="3949699" cy="23432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cs typeface="Roboto" panose="02000000000000000000" pitchFamily="2" charset="0"/>
              </a:rPr>
              <a:t>Sensoren</a:t>
            </a:r>
          </a:p>
          <a:p>
            <a:r>
              <a:rPr lang="de-DE" dirty="0">
                <a:cs typeface="Roboto" panose="02000000000000000000" pitchFamily="2" charset="0"/>
              </a:rPr>
              <a:t>3D Lidar (Livox)</a:t>
            </a:r>
            <a:r>
              <a:rPr lang="en-US" dirty="0">
                <a:cs typeface="Roboto" panose="02000000000000000000" pitchFamily="2" charset="0"/>
              </a:rPr>
              <a:t>​</a:t>
            </a:r>
          </a:p>
          <a:p>
            <a:r>
              <a:rPr lang="de-DE" dirty="0">
                <a:cs typeface="Roboto" panose="02000000000000000000" pitchFamily="2" charset="0"/>
              </a:rPr>
              <a:t>RGB-D Kamera (Realsense)</a:t>
            </a:r>
            <a:r>
              <a:rPr lang="en-US" dirty="0">
                <a:cs typeface="Roboto" panose="02000000000000000000" pitchFamily="2" charset="0"/>
              </a:rPr>
              <a:t>​</a:t>
            </a:r>
          </a:p>
          <a:p>
            <a:r>
              <a:rPr lang="en-GB" dirty="0">
                <a:cs typeface="Roboto" panose="02000000000000000000" pitchFamily="2" charset="0"/>
              </a:rPr>
              <a:t>IMU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58B5248-2ACE-A12F-88BC-A0D32739DA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7" y="4679899"/>
            <a:ext cx="3992880" cy="128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283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9EC6A9B-807D-F94D-6684-04703F717D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680201" y="451945"/>
            <a:ext cx="5782470" cy="5694855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074AD441-6D49-23BA-49BB-78B22A3E7E52}"/>
              </a:ext>
            </a:extLst>
          </p:cNvPr>
          <p:cNvSpPr txBox="1">
            <a:spLocks/>
          </p:cNvSpPr>
          <p:nvPr/>
        </p:nvSpPr>
        <p:spPr>
          <a:xfrm>
            <a:off x="-4236" y="465502"/>
            <a:ext cx="6680201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de-DE" sz="3600" dirty="0"/>
              <a:t>Überblick </a:t>
            </a:r>
            <a:br>
              <a:rPr lang="de-DE" sz="3600" dirty="0"/>
            </a:br>
            <a:r>
              <a:rPr lang="de-DE" sz="3600" dirty="0"/>
              <a:t>Unitree G1 Edu​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B63C4F-0CBA-B930-AABB-675D7838C84C}"/>
              </a:ext>
            </a:extLst>
          </p:cNvPr>
          <p:cNvSpPr txBox="1">
            <a:spLocks/>
          </p:cNvSpPr>
          <p:nvPr/>
        </p:nvSpPr>
        <p:spPr>
          <a:xfrm>
            <a:off x="0" y="1184058"/>
            <a:ext cx="6680201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de-DE" sz="3600" dirty="0">
                <a:solidFill>
                  <a:srgbClr val="FB1A62"/>
                </a:solidFill>
              </a:rPr>
              <a:t>Hardware &amp; Software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59E376-5C83-3E2B-CF25-C0CFEC9E71B9}"/>
              </a:ext>
            </a:extLst>
          </p:cNvPr>
          <p:cNvSpPr/>
          <p:nvPr/>
        </p:nvSpPr>
        <p:spPr>
          <a:xfrm>
            <a:off x="355600" y="2224348"/>
            <a:ext cx="2116667" cy="104378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base"/>
            <a:r>
              <a:rPr lang="de-DE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PC1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​</a:t>
            </a:r>
          </a:p>
          <a:p>
            <a:pPr algn="ctr" fontAlgn="base"/>
            <a:r>
              <a:rPr lang="de-DE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Hauptplatine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​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3CF6BA-77BD-756C-8A5E-0A69726E0094}"/>
              </a:ext>
            </a:extLst>
          </p:cNvPr>
          <p:cNvSpPr/>
          <p:nvPr/>
        </p:nvSpPr>
        <p:spPr>
          <a:xfrm>
            <a:off x="4229099" y="2224348"/>
            <a:ext cx="2116667" cy="104378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Unitree Explore App​</a:t>
            </a:r>
            <a:endParaRPr lang="en-GB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752503-C751-9F30-294E-C44B83A58AD5}"/>
              </a:ext>
            </a:extLst>
          </p:cNvPr>
          <p:cNvSpPr/>
          <p:nvPr/>
        </p:nvSpPr>
        <p:spPr>
          <a:xfrm>
            <a:off x="355600" y="4470647"/>
            <a:ext cx="2116667" cy="104378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base"/>
            <a:r>
              <a:rPr lang="de-DE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PC2 (NVIDIA)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​</a:t>
            </a:r>
          </a:p>
          <a:p>
            <a:pPr algn="ctr" fontAlgn="base"/>
            <a:r>
              <a:rPr lang="de-DE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ROS2 Umgebung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​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EDFD82-FA55-05FD-79A8-E0D3F11B4274}"/>
              </a:ext>
            </a:extLst>
          </p:cNvPr>
          <p:cNvSpPr/>
          <p:nvPr/>
        </p:nvSpPr>
        <p:spPr>
          <a:xfrm>
            <a:off x="4229099" y="4470647"/>
            <a:ext cx="2116667" cy="104378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Externe Entwicklungeinheit (Raspi-Minilab)​</a:t>
            </a:r>
            <a:endParaRPr lang="en-GB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0BF55F5-6F91-CF61-A53A-9EDBE967D541}"/>
              </a:ext>
            </a:extLst>
          </p:cNvPr>
          <p:cNvCxnSpPr>
            <a:cxnSpLocks/>
          </p:cNvCxnSpPr>
          <p:nvPr/>
        </p:nvCxnSpPr>
        <p:spPr>
          <a:xfrm>
            <a:off x="1413933" y="3299372"/>
            <a:ext cx="0" cy="109482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9FCC804-22D3-A6DF-A141-0620BC0C7970}"/>
              </a:ext>
            </a:extLst>
          </p:cNvPr>
          <p:cNvCxnSpPr>
            <a:cxnSpLocks/>
          </p:cNvCxnSpPr>
          <p:nvPr/>
        </p:nvCxnSpPr>
        <p:spPr>
          <a:xfrm>
            <a:off x="2531531" y="5023656"/>
            <a:ext cx="160866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FF169BA-F0CF-3DC0-77EA-B29464A978B4}"/>
              </a:ext>
            </a:extLst>
          </p:cNvPr>
          <p:cNvCxnSpPr>
            <a:cxnSpLocks/>
          </p:cNvCxnSpPr>
          <p:nvPr/>
        </p:nvCxnSpPr>
        <p:spPr>
          <a:xfrm>
            <a:off x="2531531" y="2732229"/>
            <a:ext cx="160866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207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3B5AC4-74F4-DC49-95C6-F1B36DF83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Remote Steuerung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0892EA-94C6-4E1F-030C-6B96A36BA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Bluetooth Verbindung</a:t>
            </a:r>
          </a:p>
          <a:p>
            <a:r>
              <a:rPr lang="de-DE" dirty="0"/>
              <a:t>AP Mode</a:t>
            </a:r>
          </a:p>
          <a:p>
            <a:r>
              <a:rPr lang="de-DE" dirty="0"/>
              <a:t>Wifi Mode</a:t>
            </a:r>
          </a:p>
          <a:p>
            <a:endParaRPr lang="de-DE" dirty="0"/>
          </a:p>
        </p:txBody>
      </p:sp>
      <p:pic>
        <p:nvPicPr>
          <p:cNvPr id="6" name="Bildplatzhalter 5" descr="Ein Bild, das Elektronik, Elektronisches Gerät, Gerät, Gamecontroller enthält.&#10;&#10;KI-generierte Inhalte können fehlerhaft sein.">
            <a:extLst>
              <a:ext uri="{FF2B5EF4-FFF2-40B4-BE49-F238E27FC236}">
                <a16:creationId xmlns:a16="http://schemas.microsoft.com/office/drawing/2014/main" id="{276BE19A-1D8F-69D3-4F7D-A3458E18CBC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5972" r="92083">
                        <a14:foregroundMark x1="10278" y1="49722" x2="10278" y2="49722"/>
                        <a14:foregroundMark x1="6111" y1="54583" x2="6111" y2="54583"/>
                        <a14:foregroundMark x1="92083" y1="43750" x2="92083" y2="4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721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AAC979D-FC78-FD23-236F-A83FC96A7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8C8D01-E268-C136-E6FD-02E7DDC7FB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90" y="2089996"/>
            <a:ext cx="11132820" cy="371094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2A7BE3F9-18AC-65DF-1672-C6354D84DD65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en-GB" sz="3000" dirty="0">
                <a:solidFill>
                  <a:srgbClr val="FB1A62"/>
                </a:solidFill>
              </a:rPr>
              <a:t>ROS2 – High Level vs Low Level </a:t>
            </a:r>
            <a:r>
              <a:rPr lang="en-GB" sz="3000" dirty="0" err="1">
                <a:solidFill>
                  <a:srgbClr val="FB1A62"/>
                </a:solidFill>
              </a:rPr>
              <a:t>Programmierung</a:t>
            </a:r>
            <a:r>
              <a:rPr lang="en-GB" sz="3000" dirty="0">
                <a:solidFill>
                  <a:srgbClr val="FB1A62"/>
                </a:solidFill>
              </a:rPr>
              <a:t>​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750977A7-0379-3069-6095-D2F398EF9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3339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G1 Programmierung​</a:t>
            </a:r>
          </a:p>
        </p:txBody>
      </p:sp>
    </p:spTree>
    <p:extLst>
      <p:ext uri="{BB962C8B-B14F-4D97-AF65-F5344CB8AC3E}">
        <p14:creationId xmlns:p14="http://schemas.microsoft.com/office/powerpoint/2010/main" val="1436882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EAF20-5A08-E42A-1758-329B6B399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9DE8FF6-0B50-C834-668B-7495FDA1DC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5272F96-F444-8AB5-B8C8-5D5C9B4A169E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en-GB" sz="3000" dirty="0">
                <a:solidFill>
                  <a:srgbClr val="FB1A62"/>
                </a:solidFill>
              </a:rPr>
              <a:t>SDK Overview​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4C86FF8F-12F6-4DE5-5B73-45D6CC8AD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4195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G1 Programmierung​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47C890-A3FF-FA1B-0B0C-0A47B97C72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680" y="2157632"/>
            <a:ext cx="7406640" cy="378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456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5A921-20E5-5640-950C-2C8496F2E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F4764F55-40F7-B817-0A53-004F4A83A05F}"/>
              </a:ext>
            </a:extLst>
          </p:cNvPr>
          <p:cNvSpPr txBox="1">
            <a:spLocks/>
          </p:cNvSpPr>
          <p:nvPr/>
        </p:nvSpPr>
        <p:spPr>
          <a:xfrm>
            <a:off x="0" y="451943"/>
            <a:ext cx="6680201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de-DE" sz="3600" dirty="0"/>
              <a:t>Verbindungsmethoden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CFA79A-AD49-15E2-6ED9-41BF41802CD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3828FA81-4019-889E-5192-97104D9AC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0201" y="451944"/>
            <a:ext cx="5511799" cy="5366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6C4F86BF-875E-238E-5BF0-B97E35CEAA07}"/>
              </a:ext>
            </a:extLst>
          </p:cNvPr>
          <p:cNvSpPr txBox="1">
            <a:spLocks/>
          </p:cNvSpPr>
          <p:nvPr/>
        </p:nvSpPr>
        <p:spPr>
          <a:xfrm>
            <a:off x="143798" y="1836064"/>
            <a:ext cx="6536403" cy="23432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de-DE" dirty="0">
                <a:cs typeface="Roboto" panose="02000000000000000000" pitchFamily="2" charset="0"/>
              </a:rPr>
              <a:t>Ethernet / AP</a:t>
            </a:r>
            <a:r>
              <a:rPr lang="en-US" dirty="0">
                <a:cs typeface="Roboto" panose="02000000000000000000" pitchFamily="2" charset="0"/>
              </a:rPr>
              <a:t>​</a:t>
            </a:r>
          </a:p>
          <a:p>
            <a:pPr fontAlgn="base"/>
            <a:r>
              <a:rPr lang="de-DE" dirty="0">
                <a:cs typeface="Roboto" panose="02000000000000000000" pitchFamily="2" charset="0"/>
              </a:rPr>
              <a:t>IP Konfiguration</a:t>
            </a:r>
            <a:r>
              <a:rPr lang="en-US" dirty="0">
                <a:cs typeface="Roboto" panose="02000000000000000000" pitchFamily="2" charset="0"/>
              </a:rPr>
              <a:t>​</a:t>
            </a:r>
          </a:p>
          <a:p>
            <a:pPr fontAlgn="base"/>
            <a:r>
              <a:rPr lang="en-US" dirty="0">
                <a:cs typeface="Roboto" panose="02000000000000000000" pitchFamily="2" charset="0"/>
              </a:rPr>
              <a:t>Bei </a:t>
            </a:r>
            <a:r>
              <a:rPr lang="de-DE" dirty="0">
                <a:cs typeface="Roboto" panose="02000000000000000000" pitchFamily="2" charset="0"/>
              </a:rPr>
              <a:t>IPv4 Einstellungen für die Schnittstelle, manuelles DHCP wählen</a:t>
            </a:r>
          </a:p>
          <a:p>
            <a:pPr fontAlgn="base"/>
            <a:r>
              <a:rPr lang="de-DE" dirty="0">
                <a:cs typeface="Roboto" panose="02000000000000000000" pitchFamily="2" charset="0"/>
              </a:rPr>
              <a:t>Addresse 192.168.123.222</a:t>
            </a:r>
            <a:r>
              <a:rPr lang="en-US" dirty="0">
                <a:cs typeface="Roboto" panose="02000000000000000000" pitchFamily="2" charset="0"/>
              </a:rPr>
              <a:t>​</a:t>
            </a:r>
          </a:p>
          <a:p>
            <a:pPr fontAlgn="base"/>
            <a:r>
              <a:rPr lang="de-DE" dirty="0">
                <a:cs typeface="Roboto" panose="02000000000000000000" pitchFamily="2" charset="0"/>
              </a:rPr>
              <a:t>Mask 255.255.255.0</a:t>
            </a:r>
          </a:p>
        </p:txBody>
      </p:sp>
    </p:spTree>
    <p:extLst>
      <p:ext uri="{BB962C8B-B14F-4D97-AF65-F5344CB8AC3E}">
        <p14:creationId xmlns:p14="http://schemas.microsoft.com/office/powerpoint/2010/main" val="2502931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C453970-F288-2AA8-EDD5-A71ACD28C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8BD0C0E-11CB-5E9C-4620-EA7FC1D97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0B795A57-DED5-A939-E6C8-E92A4C631716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en-GB" sz="3000" dirty="0">
                <a:solidFill>
                  <a:srgbClr val="FB1A62"/>
                </a:solidFill>
              </a:rPr>
              <a:t>FSM Codes​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B80B3C0F-47B7-5DD5-5B28-76EC41346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510711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G1 Programmierung​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CB9985-4B31-E416-CB0E-600240CD69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806950"/>
              </p:ext>
            </p:extLst>
          </p:nvPr>
        </p:nvGraphicFramePr>
        <p:xfrm>
          <a:off x="1367367" y="2083046"/>
          <a:ext cx="9457265" cy="4182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942">
                  <a:extLst>
                    <a:ext uri="{9D8B030D-6E8A-4147-A177-3AD203B41FA5}">
                      <a16:colId xmlns:a16="http://schemas.microsoft.com/office/drawing/2014/main" val="3240308913"/>
                    </a:ext>
                  </a:extLst>
                </a:gridCol>
                <a:gridCol w="2617408">
                  <a:extLst>
                    <a:ext uri="{9D8B030D-6E8A-4147-A177-3AD203B41FA5}">
                      <a16:colId xmlns:a16="http://schemas.microsoft.com/office/drawing/2014/main" val="287255073"/>
                    </a:ext>
                  </a:extLst>
                </a:gridCol>
                <a:gridCol w="5775915">
                  <a:extLst>
                    <a:ext uri="{9D8B030D-6E8A-4147-A177-3AD203B41FA5}">
                      <a16:colId xmlns:a16="http://schemas.microsoft.com/office/drawing/2014/main" val="3590799967"/>
                    </a:ext>
                  </a:extLst>
                </a:gridCol>
              </a:tblGrid>
              <a:tr h="473562">
                <a:tc>
                  <a:txBody>
                    <a:bodyPr/>
                    <a:lstStyle/>
                    <a:p>
                      <a:pPr algn="l"/>
                      <a:r>
                        <a:rPr lang="en-GB" sz="20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ID</a:t>
                      </a:r>
                    </a:p>
                  </a:txBody>
                  <a:tcPr anchor="ctr">
                    <a:solidFill>
                      <a:srgbClr val="FB1A6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1" i="0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Name / Action</a:t>
                      </a:r>
                      <a:endParaRPr lang="en-GB" sz="20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FB1A6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1" i="0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Typical use​</a:t>
                      </a:r>
                      <a:endParaRPr lang="en-GB" sz="20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FB1A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581788"/>
                  </a:ext>
                </a:extLst>
              </a:tr>
              <a:tr h="473562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Zero-Torque​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Motors off – safe to handle legs.​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8051761"/>
                  </a:ext>
                </a:extLst>
              </a:tr>
              <a:tr h="444709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Damp​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Viscous damping only (soft) – default power-on.​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4972343"/>
                  </a:ext>
                </a:extLst>
              </a:tr>
              <a:tr h="473562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Squat​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Static low squat.​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7933976"/>
                  </a:ext>
                </a:extLst>
              </a:tr>
              <a:tr h="441262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Sit​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Dog-sit posture.​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3926571"/>
                  </a:ext>
                </a:extLst>
              </a:tr>
              <a:tr h="454942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Stand-up​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Firmware-defined stand, good after Damp.​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2820124"/>
                  </a:ext>
                </a:extLst>
              </a:tr>
              <a:tr h="473562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501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Start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Balance controller &amp; gait planner.​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1683816"/>
                  </a:ext>
                </a:extLst>
              </a:tr>
              <a:tr h="473562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702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Lie-to-Stand​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Get up from lying on the back.​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3856381"/>
                  </a:ext>
                </a:extLst>
              </a:tr>
              <a:tr h="473562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706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Squat-to-Stand-up​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Smooth rise from deep squat.​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657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84338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B97A9-27EF-F551-8631-BC88D467B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1BCA25-6F30-7B60-CF4E-4DEF49CF8B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D65DCAB2-3735-B619-820E-6F8C26E3548F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en-GB" sz="3000" dirty="0">
                <a:solidFill>
                  <a:srgbClr val="FB1A62"/>
                </a:solidFill>
              </a:rPr>
              <a:t>Interface name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36D06E15-9392-1D7F-B682-5916FC01E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1806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Verbindungsmethoden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6A35B765-E370-CE38-44A5-BE5070C4F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812" y="1805573"/>
            <a:ext cx="6647922" cy="4686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2255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9B4CAD9-0124-0881-D449-8138EE54F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DCB33CEC-1D4F-AB2B-59FE-A177006D331B}"/>
              </a:ext>
            </a:extLst>
          </p:cNvPr>
          <p:cNvSpPr txBox="1">
            <a:spLocks/>
          </p:cNvSpPr>
          <p:nvPr/>
        </p:nvSpPr>
        <p:spPr>
          <a:xfrm>
            <a:off x="0" y="451945"/>
            <a:ext cx="6680201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de-DE" sz="3600" dirty="0"/>
              <a:t>Entwicklungsumgebung</a:t>
            </a:r>
          </a:p>
          <a:p>
            <a:pPr algn="ctr"/>
            <a:r>
              <a:rPr lang="de-DE" sz="3600" dirty="0">
                <a:solidFill>
                  <a:srgbClr val="FB1A62"/>
                </a:solidFill>
              </a:rPr>
              <a:t>Linux</a:t>
            </a:r>
            <a:r>
              <a:rPr lang="de-DE" sz="3600" dirty="0"/>
              <a:t>​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7D1D4A-1015-941B-7CA1-5532E942ED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3F1933E7-E0A2-4FEB-43AD-7FFA520976E0}"/>
              </a:ext>
            </a:extLst>
          </p:cNvPr>
          <p:cNvSpPr txBox="1">
            <a:spLocks/>
          </p:cNvSpPr>
          <p:nvPr/>
        </p:nvSpPr>
        <p:spPr>
          <a:xfrm>
            <a:off x="152400" y="1963454"/>
            <a:ext cx="6536403" cy="23432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de-DE" dirty="0"/>
              <a:t>Raspi Minilab: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de-DE" dirty="0"/>
              <a:t>          Saubere Entwicklungsumgebung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en-US" dirty="0"/>
              <a:t>          </a:t>
            </a:r>
            <a:r>
              <a:rPr lang="de-DE" dirty="0"/>
              <a:t>Remote Desktop Zugriff</a:t>
            </a:r>
          </a:p>
          <a:p>
            <a:pPr marL="0" indent="0" fontAlgn="base">
              <a:buNone/>
            </a:pPr>
            <a:r>
              <a:rPr lang="de-DE" dirty="0"/>
              <a:t>	IP: 10.34.0.118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de-DE" dirty="0"/>
              <a:t>          Datei Dropbox</a:t>
            </a:r>
            <a:r>
              <a:rPr lang="en-US" dirty="0"/>
              <a:t>​</a:t>
            </a:r>
          </a:p>
          <a:p>
            <a:pPr fontAlgn="base"/>
            <a:r>
              <a:rPr lang="de-DE" dirty="0"/>
              <a:t>Alternative: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de-DE" dirty="0"/>
              <a:t>         Native Installation / Dual boot​</a:t>
            </a:r>
          </a:p>
          <a:p>
            <a:pPr marL="0" indent="0" fontAlgn="base">
              <a:buNone/>
            </a:pPr>
            <a:r>
              <a:rPr lang="de-DE" dirty="0"/>
              <a:t>         Virtuelle Maschine</a:t>
            </a:r>
            <a:endParaRPr lang="en-US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F4FFE777-0334-153A-58E6-C316C077A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8152" y="532695"/>
            <a:ext cx="4362979" cy="5285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5794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435A465-49D3-A6B9-DA23-E9011D851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14C5B43D-9E83-4767-33C4-A3532C5758F7}"/>
              </a:ext>
            </a:extLst>
          </p:cNvPr>
          <p:cNvSpPr txBox="1">
            <a:spLocks/>
          </p:cNvSpPr>
          <p:nvPr/>
        </p:nvSpPr>
        <p:spPr>
          <a:xfrm>
            <a:off x="0" y="451945"/>
            <a:ext cx="6680201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de-DE" sz="3600" dirty="0"/>
              <a:t>Entwicklungsumgebung</a:t>
            </a:r>
          </a:p>
          <a:p>
            <a:pPr algn="ctr"/>
            <a:r>
              <a:rPr lang="de-DE" sz="3600" dirty="0">
                <a:solidFill>
                  <a:srgbClr val="FB1A62"/>
                </a:solidFill>
              </a:rPr>
              <a:t>Linux</a:t>
            </a:r>
            <a:r>
              <a:rPr lang="de-DE" sz="3600" dirty="0"/>
              <a:t>​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19856CBF-883C-3F0D-F1E2-7A75EAC29E7E}"/>
              </a:ext>
            </a:extLst>
          </p:cNvPr>
          <p:cNvSpPr txBox="1">
            <a:spLocks/>
          </p:cNvSpPr>
          <p:nvPr/>
        </p:nvSpPr>
        <p:spPr>
          <a:xfrm>
            <a:off x="152400" y="1963454"/>
            <a:ext cx="6536403" cy="23432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de-DE" dirty="0"/>
              <a:t>Raspi Minilab: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de-DE" dirty="0"/>
              <a:t>          Saubere Entwicklungsumgebung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en-US" dirty="0"/>
              <a:t>          </a:t>
            </a:r>
            <a:r>
              <a:rPr lang="de-DE" dirty="0"/>
              <a:t>Remote Desktop Zugriff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de-DE"/>
              <a:t>	IP</a:t>
            </a:r>
            <a:r>
              <a:rPr lang="de-DE" dirty="0"/>
              <a:t>: 10.34.0.118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de-DE" dirty="0"/>
              <a:t>          Datei Dropbox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dirty="0" err="1"/>
              <a:t>Benutzer</a:t>
            </a:r>
            <a:r>
              <a:rPr lang="en-US" dirty="0"/>
              <a:t>: </a:t>
            </a:r>
            <a:r>
              <a:rPr lang="en-US" dirty="0" err="1"/>
              <a:t>teilnehmer</a:t>
            </a:r>
            <a:r>
              <a:rPr lang="en-US" dirty="0"/>
              <a:t>&lt;#&gt;</a:t>
            </a:r>
          </a:p>
          <a:p>
            <a:pPr marL="0" indent="0" fontAlgn="base">
              <a:buNone/>
            </a:pPr>
            <a:r>
              <a:rPr lang="en-US" dirty="0" err="1"/>
              <a:t>Passwort</a:t>
            </a:r>
            <a:r>
              <a:rPr lang="en-US" dirty="0"/>
              <a:t>: academy0226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15F02FF9-082B-6FB9-6B8B-C4231FA5470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4340" name="Picture 4">
            <a:extLst>
              <a:ext uri="{FF2B5EF4-FFF2-40B4-BE49-F238E27FC236}">
                <a16:creationId xmlns:a16="http://schemas.microsoft.com/office/drawing/2014/main" id="{B896CF52-12B5-45CE-CB22-5C50ABE29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4399" y="1039812"/>
            <a:ext cx="5510486" cy="4487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8722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2D918-FD47-1C8F-755F-53CB3DC60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6E0F7B8-0A80-258D-5A8E-ECF4212573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E475E03B-4F35-B2DD-BFE1-7A6C9D180183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en-GB" sz="3000" dirty="0">
                <a:solidFill>
                  <a:srgbClr val="FB1A62"/>
                </a:solidFill>
              </a:rPr>
              <a:t>Updates &amp; Basic Tools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B1A7692A-90D2-C4F1-DBE0-47DF272BC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406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Entwicklungsumgebung​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B72EE9C5-D4E2-B14F-8822-99987462B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184" y="1981446"/>
            <a:ext cx="10025657" cy="2251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>
            <a:extLst>
              <a:ext uri="{FF2B5EF4-FFF2-40B4-BE49-F238E27FC236}">
                <a16:creationId xmlns:a16="http://schemas.microsoft.com/office/drawing/2014/main" id="{9C659B17-6D4B-0F6B-25FF-83A6B67FA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184" y="4311652"/>
            <a:ext cx="10025657" cy="1993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6502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C60CA-0E75-62B9-F17B-7D34E5EE6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E6E98DD-411F-BE2B-178B-2F08349CD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2576D3FC-5E38-61C8-CA89-74871089B580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en-GB" sz="3000" dirty="0">
                <a:solidFill>
                  <a:srgbClr val="FB1A62"/>
                </a:solidFill>
              </a:rPr>
              <a:t>Python 3.10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8A0E12CC-D792-B4D0-EA70-A9CFE9B1C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59473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Entwicklungsumgebung​</a:t>
            </a: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0C0A2469-36AD-3D3A-E22E-77E95A923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466" y="1794933"/>
            <a:ext cx="10024534" cy="4696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6517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54FA8-D68F-8532-8134-3D09F7956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4FA7A9F-F66D-AEA0-F893-AA7BF95DEC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005577CF-6DAC-215B-7436-F3742D74B6D3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en-GB" sz="3000" dirty="0">
                <a:solidFill>
                  <a:srgbClr val="FB1A62"/>
                </a:solidFill>
              </a:rPr>
              <a:t>UV (</a:t>
            </a:r>
            <a:r>
              <a:rPr lang="en-GB" sz="3000" dirty="0" err="1">
                <a:solidFill>
                  <a:srgbClr val="FB1A62"/>
                </a:solidFill>
              </a:rPr>
              <a:t>Empfohlen</a:t>
            </a:r>
            <a:r>
              <a:rPr lang="en-GB" sz="3000" dirty="0">
                <a:solidFill>
                  <a:srgbClr val="FB1A62"/>
                </a:solidFill>
              </a:rPr>
              <a:t>)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1BB906C5-0CEA-E4C1-F03A-5E019EF83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69016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Entwicklungsumgebung​</a:t>
            </a: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239A16E6-DD66-3739-5361-0F861038B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207" y="1898772"/>
            <a:ext cx="8996892" cy="1581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2" name="Picture 4">
            <a:extLst>
              <a:ext uri="{FF2B5EF4-FFF2-40B4-BE49-F238E27FC236}">
                <a16:creationId xmlns:a16="http://schemas.microsoft.com/office/drawing/2014/main" id="{FE769D7D-A931-CE70-5DE0-8C06559FD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207" y="3686705"/>
            <a:ext cx="8996892" cy="2775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920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51446-336E-F0C8-E607-D22B2B2D7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D515CCE-76CE-B4BE-7200-8DB2B6854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936DA445-4DA1-DC8B-BE83-22454AFB7570}"/>
              </a:ext>
            </a:extLst>
          </p:cNvPr>
          <p:cNvSpPr txBox="1">
            <a:spLocks/>
          </p:cNvSpPr>
          <p:nvPr/>
        </p:nvSpPr>
        <p:spPr>
          <a:xfrm>
            <a:off x="-2" y="1179299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FB1A62"/>
                </a:solidFill>
              </a:rPr>
              <a:t>Abhängigkeiten​  </a:t>
            </a:r>
          </a:p>
          <a:p>
            <a:pPr algn="ctr"/>
            <a:r>
              <a:rPr lang="it-IT" sz="3000" dirty="0">
                <a:solidFill>
                  <a:srgbClr val="FB1A62"/>
                </a:solidFill>
              </a:rPr>
              <a:t>Unitree_sdk2_python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601D8D07-8BB9-A65B-3AEF-5329EE67E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84872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Entwicklungsumgebung​</a:t>
            </a:r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545BF65A-EB39-CBE7-3BD9-8255DA5DD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257" y="2718487"/>
            <a:ext cx="11119485" cy="260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038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126D8-22EC-B330-9597-B74FE77EA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0D49899-2289-8214-ED89-DC222C0F1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4004289E-71FB-C428-466D-325E637CB66F}"/>
              </a:ext>
            </a:extLst>
          </p:cNvPr>
          <p:cNvSpPr txBox="1">
            <a:spLocks/>
          </p:cNvSpPr>
          <p:nvPr/>
        </p:nvSpPr>
        <p:spPr>
          <a:xfrm>
            <a:off x="0" y="115042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FB1A62"/>
                </a:solidFill>
              </a:rPr>
              <a:t>Abhängigkeiten​  </a:t>
            </a:r>
          </a:p>
          <a:p>
            <a:pPr algn="ctr"/>
            <a:r>
              <a:rPr lang="it-IT" sz="3000" dirty="0">
                <a:solidFill>
                  <a:srgbClr val="FB1A62"/>
                </a:solidFill>
              </a:rPr>
              <a:t>CycloneDDS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0779C385-B081-7436-2C18-95D049A07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67939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Entwicklungsumgebung​</a:t>
            </a: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43E0B287-9CC4-84B3-4BAD-0D8196A2D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4696" y="1981445"/>
            <a:ext cx="7708371" cy="448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544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87993-F79C-7299-D2B3-862D435A4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C2EEA88-C50C-8DA7-CB83-EDE5E76535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A04075F9-0EF9-BB74-2A2F-F3B080A9A7F2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FB1A62"/>
                </a:solidFill>
              </a:rPr>
              <a:t>Npm &amp; codex (AI CLI) (OpenAI, Bezahlt) 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D16836B4-2B7F-DC4A-7747-F485AD148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93339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Entwicklungsumgebung​</a:t>
            </a:r>
          </a:p>
        </p:txBody>
      </p:sp>
      <p:pic>
        <p:nvPicPr>
          <p:cNvPr id="3" name="Grafik 2" descr="Ein Bild, das Text, Screenshot, Software, Schrift enthält.&#10;&#10;KI-generierte Inhalte können fehlerhaft sein.">
            <a:extLst>
              <a:ext uri="{FF2B5EF4-FFF2-40B4-BE49-F238E27FC236}">
                <a16:creationId xmlns:a16="http://schemas.microsoft.com/office/drawing/2014/main" id="{8E3359C9-63E2-7B13-266D-60D0CE844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360" y="2334668"/>
            <a:ext cx="9507277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521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CEB13-88DE-40E7-5854-EC260F11A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4711916-8F1F-2480-BEC5-5EAF46FB8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9088B073-A497-9EEE-1B7B-91E778652600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FB1A62"/>
                </a:solidFill>
              </a:rPr>
              <a:t>Alternativ: Gemini-CLI (Google, Kostenlos)​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D4E7675-4D76-7085-60D8-8CDF00973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484873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Entwicklungsumgebung​</a:t>
            </a:r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CDA13EFD-1AF3-9050-1438-6C349D8BB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507" y="1981446"/>
            <a:ext cx="8954983" cy="4512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2493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FCB4704-9F26-9065-9901-AB6B9C35D8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890979"/>
            <a:ext cx="3752109" cy="4951668"/>
          </a:xfrm>
          <a:prstGeom prst="rect">
            <a:avLst/>
          </a:prstGeom>
        </p:spPr>
      </p:pic>
      <p:sp>
        <p:nvSpPr>
          <p:cNvPr id="18" name="Titel 1">
            <a:extLst>
              <a:ext uri="{FF2B5EF4-FFF2-40B4-BE49-F238E27FC236}">
                <a16:creationId xmlns:a16="http://schemas.microsoft.com/office/drawing/2014/main" id="{A1B55B5C-9918-745E-2FE6-58649E6BD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451946"/>
            <a:ext cx="6688667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G1 Programmierung​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4631CDC5-0A4F-ABB0-F43E-E5D48BE37EAB}"/>
              </a:ext>
            </a:extLst>
          </p:cNvPr>
          <p:cNvSpPr txBox="1">
            <a:spLocks/>
          </p:cNvSpPr>
          <p:nvPr/>
        </p:nvSpPr>
        <p:spPr>
          <a:xfrm>
            <a:off x="122698" y="1920730"/>
            <a:ext cx="6443269" cy="23432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de-DE" dirty="0"/>
              <a:t>Sicherheitsanweisungen</a:t>
            </a:r>
            <a:r>
              <a:rPr lang="en-US" dirty="0"/>
              <a:t>​:</a:t>
            </a:r>
          </a:p>
          <a:p>
            <a:pPr marL="0" indent="0" fontAlgn="base">
              <a:buNone/>
            </a:pPr>
            <a:r>
              <a:rPr lang="de-DE" u="sng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https://support.unitree.com/home/en/G1_developer/quick_start</a:t>
            </a:r>
            <a:r>
              <a:rPr lang="de-DE" dirty="0"/>
              <a:t>​</a:t>
            </a:r>
          </a:p>
          <a:p>
            <a:pPr marL="0" indent="0" fontAlgn="base">
              <a:buNone/>
            </a:pPr>
            <a:endParaRPr lang="de-DE" dirty="0"/>
          </a:p>
          <a:p>
            <a:pPr fontAlgn="base"/>
            <a:r>
              <a:rPr lang="de-DE" dirty="0"/>
              <a:t>Debugging: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de-DE" u="sng" dirty="0"/>
              <a:t>https://support.unitree.com/home/en/G1_developer/common_istakes_and_definitions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2183654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9A7B1-ACE5-1A5B-C489-E5D9C0FCC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6A34E6-EE02-1365-3E73-272ED9020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21BA5133-8A3D-6F3A-3E2A-07EE30BE4AA0}"/>
              </a:ext>
            </a:extLst>
          </p:cNvPr>
          <p:cNvSpPr txBox="1">
            <a:spLocks/>
          </p:cNvSpPr>
          <p:nvPr/>
        </p:nvSpPr>
        <p:spPr>
          <a:xfrm>
            <a:off x="0" y="679066"/>
            <a:ext cx="12454466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FB1A62"/>
                </a:solidFill>
              </a:rPr>
              <a:t>Akademie Repository​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E545EA79-3594-5AED-F6F9-4E4241640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" y="56131"/>
            <a:ext cx="12386733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Entwicklungsumgebung​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29EB30-28DB-7503-5F7B-F57C6335D340}"/>
              </a:ext>
            </a:extLst>
          </p:cNvPr>
          <p:cNvSpPr txBox="1"/>
          <p:nvPr/>
        </p:nvSpPr>
        <p:spPr>
          <a:xfrm>
            <a:off x="4679989" y="4776933"/>
            <a:ext cx="6966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de-DE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https://github.com/EF-Robotics-Humanoid-Academy/ef_ws</a:t>
            </a:r>
            <a:endParaRPr lang="de-DE" sz="2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6DAC36C-65F8-9ADA-DE77-AFB1D6F12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465" y="317968"/>
            <a:ext cx="2719908" cy="5475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30FE49B-C9F0-6D37-E6A5-5BA22E82B6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7467" y="1439551"/>
            <a:ext cx="3100039" cy="3100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21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F165BD-0A71-891F-3E53-9C302634A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946"/>
            <a:ext cx="8619067" cy="878066"/>
          </a:xfrm>
        </p:spPr>
        <p:txBody>
          <a:bodyPr>
            <a:normAutofit/>
          </a:bodyPr>
          <a:lstStyle/>
          <a:p>
            <a:r>
              <a:rPr lang="de-DE" dirty="0" err="1"/>
              <a:t>Jupyter</a:t>
            </a:r>
            <a:r>
              <a:rPr lang="de-DE" dirty="0"/>
              <a:t> </a:t>
            </a:r>
            <a:r>
              <a:rPr lang="de-DE" dirty="0" err="1"/>
              <a:t>interactive</a:t>
            </a:r>
            <a:r>
              <a:rPr lang="de-DE" dirty="0"/>
              <a:t> Notebook: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4D2433-28B5-B3FB-8DC6-1C1152B28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92" y="1755803"/>
            <a:ext cx="12539132" cy="4785009"/>
          </a:xfrm>
        </p:spPr>
        <p:txBody>
          <a:bodyPr/>
          <a:lstStyle/>
          <a:p>
            <a:pPr marL="0" indent="0">
              <a:buNone/>
            </a:pPr>
            <a:endParaRPr lang="de-DE" dirty="0"/>
          </a:p>
          <a:p>
            <a:r>
              <a:rPr lang="de-DE" dirty="0"/>
              <a:t>http://10.34.0.206:8888</a:t>
            </a:r>
          </a:p>
          <a:p>
            <a:endParaRPr lang="de-DE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9F7DCF9-57FB-7E0E-FF8F-1ECBDFE4B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0754" y="1755803"/>
            <a:ext cx="6999754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74043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4D5344F-78B2-1B9B-EC2C-4CD972F80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2A4DAC41-3693-A2F3-0E14-F42FC065D0DE}"/>
              </a:ext>
            </a:extLst>
          </p:cNvPr>
          <p:cNvSpPr txBox="1">
            <a:spLocks/>
          </p:cNvSpPr>
          <p:nvPr/>
        </p:nvSpPr>
        <p:spPr>
          <a:xfrm>
            <a:off x="0" y="451945"/>
            <a:ext cx="6680201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de-DE" sz="3600" dirty="0"/>
              <a:t>Demos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AFE43ACF-60B9-18E9-C903-6C7BB8D35741}"/>
              </a:ext>
            </a:extLst>
          </p:cNvPr>
          <p:cNvSpPr txBox="1">
            <a:spLocks/>
          </p:cNvSpPr>
          <p:nvPr/>
        </p:nvSpPr>
        <p:spPr>
          <a:xfrm>
            <a:off x="152400" y="1963454"/>
            <a:ext cx="6536403" cy="23432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de-DE" dirty="0"/>
              <a:t>Einführung Codex (Empfohlene Alternative: gemini-cli oder claude code)</a:t>
            </a:r>
          </a:p>
          <a:p>
            <a:pPr fontAlgn="base"/>
            <a:r>
              <a:rPr lang="de-DE" dirty="0"/>
              <a:t>Demo (Webseite erstellen mit codex)</a:t>
            </a:r>
          </a:p>
          <a:p>
            <a:pPr fontAlgn="base"/>
            <a:r>
              <a:rPr lang="de-DE" dirty="0"/>
              <a:t>Demo Skripte (Sprachaussage /Kopflichtsteuerung)</a:t>
            </a:r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E883BD2A-D17D-847D-21D0-1B17294B470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0" r="7770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496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3F2A198-C847-E265-8D3C-4D91E755C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F3D3398B-6599-C316-24C3-47C47BC3548A}"/>
              </a:ext>
            </a:extLst>
          </p:cNvPr>
          <p:cNvSpPr txBox="1">
            <a:spLocks/>
          </p:cNvSpPr>
          <p:nvPr/>
        </p:nvSpPr>
        <p:spPr>
          <a:xfrm>
            <a:off x="8602" y="483834"/>
            <a:ext cx="6680201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de-DE" sz="3600" dirty="0"/>
              <a:t>Fazit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35D8FB59-0EF1-4AE1-0C0D-50B4E5BA676B}"/>
              </a:ext>
            </a:extLst>
          </p:cNvPr>
          <p:cNvSpPr txBox="1">
            <a:spLocks/>
          </p:cNvSpPr>
          <p:nvPr/>
        </p:nvSpPr>
        <p:spPr>
          <a:xfrm>
            <a:off x="152400" y="1963454"/>
            <a:ext cx="6536403" cy="23432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de-DE" dirty="0">
                <a:cs typeface="Roboto" panose="02000000000000000000" pitchFamily="2" charset="0"/>
              </a:rPr>
              <a:t>Überblick Unitree G1 Edu</a:t>
            </a:r>
            <a:r>
              <a:rPr lang="en-US" dirty="0">
                <a:cs typeface="Roboto" panose="02000000000000000000" pitchFamily="2" charset="0"/>
              </a:rPr>
              <a:t>​</a:t>
            </a:r>
          </a:p>
          <a:p>
            <a:pPr fontAlgn="base"/>
            <a:r>
              <a:rPr lang="de-DE" dirty="0">
                <a:cs typeface="Roboto" panose="02000000000000000000" pitchFamily="2" charset="0"/>
              </a:rPr>
              <a:t>Programmierung</a:t>
            </a:r>
            <a:r>
              <a:rPr lang="en-US" dirty="0">
                <a:cs typeface="Roboto" panose="02000000000000000000" pitchFamily="2" charset="0"/>
              </a:rPr>
              <a:t>​</a:t>
            </a:r>
          </a:p>
          <a:p>
            <a:pPr fontAlgn="base"/>
            <a:r>
              <a:rPr lang="de-DE" dirty="0">
                <a:cs typeface="Roboto" panose="02000000000000000000" pitchFamily="2" charset="0"/>
              </a:rPr>
              <a:t>Verbindungsmethoden</a:t>
            </a:r>
            <a:r>
              <a:rPr lang="en-US" dirty="0">
                <a:cs typeface="Roboto" panose="02000000000000000000" pitchFamily="2" charset="0"/>
              </a:rPr>
              <a:t>​</a:t>
            </a:r>
          </a:p>
          <a:p>
            <a:pPr fontAlgn="base"/>
            <a:r>
              <a:rPr lang="de-DE" dirty="0">
                <a:cs typeface="Roboto" panose="02000000000000000000" pitchFamily="2" charset="0"/>
              </a:rPr>
              <a:t>Entwicklungsumgebung</a:t>
            </a:r>
            <a:r>
              <a:rPr lang="en-US" dirty="0">
                <a:cs typeface="Roboto" panose="02000000000000000000" pitchFamily="2" charset="0"/>
              </a:rPr>
              <a:t>​</a:t>
            </a:r>
          </a:p>
          <a:p>
            <a:pPr fontAlgn="base"/>
            <a:r>
              <a:rPr lang="de-DE" dirty="0">
                <a:cs typeface="Roboto" panose="02000000000000000000" pitchFamily="2" charset="0"/>
              </a:rPr>
              <a:t>Demos</a:t>
            </a:r>
            <a:endParaRPr lang="en-US" dirty="0">
              <a:cs typeface="Roboto" panose="02000000000000000000" pitchFamily="2" charset="0"/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C31A70E1-EF29-3EFA-A237-2087F6DA47A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684" y="711200"/>
            <a:ext cx="5139916" cy="536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011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6DF9B60-A110-F170-B981-862858F68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83D83F5E-5C9B-0C8C-4D11-24BAE95BB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3339"/>
            <a:ext cx="6688667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Verbindungsmethoden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DFC2202B-B984-A003-8562-20C76B86A432}"/>
              </a:ext>
            </a:extLst>
          </p:cNvPr>
          <p:cNvSpPr txBox="1">
            <a:spLocks/>
          </p:cNvSpPr>
          <p:nvPr/>
        </p:nvSpPr>
        <p:spPr>
          <a:xfrm>
            <a:off x="122698" y="1920730"/>
            <a:ext cx="6443269" cy="23432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de-DE" dirty="0">
                <a:cs typeface="Roboto" panose="02000000000000000000" pitchFamily="2" charset="0"/>
              </a:rPr>
              <a:t>SSH (Secure Shell) Verbindung</a:t>
            </a:r>
            <a:r>
              <a:rPr lang="en-US" dirty="0">
                <a:cs typeface="Roboto" panose="02000000000000000000" pitchFamily="2" charset="0"/>
              </a:rPr>
              <a:t>​</a:t>
            </a:r>
          </a:p>
          <a:p>
            <a:pPr fontAlgn="base"/>
            <a:endParaRPr lang="en-US" dirty="0">
              <a:cs typeface="Roboto" panose="02000000000000000000" pitchFamily="2" charset="0"/>
            </a:endParaRPr>
          </a:p>
          <a:p>
            <a:pPr fontAlgn="base"/>
            <a:r>
              <a:rPr lang="de-DE" dirty="0">
                <a:cs typeface="Roboto" panose="02000000000000000000" pitchFamily="2" charset="0"/>
              </a:rPr>
              <a:t>In ROS2 Umgebung programmieren: </a:t>
            </a:r>
            <a:r>
              <a:rPr lang="de-DE" u="sng" dirty="0">
                <a:cs typeface="Roboto" panose="02000000000000000000" pitchFamily="2" charset="0"/>
              </a:rPr>
              <a:t>https://support.unitree.com/home/en/G1_developer/ros2_communication_routine</a:t>
            </a:r>
            <a:r>
              <a:rPr lang="en-US" u="sng" dirty="0">
                <a:cs typeface="Roboto" panose="02000000000000000000" pitchFamily="2" charset="0"/>
              </a:rPr>
              <a:t>​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A5FEF3-95DF-8CBE-2751-092E8FB122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8800" y="872222"/>
            <a:ext cx="5393111" cy="5393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911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Ziel des 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Verständnis</a:t>
            </a:r>
            <a:r>
              <a:rPr dirty="0"/>
              <a:t> der G1 </a:t>
            </a:r>
            <a:r>
              <a:rPr dirty="0" err="1"/>
              <a:t>Systemarchitektur</a:t>
            </a:r>
            <a:endParaRPr lang="de-DE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Verbindung</a:t>
            </a:r>
            <a:r>
              <a:rPr dirty="0"/>
              <a:t> und </a:t>
            </a:r>
            <a:r>
              <a:rPr dirty="0" err="1"/>
              <a:t>Steuerung</a:t>
            </a:r>
            <a:r>
              <a:rPr dirty="0"/>
              <a:t> </a:t>
            </a:r>
            <a:r>
              <a:rPr dirty="0" err="1"/>
              <a:t>einrichten</a:t>
            </a:r>
            <a:endParaRPr lang="de-DE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Erste </a:t>
            </a:r>
            <a:r>
              <a:rPr dirty="0" err="1"/>
              <a:t>Interaktion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dem </a:t>
            </a:r>
            <a:r>
              <a:rPr dirty="0" err="1"/>
              <a:t>Roboter</a:t>
            </a:r>
            <a:endParaRPr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Ergebnis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• Teilnehmer </a:t>
            </a:r>
            <a:r>
              <a:rPr dirty="0" err="1"/>
              <a:t>können</a:t>
            </a:r>
            <a:r>
              <a:rPr dirty="0"/>
              <a:t> Robot </a:t>
            </a:r>
            <a:r>
              <a:rPr dirty="0" err="1"/>
              <a:t>verbinden</a:t>
            </a:r>
            <a:r>
              <a:rPr dirty="0"/>
              <a:t> und </a:t>
            </a:r>
            <a:r>
              <a:rPr dirty="0" err="1"/>
              <a:t>steuern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662ADB-35C2-48AC-04E8-7185E8C2496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VUI 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Sprachsteuerung</a:t>
            </a:r>
            <a:r>
              <a:rPr dirty="0"/>
              <a:t> (Speech Interface)</a:t>
            </a:r>
          </a:p>
          <a:p>
            <a:pPr marL="0" indent="0">
              <a:buNone/>
            </a:pPr>
            <a:r>
              <a:rPr dirty="0"/>
              <a:t>• Headlight </a:t>
            </a:r>
            <a:r>
              <a:rPr dirty="0" err="1"/>
              <a:t>Steuerung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Interaktion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Roboter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64FBD6-F893-DFD7-A106-8ACB58EB762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Codex Nutzung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Code </a:t>
            </a:r>
            <a:r>
              <a:rPr dirty="0" err="1"/>
              <a:t>generieren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Skripte</a:t>
            </a:r>
            <a:r>
              <a:rPr dirty="0"/>
              <a:t> </a:t>
            </a:r>
            <a:r>
              <a:rPr dirty="0" err="1"/>
              <a:t>schneller</a:t>
            </a:r>
            <a:r>
              <a:rPr dirty="0"/>
              <a:t> </a:t>
            </a:r>
            <a:r>
              <a:rPr dirty="0" err="1"/>
              <a:t>entwickeln</a:t>
            </a:r>
            <a:endParaRPr dirty="0"/>
          </a:p>
          <a:p>
            <a:pPr marL="0" indent="0">
              <a:buNone/>
            </a:pPr>
            <a:r>
              <a:rPr dirty="0"/>
              <a:t>• Debugging </a:t>
            </a:r>
            <a:r>
              <a:rPr dirty="0" err="1"/>
              <a:t>unterstützen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B9E54B-97FB-E303-1277-8D10474339B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Aufgabe </a:t>
            </a:r>
            <a:r>
              <a:rPr lang="de-DE" dirty="0">
                <a:solidFill>
                  <a:srgbClr val="FF0000"/>
                </a:solidFill>
              </a:rPr>
              <a:t>1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dirty="0"/>
              <a:t>• </a:t>
            </a:r>
            <a:r>
              <a:rPr lang="de-DE" dirty="0"/>
              <a:t>Neues </a:t>
            </a:r>
            <a:r>
              <a:rPr lang="de-DE" dirty="0" err="1"/>
              <a:t>Jupyter</a:t>
            </a:r>
            <a:r>
              <a:rPr lang="de-DE" dirty="0"/>
              <a:t> </a:t>
            </a:r>
            <a:r>
              <a:rPr lang="de-DE" dirty="0" err="1"/>
              <a:t>notebook</a:t>
            </a:r>
            <a:r>
              <a:rPr lang="de-DE" dirty="0"/>
              <a:t> öffnen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sdk_client</a:t>
            </a:r>
            <a:r>
              <a:rPr lang="de-DE" dirty="0"/>
              <a:t> </a:t>
            </a:r>
            <a:r>
              <a:rPr lang="de-DE" dirty="0" err="1"/>
              <a:t>import</a:t>
            </a:r>
            <a:r>
              <a:rPr lang="de-DE" dirty="0"/>
              <a:t> Robot</a:t>
            </a:r>
          </a:p>
          <a:p>
            <a:r>
              <a:rPr lang="de-DE" dirty="0" err="1"/>
              <a:t>rob</a:t>
            </a:r>
            <a:r>
              <a:rPr lang="de-DE" dirty="0"/>
              <a:t> = Robot(„eth0“)</a:t>
            </a:r>
          </a:p>
          <a:p>
            <a:r>
              <a:rPr lang="de-DE" dirty="0" err="1"/>
              <a:t>rob.say</a:t>
            </a:r>
            <a:r>
              <a:rPr lang="de-DE" dirty="0"/>
              <a:t>(„…“)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F43E56-1E42-9DDD-C7FB-4EFDE3492B4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FDC57-5FCA-E96F-81FC-673452F79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BDFBE-EFBC-0F1A-C88A-E70C5C5BF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AI CLI Einführung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4AE75-ED27-F3A9-57EA-DEA463676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dirty="0"/>
              <a:t>• </a:t>
            </a:r>
            <a:r>
              <a:rPr lang="de-DE" dirty="0" err="1"/>
              <a:t>codex</a:t>
            </a:r>
            <a:r>
              <a:rPr lang="de-DE" dirty="0"/>
              <a:t> / </a:t>
            </a:r>
            <a:r>
              <a:rPr lang="de-DE" dirty="0" err="1"/>
              <a:t>claude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lang="de-DE" dirty="0"/>
              <a:t>Benutzung vom </a:t>
            </a:r>
            <a:r>
              <a:rPr lang="de-DE" dirty="0" err="1"/>
              <a:t>resume</a:t>
            </a:r>
            <a:r>
              <a:rPr lang="de-DE" dirty="0"/>
              <a:t> </a:t>
            </a:r>
            <a:r>
              <a:rPr lang="de-DE" dirty="0" err="1"/>
              <a:t>option</a:t>
            </a:r>
            <a:endParaRPr lang="de-DE" dirty="0"/>
          </a:p>
          <a:p>
            <a:r>
              <a:rPr lang="de-DE" dirty="0"/>
              <a:t>Prompt </a:t>
            </a:r>
            <a:r>
              <a:rPr lang="de-DE" dirty="0" err="1"/>
              <a:t>engineering</a:t>
            </a:r>
            <a:r>
              <a:rPr lang="de-DE" dirty="0"/>
              <a:t> (Persona, </a:t>
            </a:r>
            <a:r>
              <a:rPr lang="de-DE" dirty="0" err="1"/>
              <a:t>context</a:t>
            </a:r>
            <a:r>
              <a:rPr lang="de-DE" dirty="0"/>
              <a:t>, </a:t>
            </a:r>
            <a:r>
              <a:rPr lang="de-DE" dirty="0" err="1"/>
              <a:t>beispiele</a:t>
            </a:r>
            <a:r>
              <a:rPr lang="de-DE" dirty="0"/>
              <a:t>)</a:t>
            </a:r>
          </a:p>
          <a:p>
            <a:r>
              <a:rPr lang="de-DE" dirty="0"/>
              <a:t>Sub </a:t>
            </a:r>
            <a:r>
              <a:rPr lang="de-DE" dirty="0" err="1"/>
              <a:t>agents</a:t>
            </a:r>
            <a:r>
              <a:rPr lang="de-DE" dirty="0"/>
              <a:t> </a:t>
            </a:r>
            <a:r>
              <a:rPr lang="de-DE" dirty="0" err="1"/>
              <a:t>custom</a:t>
            </a:r>
            <a:endParaRPr lang="de-DE" dirty="0"/>
          </a:p>
          <a:p>
            <a:endParaRPr lang="de-D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E91351-3FEE-EFD2-EC1D-4D723036A9A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0018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2A99C-0783-838C-C9E5-8D4E89F5B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F7EEB-9D0F-97D4-47F9-3245D4D5D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Aufgabe</a:t>
            </a:r>
            <a:r>
              <a:rPr lang="de-DE" dirty="0">
                <a:solidFill>
                  <a:srgbClr val="FF0000"/>
                </a:solidFill>
              </a:rPr>
              <a:t> 2</a:t>
            </a:r>
            <a:r>
              <a:rPr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9FC5C-BF68-0921-E5E4-E731D52A8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dirty="0"/>
              <a:t>• </a:t>
            </a:r>
            <a:r>
              <a:rPr lang="de-DE" dirty="0" err="1"/>
              <a:t>codex</a:t>
            </a:r>
            <a:r>
              <a:rPr lang="de-DE" dirty="0"/>
              <a:t> in </a:t>
            </a:r>
            <a:r>
              <a:rPr lang="de-DE" dirty="0" err="1"/>
              <a:t>jupyter</a:t>
            </a:r>
            <a:r>
              <a:rPr lang="de-DE" dirty="0"/>
              <a:t> lad öffnen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lang="de-DE" dirty="0" err="1"/>
              <a:t>codex</a:t>
            </a:r>
            <a:r>
              <a:rPr lang="de-DE" dirty="0"/>
              <a:t> über </a:t>
            </a:r>
            <a:r>
              <a:rPr lang="de-DE" dirty="0" err="1"/>
              <a:t>sdk</a:t>
            </a:r>
            <a:r>
              <a:rPr lang="de-DE" dirty="0"/>
              <a:t> </a:t>
            </a:r>
            <a:r>
              <a:rPr lang="de-DE" dirty="0" err="1"/>
              <a:t>modules</a:t>
            </a:r>
            <a:r>
              <a:rPr lang="de-DE" dirty="0"/>
              <a:t> lernen lassen</a:t>
            </a:r>
          </a:p>
          <a:p>
            <a:r>
              <a:rPr lang="de-DE" dirty="0"/>
              <a:t>Ein </a:t>
            </a:r>
            <a:r>
              <a:rPr lang="de-DE" dirty="0" err="1"/>
              <a:t>skript</a:t>
            </a:r>
            <a:r>
              <a:rPr lang="de-DE" dirty="0"/>
              <a:t> mit </a:t>
            </a:r>
            <a:r>
              <a:rPr lang="de-DE" dirty="0" err="1"/>
              <a:t>codex</a:t>
            </a:r>
            <a:r>
              <a:rPr lang="de-DE" dirty="0"/>
              <a:t> erstellen um ein </a:t>
            </a:r>
            <a:r>
              <a:rPr lang="de-DE" dirty="0" err="1"/>
              <a:t>custom</a:t>
            </a:r>
            <a:r>
              <a:rPr lang="de-DE" dirty="0"/>
              <a:t> </a:t>
            </a:r>
            <a:r>
              <a:rPr lang="de-DE" dirty="0" err="1"/>
              <a:t>mode</a:t>
            </a:r>
            <a:r>
              <a:rPr lang="de-DE" dirty="0"/>
              <a:t> zu erstellen</a:t>
            </a:r>
          </a:p>
          <a:p>
            <a:pPr lvl="1"/>
            <a:r>
              <a:rPr lang="de-DE" dirty="0"/>
              <a:t>Modus Name aussprechen</a:t>
            </a:r>
          </a:p>
          <a:p>
            <a:pPr lvl="1"/>
            <a:r>
              <a:rPr lang="de-DE" dirty="0"/>
              <a:t>Lichtfarbe mit einem </a:t>
            </a:r>
            <a:r>
              <a:rPr lang="de-DE" dirty="0" err="1"/>
              <a:t>python</a:t>
            </a:r>
            <a:r>
              <a:rPr lang="de-DE" dirty="0"/>
              <a:t> Thread konstant zu halten (persistent_headlight_control.py als </a:t>
            </a:r>
            <a:r>
              <a:rPr lang="de-DE" dirty="0" err="1"/>
              <a:t>context</a:t>
            </a:r>
            <a:r>
              <a:rPr lang="de-DE" dirty="0"/>
              <a:t> für </a:t>
            </a:r>
            <a:r>
              <a:rPr lang="de-DE" dirty="0" err="1"/>
              <a:t>codex</a:t>
            </a:r>
            <a:r>
              <a:rPr lang="de-DE" dirty="0"/>
              <a:t> geben)</a:t>
            </a:r>
            <a:br>
              <a:rPr lang="de-DE" dirty="0"/>
            </a:br>
            <a:endParaRPr lang="de-D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2791BA-DA78-2B71-CB7E-00BC023BFAC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1754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1D936C-B4A0-6EA0-CF4E-FAE1D4D98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FF0000"/>
                </a:solidFill>
              </a:rPr>
              <a:t>Aufgabe 3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FA4A8C-679A-E85C-A2E3-8105B3522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Custom Modus erstellen</a:t>
            </a:r>
          </a:p>
          <a:p>
            <a:pPr lvl="1"/>
            <a:r>
              <a:rPr lang="de-DE" dirty="0"/>
              <a:t>Sprachankündigung</a:t>
            </a:r>
          </a:p>
          <a:p>
            <a:pPr lvl="1"/>
            <a:r>
              <a:rPr lang="de-DE" dirty="0"/>
              <a:t>Lichtfarbe</a:t>
            </a:r>
          </a:p>
          <a:p>
            <a:endParaRPr lang="de-D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2FE251-E11D-345A-BDEA-E7F750F5D30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4593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2D8988-650D-2714-1A34-D54289DE2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FF0000"/>
                </a:solidFill>
              </a:rPr>
              <a:t>Aufgabe 4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F2A62F-7534-7A08-7003-9D8FF3C64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Chat Modus erstellen</a:t>
            </a:r>
          </a:p>
          <a:p>
            <a:pPr lvl="1"/>
            <a:r>
              <a:rPr lang="de-DE" dirty="0" err="1"/>
              <a:t>Mikrophonzugriff</a:t>
            </a:r>
            <a:endParaRPr lang="de-DE" dirty="0"/>
          </a:p>
          <a:p>
            <a:pPr lvl="1"/>
            <a:r>
              <a:rPr lang="de-DE" dirty="0"/>
              <a:t>Verknüpfung mit Sprachmodel</a:t>
            </a:r>
          </a:p>
          <a:p>
            <a:endParaRPr lang="de-D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714D24-6666-4372-3BDB-030DDE87461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09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BSO999929 xmlns="http://www.datev.de/BSOffice/999929">306d5c34-c375-434d-a27d-82eb08a5504b</BSO999929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44D4F068579074781C47F30C60343D3" ma:contentTypeVersion="15" ma:contentTypeDescription="Ein neues Dokument erstellen." ma:contentTypeScope="" ma:versionID="888a2b6ad7ca9002ee54190ff8eed71e">
  <xsd:schema xmlns:xsd="http://www.w3.org/2001/XMLSchema" xmlns:xs="http://www.w3.org/2001/XMLSchema" xmlns:p="http://schemas.microsoft.com/office/2006/metadata/properties" xmlns:ns2="29710a0d-a916-43a9-8a24-1cbe13199583" xmlns:ns3="17e9a383-b1c7-4c94-a2a2-eacb0c3a46c7" targetNamespace="http://schemas.microsoft.com/office/2006/metadata/properties" ma:root="true" ma:fieldsID="15b51d936a95c51106e2d52ff8cf6082" ns2:_="" ns3:_="">
    <xsd:import namespace="29710a0d-a916-43a9-8a24-1cbe13199583"/>
    <xsd:import namespace="17e9a383-b1c7-4c94-a2a2-eacb0c3a46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710a0d-a916-43a9-8a24-1cbe131995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Bildmarkierungen" ma:readOnly="false" ma:fieldId="{5cf76f15-5ced-4ddc-b409-7134ff3c332f}" ma:taxonomyMulti="true" ma:sspId="3d4ceb03-c040-4e28-8a80-56efb7fa70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e9a383-b1c7-4c94-a2a2-eacb0c3a46c7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5b5da3b1-f5bd-4f20-88b3-76d75b082fc4}" ma:internalName="TaxCatchAll" ma:showField="CatchAllData" ma:web="17e9a383-b1c7-4c94-a2a2-eacb0c3a46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9710a0d-a916-43a9-8a24-1cbe13199583">
      <Terms xmlns="http://schemas.microsoft.com/office/infopath/2007/PartnerControls"/>
    </lcf76f155ced4ddcb4097134ff3c332f>
    <TaxCatchAll xmlns="17e9a383-b1c7-4c94-a2a2-eacb0c3a46c7" xsi:nil="true"/>
  </documentManagement>
</p:properties>
</file>

<file path=customXml/itemProps1.xml><?xml version="1.0" encoding="utf-8"?>
<ds:datastoreItem xmlns:ds="http://schemas.openxmlformats.org/officeDocument/2006/customXml" ds:itemID="{FCEBB26B-F637-4A62-898E-1192B7122FF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F9F5DB5-DBA3-4B49-8C3F-2302D5BDAA47}">
  <ds:schemaRefs>
    <ds:schemaRef ds:uri="http://www.datev.de/BSOffice/999929"/>
  </ds:schemaRefs>
</ds:datastoreItem>
</file>

<file path=customXml/itemProps3.xml><?xml version="1.0" encoding="utf-8"?>
<ds:datastoreItem xmlns:ds="http://schemas.openxmlformats.org/officeDocument/2006/customXml" ds:itemID="{0B58AD19-4542-4EA1-9A80-5061D9B879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710a0d-a916-43a9-8a24-1cbe13199583"/>
    <ds:schemaRef ds:uri="17e9a383-b1c7-4c94-a2a2-eacb0c3a46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02B0C713-5CE9-4B7C-8871-D96133782421}">
  <ds:schemaRefs>
    <ds:schemaRef ds:uri="17e9a383-b1c7-4c94-a2a2-eacb0c3a46c7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schemas.microsoft.com/office/2006/metadata/properties"/>
    <ds:schemaRef ds:uri="29710a0d-a916-43a9-8a24-1cbe13199583"/>
    <ds:schemaRef ds:uri="http://schemas.microsoft.com/office/infopath/2007/PartnerControls"/>
    <ds:schemaRef ds:uri="http://www.w3.org/XML/1998/namespace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779</Words>
  <Application>Microsoft Office PowerPoint</Application>
  <PresentationFormat>Breitbild</PresentationFormat>
  <Paragraphs>221</Paragraphs>
  <Slides>39</Slides>
  <Notes>2</Notes>
  <HiddenSlides>11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39</vt:i4>
      </vt:variant>
    </vt:vector>
  </HeadingPairs>
  <TitlesOfParts>
    <vt:vector size="44" baseType="lpstr">
      <vt:lpstr>Aptos</vt:lpstr>
      <vt:lpstr>Aptos Display</vt:lpstr>
      <vt:lpstr>Arial</vt:lpstr>
      <vt:lpstr>Roboto</vt:lpstr>
      <vt:lpstr>Office</vt:lpstr>
      <vt:lpstr>Tag 1: Einführung und Entwicklungsumgebung​</vt:lpstr>
      <vt:lpstr>Zeitplan Tag 1</vt:lpstr>
      <vt:lpstr>Tagesziele</vt:lpstr>
      <vt:lpstr>EF Robotics</vt:lpstr>
      <vt:lpstr>Warum Humanoide</vt:lpstr>
      <vt:lpstr>Überblick  Unitree G1 ​</vt:lpstr>
      <vt:lpstr>Safety</vt:lpstr>
      <vt:lpstr>Überblick  Unitree G1 Edu​</vt:lpstr>
      <vt:lpstr>Überblick  Unitree G1 Edu​</vt:lpstr>
      <vt:lpstr>PowerPoint-Präsentation</vt:lpstr>
      <vt:lpstr>Remote Steuerung</vt:lpstr>
      <vt:lpstr>G1 Programmierung​</vt:lpstr>
      <vt:lpstr>G1 Programmierung​</vt:lpstr>
      <vt:lpstr>PowerPoint-Präsentation</vt:lpstr>
      <vt:lpstr>G1 Programmierung​</vt:lpstr>
      <vt:lpstr>Verbindungsmethoden</vt:lpstr>
      <vt:lpstr>PowerPoint-Präsentation</vt:lpstr>
      <vt:lpstr>PowerPoint-Präsentation</vt:lpstr>
      <vt:lpstr>Entwicklungsumgebung​</vt:lpstr>
      <vt:lpstr>Entwicklungsumgebung​</vt:lpstr>
      <vt:lpstr>Entwicklungsumgebung​</vt:lpstr>
      <vt:lpstr>Entwicklungsumgebung​</vt:lpstr>
      <vt:lpstr>Entwicklungsumgebung​</vt:lpstr>
      <vt:lpstr>Entwicklungsumgebung​</vt:lpstr>
      <vt:lpstr>Entwicklungsumgebung​</vt:lpstr>
      <vt:lpstr>G1 Programmierung​</vt:lpstr>
      <vt:lpstr>Entwicklungsumgebung​</vt:lpstr>
      <vt:lpstr>Jupyter interactive Notebook:</vt:lpstr>
      <vt:lpstr>PowerPoint-Präsentation</vt:lpstr>
      <vt:lpstr>PowerPoint-Präsentation</vt:lpstr>
      <vt:lpstr>Verbindungsmethoden</vt:lpstr>
      <vt:lpstr>Ziel des Tages</vt:lpstr>
      <vt:lpstr>VUI Client</vt:lpstr>
      <vt:lpstr>Codex Nutzung</vt:lpstr>
      <vt:lpstr>Aufgabe 1</vt:lpstr>
      <vt:lpstr>AI CLI Einführung</vt:lpstr>
      <vt:lpstr>Aufgabe 2 </vt:lpstr>
      <vt:lpstr>Aufgabe 3</vt:lpstr>
      <vt:lpstr>Aufgabe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Stefanie Prochnow</dc:creator>
  <cp:lastModifiedBy>Midhun Eldose</cp:lastModifiedBy>
  <cp:revision>338</cp:revision>
  <dcterms:created xsi:type="dcterms:W3CDTF">2025-02-10T19:27:37Z</dcterms:created>
  <dcterms:modified xsi:type="dcterms:W3CDTF">2026-06-15T12:46:57Z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0x010100844D4F068579074781C47F30C60343D3</vt:lpwstr>
  </property>
  <property fmtid="{D5CDD505-2E9C-101B-9397-08002B2CF9AE}" pid="3" name="MediaServiceImageTags">
    <vt:lpwstr/>
  </property>
</Properties>
</file>